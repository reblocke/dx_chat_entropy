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81" r:id="rId2"/>
    <p:sldId id="286" r:id="rId3"/>
    <p:sldId id="273" r:id="rId4"/>
    <p:sldId id="279" r:id="rId5"/>
    <p:sldId id="277" r:id="rId6"/>
    <p:sldId id="278" r:id="rId7"/>
    <p:sldId id="287" r:id="rId8"/>
    <p:sldId id="271" r:id="rId9"/>
    <p:sldId id="284" r:id="rId10"/>
    <p:sldId id="283" r:id="rId11"/>
    <p:sldId id="280" r:id="rId12"/>
    <p:sldId id="274" r:id="rId13"/>
    <p:sldId id="285" r:id="rId14"/>
    <p:sldId id="275" r:id="rId15"/>
    <p:sldId id="272" r:id="rId16"/>
    <p:sldId id="2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2B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7" autoAdjust="0"/>
    <p:restoredTop sz="92593" autoAdjust="0"/>
  </p:normalViewPr>
  <p:slideViewPr>
    <p:cSldViewPr snapToGrid="0">
      <p:cViewPr varScale="1">
        <p:scale>
          <a:sx n="102" d="100"/>
          <a:sy n="102" d="100"/>
        </p:scale>
        <p:origin x="840" y="114"/>
      </p:cViewPr>
      <p:guideLst/>
    </p:cSldViewPr>
  </p:slideViewPr>
  <p:notesTextViewPr>
    <p:cViewPr>
      <p:scale>
        <a:sx n="1" d="1"/>
        <a:sy n="1" d="1"/>
      </p:scale>
      <p:origin x="0" y="-45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hlfsen, Cory J" userId="a7e7a1f6-691a-40b9-ad16-9e8514a36c10" providerId="ADAL" clId="{01CEBCA8-CBD6-4109-9FEE-3A7AEC1698ED}"/>
    <pc:docChg chg="undo custSel addSld delSld modSld sldOrd">
      <pc:chgData name="Rohlfsen, Cory J" userId="a7e7a1f6-691a-40b9-ad16-9e8514a36c10" providerId="ADAL" clId="{01CEBCA8-CBD6-4109-9FEE-3A7AEC1698ED}" dt="2026-01-13T19:10:59.159" v="6618" actId="20577"/>
      <pc:docMkLst>
        <pc:docMk/>
      </pc:docMkLst>
      <pc:sldChg chg="modSp mod ord">
        <pc:chgData name="Rohlfsen, Cory J" userId="a7e7a1f6-691a-40b9-ad16-9e8514a36c10" providerId="ADAL" clId="{01CEBCA8-CBD6-4109-9FEE-3A7AEC1698ED}" dt="2026-01-13T17:27:16.497" v="6549"/>
        <pc:sldMkLst>
          <pc:docMk/>
          <pc:sldMk cId="1861394157" sldId="271"/>
        </pc:sldMkLst>
        <pc:spChg chg="mod">
          <ac:chgData name="Rohlfsen, Cory J" userId="a7e7a1f6-691a-40b9-ad16-9e8514a36c10" providerId="ADAL" clId="{01CEBCA8-CBD6-4109-9FEE-3A7AEC1698ED}" dt="2025-12-31T13:09:26.214" v="6521" actId="20577"/>
          <ac:spMkLst>
            <pc:docMk/>
            <pc:sldMk cId="1861394157" sldId="271"/>
            <ac:spMk id="14" creationId="{E78DCB9A-D77B-1EAC-3899-4F8271853DD8}"/>
          </ac:spMkLst>
        </pc:spChg>
      </pc:sldChg>
      <pc:sldChg chg="modSp mod ord">
        <pc:chgData name="Rohlfsen, Cory J" userId="a7e7a1f6-691a-40b9-ad16-9e8514a36c10" providerId="ADAL" clId="{01CEBCA8-CBD6-4109-9FEE-3A7AEC1698ED}" dt="2025-12-31T13:26:55.752" v="6528" actId="403"/>
        <pc:sldMkLst>
          <pc:docMk/>
          <pc:sldMk cId="781632072" sldId="272"/>
        </pc:sldMkLst>
        <pc:spChg chg="mod">
          <ac:chgData name="Rohlfsen, Cory J" userId="a7e7a1f6-691a-40b9-ad16-9e8514a36c10" providerId="ADAL" clId="{01CEBCA8-CBD6-4109-9FEE-3A7AEC1698ED}" dt="2025-12-23T15:37:36.741" v="645" actId="20577"/>
          <ac:spMkLst>
            <pc:docMk/>
            <pc:sldMk cId="781632072" sldId="272"/>
            <ac:spMk id="2" creationId="{537A472D-AEBD-355E-37D6-FB2AE648A068}"/>
          </ac:spMkLst>
        </pc:spChg>
        <pc:spChg chg="mod">
          <ac:chgData name="Rohlfsen, Cory J" userId="a7e7a1f6-691a-40b9-ad16-9e8514a36c10" providerId="ADAL" clId="{01CEBCA8-CBD6-4109-9FEE-3A7AEC1698ED}" dt="2025-12-31T13:26:42.136" v="6525" actId="113"/>
          <ac:spMkLst>
            <pc:docMk/>
            <pc:sldMk cId="781632072" sldId="272"/>
            <ac:spMk id="5" creationId="{ED3A94EF-87F5-E397-CE0C-B483BB422F2D}"/>
          </ac:spMkLst>
        </pc:spChg>
        <pc:spChg chg="mod">
          <ac:chgData name="Rohlfsen, Cory J" userId="a7e7a1f6-691a-40b9-ad16-9e8514a36c10" providerId="ADAL" clId="{01CEBCA8-CBD6-4109-9FEE-3A7AEC1698ED}" dt="2025-12-24T16:30:23.169" v="6353" actId="947"/>
          <ac:spMkLst>
            <pc:docMk/>
            <pc:sldMk cId="781632072" sldId="272"/>
            <ac:spMk id="6" creationId="{731E4C5D-B003-8BC3-3ED8-4F872BB385C5}"/>
          </ac:spMkLst>
        </pc:spChg>
        <pc:graphicFrameChg chg="modGraphic">
          <ac:chgData name="Rohlfsen, Cory J" userId="a7e7a1f6-691a-40b9-ad16-9e8514a36c10" providerId="ADAL" clId="{01CEBCA8-CBD6-4109-9FEE-3A7AEC1698ED}" dt="2025-12-31T13:26:55.752" v="6528" actId="403"/>
          <ac:graphicFrameMkLst>
            <pc:docMk/>
            <pc:sldMk cId="781632072" sldId="272"/>
            <ac:graphicFrameMk id="4" creationId="{6FDE99AE-9348-6350-0087-9C552B397749}"/>
          </ac:graphicFrameMkLst>
        </pc:graphicFrameChg>
      </pc:sldChg>
      <pc:sldChg chg="addSp modSp mod modNotesTx">
        <pc:chgData name="Rohlfsen, Cory J" userId="a7e7a1f6-691a-40b9-ad16-9e8514a36c10" providerId="ADAL" clId="{01CEBCA8-CBD6-4109-9FEE-3A7AEC1698ED}" dt="2026-01-13T19:08:54.009" v="6600" actId="20577"/>
        <pc:sldMkLst>
          <pc:docMk/>
          <pc:sldMk cId="1697760197" sldId="273"/>
        </pc:sldMkLst>
        <pc:spChg chg="mod">
          <ac:chgData name="Rohlfsen, Cory J" userId="a7e7a1f6-691a-40b9-ad16-9e8514a36c10" providerId="ADAL" clId="{01CEBCA8-CBD6-4109-9FEE-3A7AEC1698ED}" dt="2025-12-24T15:54:57.719" v="4307" actId="313"/>
          <ac:spMkLst>
            <pc:docMk/>
            <pc:sldMk cId="1697760197" sldId="273"/>
            <ac:spMk id="2" creationId="{3FB1A92C-378C-109B-632A-AFBDFA513DD2}"/>
          </ac:spMkLst>
        </pc:spChg>
        <pc:spChg chg="add mod">
          <ac:chgData name="Rohlfsen, Cory J" userId="a7e7a1f6-691a-40b9-ad16-9e8514a36c10" providerId="ADAL" clId="{01CEBCA8-CBD6-4109-9FEE-3A7AEC1698ED}" dt="2026-01-13T19:08:54.009" v="6600" actId="20577"/>
          <ac:spMkLst>
            <pc:docMk/>
            <pc:sldMk cId="1697760197" sldId="273"/>
            <ac:spMk id="3" creationId="{11430C60-186E-3D94-1A9A-41E95729BA5F}"/>
          </ac:spMkLst>
        </pc:spChg>
        <pc:graphicFrameChg chg="mod modGraphic">
          <ac:chgData name="Rohlfsen, Cory J" userId="a7e7a1f6-691a-40b9-ad16-9e8514a36c10" providerId="ADAL" clId="{01CEBCA8-CBD6-4109-9FEE-3A7AEC1698ED}" dt="2025-12-23T22:17:22.647" v="1817" actId="1076"/>
          <ac:graphicFrameMkLst>
            <pc:docMk/>
            <pc:sldMk cId="1697760197" sldId="273"/>
            <ac:graphicFrameMk id="4" creationId="{C1B05803-3D0D-2411-AD4E-C599F4E56993}"/>
          </ac:graphicFrameMkLst>
        </pc:graphicFrameChg>
      </pc:sldChg>
      <pc:sldChg chg="addSp delSp modSp new mod ord">
        <pc:chgData name="Rohlfsen, Cory J" userId="a7e7a1f6-691a-40b9-ad16-9e8514a36c10" providerId="ADAL" clId="{01CEBCA8-CBD6-4109-9FEE-3A7AEC1698ED}" dt="2025-12-24T15:40:40.258" v="3204"/>
        <pc:sldMkLst>
          <pc:docMk/>
          <pc:sldMk cId="3521945999" sldId="275"/>
        </pc:sldMkLst>
        <pc:spChg chg="add mod">
          <ac:chgData name="Rohlfsen, Cory J" userId="a7e7a1f6-691a-40b9-ad16-9e8514a36c10" providerId="ADAL" clId="{01CEBCA8-CBD6-4109-9FEE-3A7AEC1698ED}" dt="2025-12-23T22:16:08.412" v="1798" actId="20577"/>
          <ac:spMkLst>
            <pc:docMk/>
            <pc:sldMk cId="3521945999" sldId="275"/>
            <ac:spMk id="9" creationId="{8FFEDF71-8372-1F34-DA7C-1FBF01134AB0}"/>
          </ac:spMkLst>
        </pc:spChg>
        <pc:picChg chg="add mod">
          <ac:chgData name="Rohlfsen, Cory J" userId="a7e7a1f6-691a-40b9-ad16-9e8514a36c10" providerId="ADAL" clId="{01CEBCA8-CBD6-4109-9FEE-3A7AEC1698ED}" dt="2025-12-23T16:25:08.025" v="1736" actId="1076"/>
          <ac:picMkLst>
            <pc:docMk/>
            <pc:sldMk cId="3521945999" sldId="275"/>
            <ac:picMk id="7" creationId="{AF1EA275-BB91-B097-9308-72F4920866F3}"/>
          </ac:picMkLst>
        </pc:picChg>
      </pc:sldChg>
      <pc:sldChg chg="addSp delSp modSp new mod ord">
        <pc:chgData name="Rohlfsen, Cory J" userId="a7e7a1f6-691a-40b9-ad16-9e8514a36c10" providerId="ADAL" clId="{01CEBCA8-CBD6-4109-9FEE-3A7AEC1698ED}" dt="2025-12-24T16:05:38.014" v="5349" actId="1076"/>
        <pc:sldMkLst>
          <pc:docMk/>
          <pc:sldMk cId="2149273888" sldId="277"/>
        </pc:sldMkLst>
        <pc:spChg chg="mod">
          <ac:chgData name="Rohlfsen, Cory J" userId="a7e7a1f6-691a-40b9-ad16-9e8514a36c10" providerId="ADAL" clId="{01CEBCA8-CBD6-4109-9FEE-3A7AEC1698ED}" dt="2025-12-24T16:05:17.291" v="5322" actId="20577"/>
          <ac:spMkLst>
            <pc:docMk/>
            <pc:sldMk cId="2149273888" sldId="277"/>
            <ac:spMk id="2" creationId="{A283E646-A41E-1F1B-2270-A95119BA48E8}"/>
          </ac:spMkLst>
        </pc:spChg>
        <pc:spChg chg="add mod">
          <ac:chgData name="Rohlfsen, Cory J" userId="a7e7a1f6-691a-40b9-ad16-9e8514a36c10" providerId="ADAL" clId="{01CEBCA8-CBD6-4109-9FEE-3A7AEC1698ED}" dt="2025-12-24T16:05:38.014" v="5349" actId="1076"/>
          <ac:spMkLst>
            <pc:docMk/>
            <pc:sldMk cId="2149273888" sldId="277"/>
            <ac:spMk id="10" creationId="{C9E918F5-EE67-20D9-46C5-5B5139C0BDE8}"/>
          </ac:spMkLst>
        </pc:spChg>
        <pc:picChg chg="add mod">
          <ac:chgData name="Rohlfsen, Cory J" userId="a7e7a1f6-691a-40b9-ad16-9e8514a36c10" providerId="ADAL" clId="{01CEBCA8-CBD6-4109-9FEE-3A7AEC1698ED}" dt="2025-12-24T16:04:21.162" v="5278" actId="14100"/>
          <ac:picMkLst>
            <pc:docMk/>
            <pc:sldMk cId="2149273888" sldId="277"/>
            <ac:picMk id="9" creationId="{85D19E14-6B3B-CCD8-07D5-2D104A38B13C}"/>
          </ac:picMkLst>
        </pc:picChg>
      </pc:sldChg>
      <pc:sldChg chg="addSp delSp modSp new mod setBg">
        <pc:chgData name="Rohlfsen, Cory J" userId="a7e7a1f6-691a-40b9-ad16-9e8514a36c10" providerId="ADAL" clId="{01CEBCA8-CBD6-4109-9FEE-3A7AEC1698ED}" dt="2025-12-24T16:24:36.441" v="6181" actId="14100"/>
        <pc:sldMkLst>
          <pc:docMk/>
          <pc:sldMk cId="2043215897" sldId="278"/>
        </pc:sldMkLst>
        <pc:spChg chg="mod">
          <ac:chgData name="Rohlfsen, Cory J" userId="a7e7a1f6-691a-40b9-ad16-9e8514a36c10" providerId="ADAL" clId="{01CEBCA8-CBD6-4109-9FEE-3A7AEC1698ED}" dt="2025-12-24T16:22:40.627" v="5894" actId="27636"/>
          <ac:spMkLst>
            <pc:docMk/>
            <pc:sldMk cId="2043215897" sldId="278"/>
            <ac:spMk id="2" creationId="{CE09F7DC-79A2-A18B-BA47-56DA94AD8268}"/>
          </ac:spMkLst>
        </pc:spChg>
        <pc:spChg chg="add mod">
          <ac:chgData name="Rohlfsen, Cory J" userId="a7e7a1f6-691a-40b9-ad16-9e8514a36c10" providerId="ADAL" clId="{01CEBCA8-CBD6-4109-9FEE-3A7AEC1698ED}" dt="2025-12-24T16:24:36.441" v="6181" actId="14100"/>
          <ac:spMkLst>
            <pc:docMk/>
            <pc:sldMk cId="2043215897" sldId="278"/>
            <ac:spMk id="5" creationId="{9CA7F443-00FA-8073-6A18-B5A1CC074CC4}"/>
          </ac:spMkLst>
        </pc:spChg>
        <pc:spChg chg="add">
          <ac:chgData name="Rohlfsen, Cory J" userId="a7e7a1f6-691a-40b9-ad16-9e8514a36c10" providerId="ADAL" clId="{01CEBCA8-CBD6-4109-9FEE-3A7AEC1698ED}" dt="2025-12-23T16:09:10.287" v="1320" actId="26606"/>
          <ac:spMkLst>
            <pc:docMk/>
            <pc:sldMk cId="2043215897" sldId="278"/>
            <ac:spMk id="9" creationId="{5105D448-4A6C-48A3-8C3C-71AF58F3E506}"/>
          </ac:spMkLst>
        </pc:spChg>
        <pc:spChg chg="add">
          <ac:chgData name="Rohlfsen, Cory J" userId="a7e7a1f6-691a-40b9-ad16-9e8514a36c10" providerId="ADAL" clId="{01CEBCA8-CBD6-4109-9FEE-3A7AEC1698ED}" dt="2025-12-23T16:09:10.287" v="1320" actId="26606"/>
          <ac:spMkLst>
            <pc:docMk/>
            <pc:sldMk cId="2043215897" sldId="278"/>
            <ac:spMk id="11" creationId="{4025579F-C5D8-43BE-AF84-3E66A482C567}"/>
          </ac:spMkLst>
        </pc:spChg>
        <pc:graphicFrameChg chg="add mod modGraphic">
          <ac:chgData name="Rohlfsen, Cory J" userId="a7e7a1f6-691a-40b9-ad16-9e8514a36c10" providerId="ADAL" clId="{01CEBCA8-CBD6-4109-9FEE-3A7AEC1698ED}" dt="2025-12-24T16:22:55.861" v="5896" actId="1076"/>
          <ac:graphicFrameMkLst>
            <pc:docMk/>
            <pc:sldMk cId="2043215897" sldId="278"/>
            <ac:graphicFrameMk id="4" creationId="{E8585753-E30C-4DCD-8E2C-246C4F2F2FBB}"/>
          </ac:graphicFrameMkLst>
        </pc:graphicFrameChg>
      </pc:sldChg>
      <pc:sldChg chg="addSp delSp modSp new mod ord">
        <pc:chgData name="Rohlfsen, Cory J" userId="a7e7a1f6-691a-40b9-ad16-9e8514a36c10" providerId="ADAL" clId="{01CEBCA8-CBD6-4109-9FEE-3A7AEC1698ED}" dt="2025-12-24T15:46:16.914" v="3498"/>
        <pc:sldMkLst>
          <pc:docMk/>
          <pc:sldMk cId="1861458016" sldId="279"/>
        </pc:sldMkLst>
        <pc:spChg chg="mod">
          <ac:chgData name="Rohlfsen, Cory J" userId="a7e7a1f6-691a-40b9-ad16-9e8514a36c10" providerId="ADAL" clId="{01CEBCA8-CBD6-4109-9FEE-3A7AEC1698ED}" dt="2025-12-23T16:24:39.818" v="1733" actId="404"/>
          <ac:spMkLst>
            <pc:docMk/>
            <pc:sldMk cId="1861458016" sldId="279"/>
            <ac:spMk id="2" creationId="{9B02DE14-2F1C-0E29-0A76-A0396BCFF093}"/>
          </ac:spMkLst>
        </pc:spChg>
        <pc:picChg chg="add mod">
          <ac:chgData name="Rohlfsen, Cory J" userId="a7e7a1f6-691a-40b9-ad16-9e8514a36c10" providerId="ADAL" clId="{01CEBCA8-CBD6-4109-9FEE-3A7AEC1698ED}" dt="2025-12-23T16:24:42.423" v="1734" actId="1076"/>
          <ac:picMkLst>
            <pc:docMk/>
            <pc:sldMk cId="1861458016" sldId="279"/>
            <ac:picMk id="5" creationId="{D328678F-FB25-289E-FCDA-315CE2374B0C}"/>
          </ac:picMkLst>
        </pc:picChg>
      </pc:sldChg>
      <pc:sldChg chg="addSp modSp new mod">
        <pc:chgData name="Rohlfsen, Cory J" userId="a7e7a1f6-691a-40b9-ad16-9e8514a36c10" providerId="ADAL" clId="{01CEBCA8-CBD6-4109-9FEE-3A7AEC1698ED}" dt="2025-12-24T02:33:07.034" v="2745" actId="1076"/>
        <pc:sldMkLst>
          <pc:docMk/>
          <pc:sldMk cId="3186368055" sldId="280"/>
        </pc:sldMkLst>
        <pc:spChg chg="mod">
          <ac:chgData name="Rohlfsen, Cory J" userId="a7e7a1f6-691a-40b9-ad16-9e8514a36c10" providerId="ADAL" clId="{01CEBCA8-CBD6-4109-9FEE-3A7AEC1698ED}" dt="2025-12-24T02:32:41.334" v="2740" actId="20577"/>
          <ac:spMkLst>
            <pc:docMk/>
            <pc:sldMk cId="3186368055" sldId="280"/>
            <ac:spMk id="2" creationId="{F813A60B-1954-813E-60F6-A575ECC54C0E}"/>
          </ac:spMkLst>
        </pc:spChg>
        <pc:spChg chg="mod">
          <ac:chgData name="Rohlfsen, Cory J" userId="a7e7a1f6-691a-40b9-ad16-9e8514a36c10" providerId="ADAL" clId="{01CEBCA8-CBD6-4109-9FEE-3A7AEC1698ED}" dt="2025-12-24T02:33:07.034" v="2745" actId="1076"/>
          <ac:spMkLst>
            <pc:docMk/>
            <pc:sldMk cId="3186368055" sldId="280"/>
            <ac:spMk id="3" creationId="{D160D3EB-8945-35DA-7275-8C732A5CFD37}"/>
          </ac:spMkLst>
        </pc:spChg>
        <pc:picChg chg="add mod">
          <ac:chgData name="Rohlfsen, Cory J" userId="a7e7a1f6-691a-40b9-ad16-9e8514a36c10" providerId="ADAL" clId="{01CEBCA8-CBD6-4109-9FEE-3A7AEC1698ED}" dt="2025-12-24T02:30:49.605" v="2708" actId="1076"/>
          <ac:picMkLst>
            <pc:docMk/>
            <pc:sldMk cId="3186368055" sldId="280"/>
            <ac:picMk id="5" creationId="{C47173EB-A6F0-E479-BBB6-E7DE8712F638}"/>
          </ac:picMkLst>
        </pc:picChg>
        <pc:picChg chg="add mod">
          <ac:chgData name="Rohlfsen, Cory J" userId="a7e7a1f6-691a-40b9-ad16-9e8514a36c10" providerId="ADAL" clId="{01CEBCA8-CBD6-4109-9FEE-3A7AEC1698ED}" dt="2025-12-24T02:32:44.890" v="2741" actId="1076"/>
          <ac:picMkLst>
            <pc:docMk/>
            <pc:sldMk cId="3186368055" sldId="280"/>
            <ac:picMk id="7" creationId="{EAB839C9-DFAE-921D-1BF3-4C3C746AF20F}"/>
          </ac:picMkLst>
        </pc:picChg>
      </pc:sldChg>
      <pc:sldChg chg="addSp delSp modSp new mod ord setBg">
        <pc:chgData name="Rohlfsen, Cory J" userId="a7e7a1f6-691a-40b9-ad16-9e8514a36c10" providerId="ADAL" clId="{01CEBCA8-CBD6-4109-9FEE-3A7AEC1698ED}" dt="2026-01-13T19:07:48.724" v="6567" actId="113"/>
        <pc:sldMkLst>
          <pc:docMk/>
          <pc:sldMk cId="1813281856" sldId="281"/>
        </pc:sldMkLst>
        <pc:spChg chg="mod">
          <ac:chgData name="Rohlfsen, Cory J" userId="a7e7a1f6-691a-40b9-ad16-9e8514a36c10" providerId="ADAL" clId="{01CEBCA8-CBD6-4109-9FEE-3A7AEC1698ED}" dt="2025-12-24T02:46:31.693" v="2961" actId="20577"/>
          <ac:spMkLst>
            <pc:docMk/>
            <pc:sldMk cId="1813281856" sldId="281"/>
            <ac:spMk id="2" creationId="{5E6B0C63-AC06-0D5D-AA49-E9092291041A}"/>
          </ac:spMkLst>
        </pc:spChg>
        <pc:spChg chg="add mod">
          <ac:chgData name="Rohlfsen, Cory J" userId="a7e7a1f6-691a-40b9-ad16-9e8514a36c10" providerId="ADAL" clId="{01CEBCA8-CBD6-4109-9FEE-3A7AEC1698ED}" dt="2026-01-13T19:07:48.724" v="6567" actId="113"/>
          <ac:spMkLst>
            <pc:docMk/>
            <pc:sldMk cId="1813281856" sldId="281"/>
            <ac:spMk id="3" creationId="{F8AE6CB1-AF5C-5386-FD3D-F493662D9E7B}"/>
          </ac:spMkLst>
        </pc:spChg>
        <pc:spChg chg="add">
          <ac:chgData name="Rohlfsen, Cory J" userId="a7e7a1f6-691a-40b9-ad16-9e8514a36c10" providerId="ADAL" clId="{01CEBCA8-CBD6-4109-9FEE-3A7AEC1698ED}" dt="2025-12-24T02:36:26.473" v="2778" actId="26606"/>
          <ac:spMkLst>
            <pc:docMk/>
            <pc:sldMk cId="1813281856" sldId="281"/>
            <ac:spMk id="13" creationId="{BACC6370-2D7E-4714-9D71-7542949D7D5D}"/>
          </ac:spMkLst>
        </pc:spChg>
        <pc:spChg chg="add mod">
          <ac:chgData name="Rohlfsen, Cory J" userId="a7e7a1f6-691a-40b9-ad16-9e8514a36c10" providerId="ADAL" clId="{01CEBCA8-CBD6-4109-9FEE-3A7AEC1698ED}" dt="2025-12-24T02:59:45.573" v="3197" actId="164"/>
          <ac:spMkLst>
            <pc:docMk/>
            <pc:sldMk cId="1813281856" sldId="281"/>
            <ac:spMk id="14" creationId="{D376910C-2619-4CCF-DB9A-28AAF6B1BF39}"/>
          </ac:spMkLst>
        </pc:spChg>
        <pc:spChg chg="add">
          <ac:chgData name="Rohlfsen, Cory J" userId="a7e7a1f6-691a-40b9-ad16-9e8514a36c10" providerId="ADAL" clId="{01CEBCA8-CBD6-4109-9FEE-3A7AEC1698ED}" dt="2025-12-24T02:36:26.473" v="2778" actId="26606"/>
          <ac:spMkLst>
            <pc:docMk/>
            <pc:sldMk cId="1813281856" sldId="281"/>
            <ac:spMk id="15" creationId="{F68B3F68-107C-434F-AA38-110D5EA91B85}"/>
          </ac:spMkLst>
        </pc:spChg>
        <pc:spChg chg="add mod">
          <ac:chgData name="Rohlfsen, Cory J" userId="a7e7a1f6-691a-40b9-ad16-9e8514a36c10" providerId="ADAL" clId="{01CEBCA8-CBD6-4109-9FEE-3A7AEC1698ED}" dt="2025-12-24T02:40:01.040" v="2838" actId="1076"/>
          <ac:spMkLst>
            <pc:docMk/>
            <pc:sldMk cId="1813281856" sldId="281"/>
            <ac:spMk id="16" creationId="{18690808-8F91-A02F-B0B4-4D6906446737}"/>
          </ac:spMkLst>
        </pc:spChg>
        <pc:spChg chg="add">
          <ac:chgData name="Rohlfsen, Cory J" userId="a7e7a1f6-691a-40b9-ad16-9e8514a36c10" providerId="ADAL" clId="{01CEBCA8-CBD6-4109-9FEE-3A7AEC1698ED}" dt="2025-12-24T02:36:26.473" v="2778" actId="26606"/>
          <ac:spMkLst>
            <pc:docMk/>
            <pc:sldMk cId="1813281856" sldId="281"/>
            <ac:spMk id="17" creationId="{AAD0DBB9-1A4B-4391-81D4-CB19F9AB918A}"/>
          </ac:spMkLst>
        </pc:spChg>
        <pc:spChg chg="add mod">
          <ac:chgData name="Rohlfsen, Cory J" userId="a7e7a1f6-691a-40b9-ad16-9e8514a36c10" providerId="ADAL" clId="{01CEBCA8-CBD6-4109-9FEE-3A7AEC1698ED}" dt="2025-12-24T02:59:45.573" v="3197" actId="164"/>
          <ac:spMkLst>
            <pc:docMk/>
            <pc:sldMk cId="1813281856" sldId="281"/>
            <ac:spMk id="18" creationId="{E25B1C26-AF33-1C39-64F3-0AA042F0F319}"/>
          </ac:spMkLst>
        </pc:spChg>
        <pc:spChg chg="add">
          <ac:chgData name="Rohlfsen, Cory J" userId="a7e7a1f6-691a-40b9-ad16-9e8514a36c10" providerId="ADAL" clId="{01CEBCA8-CBD6-4109-9FEE-3A7AEC1698ED}" dt="2025-12-24T02:36:26.473" v="2778" actId="26606"/>
          <ac:spMkLst>
            <pc:docMk/>
            <pc:sldMk cId="1813281856" sldId="281"/>
            <ac:spMk id="19" creationId="{063BBA22-50EA-4C4D-BE05-F1CE4E63AA56}"/>
          </ac:spMkLst>
        </pc:spChg>
        <pc:spChg chg="add mod">
          <ac:chgData name="Rohlfsen, Cory J" userId="a7e7a1f6-691a-40b9-ad16-9e8514a36c10" providerId="ADAL" clId="{01CEBCA8-CBD6-4109-9FEE-3A7AEC1698ED}" dt="2025-12-24T02:59:35.777" v="3196" actId="164"/>
          <ac:spMkLst>
            <pc:docMk/>
            <pc:sldMk cId="1813281856" sldId="281"/>
            <ac:spMk id="20" creationId="{923D4929-6DF6-8B5F-8B72-52890BB18CF2}"/>
          </ac:spMkLst>
        </pc:spChg>
        <pc:spChg chg="add mod">
          <ac:chgData name="Rohlfsen, Cory J" userId="a7e7a1f6-691a-40b9-ad16-9e8514a36c10" providerId="ADAL" clId="{01CEBCA8-CBD6-4109-9FEE-3A7AEC1698ED}" dt="2025-12-24T02:48:46.243" v="2976" actId="164"/>
          <ac:spMkLst>
            <pc:docMk/>
            <pc:sldMk cId="1813281856" sldId="281"/>
            <ac:spMk id="24" creationId="{0A87F3B9-98E3-D623-DA7F-D9AA6C3311C9}"/>
          </ac:spMkLst>
        </pc:spChg>
        <pc:spChg chg="add mod">
          <ac:chgData name="Rohlfsen, Cory J" userId="a7e7a1f6-691a-40b9-ad16-9e8514a36c10" providerId="ADAL" clId="{01CEBCA8-CBD6-4109-9FEE-3A7AEC1698ED}" dt="2025-12-24T02:48:46.243" v="2976" actId="164"/>
          <ac:spMkLst>
            <pc:docMk/>
            <pc:sldMk cId="1813281856" sldId="281"/>
            <ac:spMk id="25" creationId="{D139EED1-A4E0-EFA0-7364-186348BD3337}"/>
          </ac:spMkLst>
        </pc:spChg>
        <pc:spChg chg="add mod">
          <ac:chgData name="Rohlfsen, Cory J" userId="a7e7a1f6-691a-40b9-ad16-9e8514a36c10" providerId="ADAL" clId="{01CEBCA8-CBD6-4109-9FEE-3A7AEC1698ED}" dt="2025-12-24T02:48:46.243" v="2976" actId="164"/>
          <ac:spMkLst>
            <pc:docMk/>
            <pc:sldMk cId="1813281856" sldId="281"/>
            <ac:spMk id="26" creationId="{165D5DB0-43A4-564C-7D45-602954DA3506}"/>
          </ac:spMkLst>
        </pc:spChg>
        <pc:spChg chg="add mod">
          <ac:chgData name="Rohlfsen, Cory J" userId="a7e7a1f6-691a-40b9-ad16-9e8514a36c10" providerId="ADAL" clId="{01CEBCA8-CBD6-4109-9FEE-3A7AEC1698ED}" dt="2025-12-24T02:48:46.243" v="2976" actId="164"/>
          <ac:spMkLst>
            <pc:docMk/>
            <pc:sldMk cId="1813281856" sldId="281"/>
            <ac:spMk id="27" creationId="{EE6D340E-E7A3-247C-858D-37E3AF5A301A}"/>
          </ac:spMkLst>
        </pc:spChg>
        <pc:spChg chg="add mod">
          <ac:chgData name="Rohlfsen, Cory J" userId="a7e7a1f6-691a-40b9-ad16-9e8514a36c10" providerId="ADAL" clId="{01CEBCA8-CBD6-4109-9FEE-3A7AEC1698ED}" dt="2025-12-24T02:48:46.243" v="2976" actId="164"/>
          <ac:spMkLst>
            <pc:docMk/>
            <pc:sldMk cId="1813281856" sldId="281"/>
            <ac:spMk id="28" creationId="{D0F1E006-FF9C-4651-7A4D-0ABF7DE2F2AC}"/>
          </ac:spMkLst>
        </pc:spChg>
        <pc:spChg chg="add mod">
          <ac:chgData name="Rohlfsen, Cory J" userId="a7e7a1f6-691a-40b9-ad16-9e8514a36c10" providerId="ADAL" clId="{01CEBCA8-CBD6-4109-9FEE-3A7AEC1698ED}" dt="2025-12-24T02:48:46.243" v="2976" actId="164"/>
          <ac:spMkLst>
            <pc:docMk/>
            <pc:sldMk cId="1813281856" sldId="281"/>
            <ac:spMk id="29" creationId="{0732984F-3F4B-780E-A50D-124F333EFC84}"/>
          </ac:spMkLst>
        </pc:spChg>
        <pc:spChg chg="add mod">
          <ac:chgData name="Rohlfsen, Cory J" userId="a7e7a1f6-691a-40b9-ad16-9e8514a36c10" providerId="ADAL" clId="{01CEBCA8-CBD6-4109-9FEE-3A7AEC1698ED}" dt="2025-12-24T02:48:46.243" v="2976" actId="164"/>
          <ac:spMkLst>
            <pc:docMk/>
            <pc:sldMk cId="1813281856" sldId="281"/>
            <ac:spMk id="30" creationId="{F1EE42AF-4718-C77C-7AD0-2F2CD3EF4179}"/>
          </ac:spMkLst>
        </pc:spChg>
        <pc:spChg chg="add mod">
          <ac:chgData name="Rohlfsen, Cory J" userId="a7e7a1f6-691a-40b9-ad16-9e8514a36c10" providerId="ADAL" clId="{01CEBCA8-CBD6-4109-9FEE-3A7AEC1698ED}" dt="2025-12-24T02:48:46.243" v="2976" actId="164"/>
          <ac:spMkLst>
            <pc:docMk/>
            <pc:sldMk cId="1813281856" sldId="281"/>
            <ac:spMk id="31" creationId="{808BA5EF-6B74-6739-BFD5-58A3484BFA4E}"/>
          </ac:spMkLst>
        </pc:spChg>
        <pc:spChg chg="add mod">
          <ac:chgData name="Rohlfsen, Cory J" userId="a7e7a1f6-691a-40b9-ad16-9e8514a36c10" providerId="ADAL" clId="{01CEBCA8-CBD6-4109-9FEE-3A7AEC1698ED}" dt="2025-12-24T02:48:46.243" v="2976" actId="164"/>
          <ac:spMkLst>
            <pc:docMk/>
            <pc:sldMk cId="1813281856" sldId="281"/>
            <ac:spMk id="33" creationId="{7E74E62C-B0A3-970C-95DC-C5C89CD2285F}"/>
          </ac:spMkLst>
        </pc:spChg>
        <pc:spChg chg="add mod">
          <ac:chgData name="Rohlfsen, Cory J" userId="a7e7a1f6-691a-40b9-ad16-9e8514a36c10" providerId="ADAL" clId="{01CEBCA8-CBD6-4109-9FEE-3A7AEC1698ED}" dt="2025-12-24T02:48:46.243" v="2976" actId="164"/>
          <ac:spMkLst>
            <pc:docMk/>
            <pc:sldMk cId="1813281856" sldId="281"/>
            <ac:spMk id="34" creationId="{6B0D70D4-234C-E9CE-E6F5-9054B88F59B8}"/>
          </ac:spMkLst>
        </pc:spChg>
        <pc:spChg chg="add mod">
          <ac:chgData name="Rohlfsen, Cory J" userId="a7e7a1f6-691a-40b9-ad16-9e8514a36c10" providerId="ADAL" clId="{01CEBCA8-CBD6-4109-9FEE-3A7AEC1698ED}" dt="2025-12-24T02:59:53.447" v="3198" actId="164"/>
          <ac:spMkLst>
            <pc:docMk/>
            <pc:sldMk cId="1813281856" sldId="281"/>
            <ac:spMk id="38" creationId="{46F6F45B-DE2C-1BFE-F638-53B2416907FE}"/>
          </ac:spMkLst>
        </pc:spChg>
        <pc:spChg chg="add mod">
          <ac:chgData name="Rohlfsen, Cory J" userId="a7e7a1f6-691a-40b9-ad16-9e8514a36c10" providerId="ADAL" clId="{01CEBCA8-CBD6-4109-9FEE-3A7AEC1698ED}" dt="2025-12-24T02:59:35.777" v="3196" actId="164"/>
          <ac:spMkLst>
            <pc:docMk/>
            <pc:sldMk cId="1813281856" sldId="281"/>
            <ac:spMk id="39" creationId="{C44EC68E-C355-1F26-60F5-E88E38257506}"/>
          </ac:spMkLst>
        </pc:spChg>
        <pc:spChg chg="add mod">
          <ac:chgData name="Rohlfsen, Cory J" userId="a7e7a1f6-691a-40b9-ad16-9e8514a36c10" providerId="ADAL" clId="{01CEBCA8-CBD6-4109-9FEE-3A7AEC1698ED}" dt="2025-12-24T02:59:58.097" v="3199" actId="164"/>
          <ac:spMkLst>
            <pc:docMk/>
            <pc:sldMk cId="1813281856" sldId="281"/>
            <ac:spMk id="40" creationId="{B8117E9B-B6CF-7D52-98F2-FF1122489009}"/>
          </ac:spMkLst>
        </pc:spChg>
        <pc:spChg chg="add mod">
          <ac:chgData name="Rohlfsen, Cory J" userId="a7e7a1f6-691a-40b9-ad16-9e8514a36c10" providerId="ADAL" clId="{01CEBCA8-CBD6-4109-9FEE-3A7AEC1698ED}" dt="2025-12-24T02:53:34.151" v="3107" actId="14100"/>
          <ac:spMkLst>
            <pc:docMk/>
            <pc:sldMk cId="1813281856" sldId="281"/>
            <ac:spMk id="47" creationId="{81ECA44E-8D08-F3DE-B504-53DC5A20E99F}"/>
          </ac:spMkLst>
        </pc:spChg>
        <pc:spChg chg="add mod">
          <ac:chgData name="Rohlfsen, Cory J" userId="a7e7a1f6-691a-40b9-ad16-9e8514a36c10" providerId="ADAL" clId="{01CEBCA8-CBD6-4109-9FEE-3A7AEC1698ED}" dt="2025-12-24T02:53:42.992" v="3109" actId="1076"/>
          <ac:spMkLst>
            <pc:docMk/>
            <pc:sldMk cId="1813281856" sldId="281"/>
            <ac:spMk id="48" creationId="{FBF9D728-DDD7-933A-BE7F-2BF488F82E45}"/>
          </ac:spMkLst>
        </pc:spChg>
        <pc:spChg chg="add mod">
          <ac:chgData name="Rohlfsen, Cory J" userId="a7e7a1f6-691a-40b9-ad16-9e8514a36c10" providerId="ADAL" clId="{01CEBCA8-CBD6-4109-9FEE-3A7AEC1698ED}" dt="2025-12-24T03:00:08.626" v="3200" actId="164"/>
          <ac:spMkLst>
            <pc:docMk/>
            <pc:sldMk cId="1813281856" sldId="281"/>
            <ac:spMk id="51" creationId="{55A4C356-8C31-469E-BDB0-932BA550D5D0}"/>
          </ac:spMkLst>
        </pc:spChg>
        <pc:grpChg chg="mod">
          <ac:chgData name="Rohlfsen, Cory J" userId="a7e7a1f6-691a-40b9-ad16-9e8514a36c10" providerId="ADAL" clId="{01CEBCA8-CBD6-4109-9FEE-3A7AEC1698ED}" dt="2025-12-24T03:00:08.626" v="3200" actId="164"/>
          <ac:grpSpMkLst>
            <pc:docMk/>
            <pc:sldMk cId="1813281856" sldId="281"/>
            <ac:grpSpMk id="35" creationId="{58750C73-A8B3-F5A3-622C-1CCE7DC7EAFA}"/>
          </ac:grpSpMkLst>
        </pc:grpChg>
        <pc:grpChg chg="add mod">
          <ac:chgData name="Rohlfsen, Cory J" userId="a7e7a1f6-691a-40b9-ad16-9e8514a36c10" providerId="ADAL" clId="{01CEBCA8-CBD6-4109-9FEE-3A7AEC1698ED}" dt="2025-12-24T02:59:45.573" v="3197" actId="164"/>
          <ac:grpSpMkLst>
            <pc:docMk/>
            <pc:sldMk cId="1813281856" sldId="281"/>
            <ac:grpSpMk id="54" creationId="{6C8585AA-8D10-B911-90D0-DC0AD0E27D82}"/>
          </ac:grpSpMkLst>
        </pc:grpChg>
        <pc:grpChg chg="add mod">
          <ac:chgData name="Rohlfsen, Cory J" userId="a7e7a1f6-691a-40b9-ad16-9e8514a36c10" providerId="ADAL" clId="{01CEBCA8-CBD6-4109-9FEE-3A7AEC1698ED}" dt="2025-12-24T02:59:53.447" v="3198" actId="164"/>
          <ac:grpSpMkLst>
            <pc:docMk/>
            <pc:sldMk cId="1813281856" sldId="281"/>
            <ac:grpSpMk id="55" creationId="{F6EB88AD-A53E-18DE-BCEB-610E6CD54140}"/>
          </ac:grpSpMkLst>
        </pc:grpChg>
        <pc:grpChg chg="add mod">
          <ac:chgData name="Rohlfsen, Cory J" userId="a7e7a1f6-691a-40b9-ad16-9e8514a36c10" providerId="ADAL" clId="{01CEBCA8-CBD6-4109-9FEE-3A7AEC1698ED}" dt="2025-12-24T02:59:58.097" v="3199" actId="164"/>
          <ac:grpSpMkLst>
            <pc:docMk/>
            <pc:sldMk cId="1813281856" sldId="281"/>
            <ac:grpSpMk id="56" creationId="{3E6FAACE-74B7-AA5D-71ED-A9598D501AB9}"/>
          </ac:grpSpMkLst>
        </pc:grpChg>
        <pc:grpChg chg="add mod">
          <ac:chgData name="Rohlfsen, Cory J" userId="a7e7a1f6-691a-40b9-ad16-9e8514a36c10" providerId="ADAL" clId="{01CEBCA8-CBD6-4109-9FEE-3A7AEC1698ED}" dt="2025-12-24T02:59:58.097" v="3199" actId="164"/>
          <ac:grpSpMkLst>
            <pc:docMk/>
            <pc:sldMk cId="1813281856" sldId="281"/>
            <ac:grpSpMk id="57" creationId="{D338F76E-0508-927E-D38A-D298748D2B73}"/>
          </ac:grpSpMkLst>
        </pc:grpChg>
        <pc:grpChg chg="add mod">
          <ac:chgData name="Rohlfsen, Cory J" userId="a7e7a1f6-691a-40b9-ad16-9e8514a36c10" providerId="ADAL" clId="{01CEBCA8-CBD6-4109-9FEE-3A7AEC1698ED}" dt="2025-12-24T03:00:08.626" v="3200" actId="164"/>
          <ac:grpSpMkLst>
            <pc:docMk/>
            <pc:sldMk cId="1813281856" sldId="281"/>
            <ac:grpSpMk id="58" creationId="{CF3E450B-9D07-1D5C-85E5-243E5385A08D}"/>
          </ac:grpSpMkLst>
        </pc:grpChg>
        <pc:picChg chg="add mod">
          <ac:chgData name="Rohlfsen, Cory J" userId="a7e7a1f6-691a-40b9-ad16-9e8514a36c10" providerId="ADAL" clId="{01CEBCA8-CBD6-4109-9FEE-3A7AEC1698ED}" dt="2025-12-24T02:59:53.447" v="3198" actId="164"/>
          <ac:picMkLst>
            <pc:docMk/>
            <pc:sldMk cId="1813281856" sldId="281"/>
            <ac:picMk id="12" creationId="{0E5D5EFA-889E-4DEB-9E29-0D8281471E6D}"/>
          </ac:picMkLst>
        </pc:picChg>
        <pc:picChg chg="add mod">
          <ac:chgData name="Rohlfsen, Cory J" userId="a7e7a1f6-691a-40b9-ad16-9e8514a36c10" providerId="ADAL" clId="{01CEBCA8-CBD6-4109-9FEE-3A7AEC1698ED}" dt="2025-12-24T02:59:53.447" v="3198" actId="164"/>
          <ac:picMkLst>
            <pc:docMk/>
            <pc:sldMk cId="1813281856" sldId="281"/>
            <ac:picMk id="37" creationId="{6950BECA-EAF2-2C51-64E6-717B9EE5A8DE}"/>
          </ac:picMkLst>
        </pc:picChg>
        <pc:picChg chg="add mod">
          <ac:chgData name="Rohlfsen, Cory J" userId="a7e7a1f6-691a-40b9-ad16-9e8514a36c10" providerId="ADAL" clId="{01CEBCA8-CBD6-4109-9FEE-3A7AEC1698ED}" dt="2025-12-24T02:56:08.326" v="3111" actId="1076"/>
          <ac:picMkLst>
            <pc:docMk/>
            <pc:sldMk cId="1813281856" sldId="281"/>
            <ac:picMk id="49" creationId="{166DAD97-8590-6C66-00C3-6D064DDC578E}"/>
          </ac:picMkLst>
        </pc:picChg>
        <pc:picChg chg="add mod">
          <ac:chgData name="Rohlfsen, Cory J" userId="a7e7a1f6-691a-40b9-ad16-9e8514a36c10" providerId="ADAL" clId="{01CEBCA8-CBD6-4109-9FEE-3A7AEC1698ED}" dt="2025-12-24T02:59:53.447" v="3198" actId="164"/>
          <ac:picMkLst>
            <pc:docMk/>
            <pc:sldMk cId="1813281856" sldId="281"/>
            <ac:picMk id="50" creationId="{6611B40E-BA9B-01B0-0F92-9B6719E54BFF}"/>
          </ac:picMkLst>
        </pc:picChg>
        <pc:cxnChg chg="add mod">
          <ac:chgData name="Rohlfsen, Cory J" userId="a7e7a1f6-691a-40b9-ad16-9e8514a36c10" providerId="ADAL" clId="{01CEBCA8-CBD6-4109-9FEE-3A7AEC1698ED}" dt="2025-12-24T02:46:05.228" v="2930" actId="14100"/>
          <ac:cxnSpMkLst>
            <pc:docMk/>
            <pc:sldMk cId="1813281856" sldId="281"/>
            <ac:cxnSpMk id="22" creationId="{498781E0-EC9D-7129-1D6E-6D06ACE531DB}"/>
          </ac:cxnSpMkLst>
        </pc:cxnChg>
        <pc:cxnChg chg="add mod">
          <ac:chgData name="Rohlfsen, Cory J" userId="a7e7a1f6-691a-40b9-ad16-9e8514a36c10" providerId="ADAL" clId="{01CEBCA8-CBD6-4109-9FEE-3A7AEC1698ED}" dt="2025-12-24T02:59:53.447" v="3198" actId="164"/>
          <ac:cxnSpMkLst>
            <pc:docMk/>
            <pc:sldMk cId="1813281856" sldId="281"/>
            <ac:cxnSpMk id="42" creationId="{FA054652-03C5-D41B-21BC-1EB9DCAE9464}"/>
          </ac:cxnSpMkLst>
        </pc:cxnChg>
        <pc:cxnChg chg="add mod">
          <ac:chgData name="Rohlfsen, Cory J" userId="a7e7a1f6-691a-40b9-ad16-9e8514a36c10" providerId="ADAL" clId="{01CEBCA8-CBD6-4109-9FEE-3A7AEC1698ED}" dt="2025-12-24T03:00:08.626" v="3200" actId="164"/>
          <ac:cxnSpMkLst>
            <pc:docMk/>
            <pc:sldMk cId="1813281856" sldId="281"/>
            <ac:cxnSpMk id="53" creationId="{CA8C4691-EB7C-2407-7FCF-E2848404302B}"/>
          </ac:cxnSpMkLst>
        </pc:cxnChg>
        <pc:cxnChg chg="add mod">
          <ac:chgData name="Rohlfsen, Cory J" userId="a7e7a1f6-691a-40b9-ad16-9e8514a36c10" providerId="ADAL" clId="{01CEBCA8-CBD6-4109-9FEE-3A7AEC1698ED}" dt="2025-12-24T16:31:46.815" v="6372" actId="1076"/>
          <ac:cxnSpMkLst>
            <pc:docMk/>
            <pc:sldMk cId="1813281856" sldId="281"/>
            <ac:cxnSpMk id="60" creationId="{0DADDEE4-C315-B2BC-BB9E-D59A9D1EF6B0}"/>
          </ac:cxnSpMkLst>
        </pc:cxnChg>
        <pc:cxnChg chg="add mod">
          <ac:chgData name="Rohlfsen, Cory J" userId="a7e7a1f6-691a-40b9-ad16-9e8514a36c10" providerId="ADAL" clId="{01CEBCA8-CBD6-4109-9FEE-3A7AEC1698ED}" dt="2025-12-24T16:31:57.607" v="6375" actId="692"/>
          <ac:cxnSpMkLst>
            <pc:docMk/>
            <pc:sldMk cId="1813281856" sldId="281"/>
            <ac:cxnSpMk id="61" creationId="{96E740FD-3059-9D84-0DEB-A8639822B3FE}"/>
          </ac:cxnSpMkLst>
        </pc:cxnChg>
        <pc:cxnChg chg="add mod">
          <ac:chgData name="Rohlfsen, Cory J" userId="a7e7a1f6-691a-40b9-ad16-9e8514a36c10" providerId="ADAL" clId="{01CEBCA8-CBD6-4109-9FEE-3A7AEC1698ED}" dt="2025-12-24T16:32:07.858" v="6379" actId="692"/>
          <ac:cxnSpMkLst>
            <pc:docMk/>
            <pc:sldMk cId="1813281856" sldId="281"/>
            <ac:cxnSpMk id="62" creationId="{036503D7-8459-50A7-00B1-36DA2A98A637}"/>
          </ac:cxnSpMkLst>
        </pc:cxnChg>
      </pc:sldChg>
      <pc:sldChg chg="modSp new mod ord">
        <pc:chgData name="Rohlfsen, Cory J" userId="a7e7a1f6-691a-40b9-ad16-9e8514a36c10" providerId="ADAL" clId="{01CEBCA8-CBD6-4109-9FEE-3A7AEC1698ED}" dt="2026-01-13T19:10:59.159" v="6618" actId="20577"/>
        <pc:sldMkLst>
          <pc:docMk/>
          <pc:sldMk cId="2714006946" sldId="282"/>
        </pc:sldMkLst>
        <pc:spChg chg="mod">
          <ac:chgData name="Rohlfsen, Cory J" userId="a7e7a1f6-691a-40b9-ad16-9e8514a36c10" providerId="ADAL" clId="{01CEBCA8-CBD6-4109-9FEE-3A7AEC1698ED}" dt="2025-12-24T16:01:27.211" v="5110" actId="404"/>
          <ac:spMkLst>
            <pc:docMk/>
            <pc:sldMk cId="2714006946" sldId="282"/>
            <ac:spMk id="2" creationId="{627E8A83-2649-24FE-FD5C-FAB950D282E2}"/>
          </ac:spMkLst>
        </pc:spChg>
        <pc:spChg chg="mod">
          <ac:chgData name="Rohlfsen, Cory J" userId="a7e7a1f6-691a-40b9-ad16-9e8514a36c10" providerId="ADAL" clId="{01CEBCA8-CBD6-4109-9FEE-3A7AEC1698ED}" dt="2026-01-13T19:10:59.159" v="6618" actId="20577"/>
          <ac:spMkLst>
            <pc:docMk/>
            <pc:sldMk cId="2714006946" sldId="282"/>
            <ac:spMk id="3" creationId="{B8143887-2BA4-B71E-4B94-C2D758357302}"/>
          </ac:spMkLst>
        </pc:spChg>
      </pc:sldChg>
      <pc:sldChg chg="addSp delSp modSp new mod">
        <pc:chgData name="Rohlfsen, Cory J" userId="a7e7a1f6-691a-40b9-ad16-9e8514a36c10" providerId="ADAL" clId="{01CEBCA8-CBD6-4109-9FEE-3A7AEC1698ED}" dt="2025-12-24T16:28:56.813" v="6349" actId="207"/>
        <pc:sldMkLst>
          <pc:docMk/>
          <pc:sldMk cId="1945637317" sldId="283"/>
        </pc:sldMkLst>
        <pc:spChg chg="mod">
          <ac:chgData name="Rohlfsen, Cory J" userId="a7e7a1f6-691a-40b9-ad16-9e8514a36c10" providerId="ADAL" clId="{01CEBCA8-CBD6-4109-9FEE-3A7AEC1698ED}" dt="2025-12-24T16:25:36.086" v="6202" actId="20577"/>
          <ac:spMkLst>
            <pc:docMk/>
            <pc:sldMk cId="1945637317" sldId="283"/>
            <ac:spMk id="2" creationId="{E1D1E698-8D88-15E4-B030-BBABD42B8AB1}"/>
          </ac:spMkLst>
        </pc:spChg>
        <pc:spChg chg="add mod">
          <ac:chgData name="Rohlfsen, Cory J" userId="a7e7a1f6-691a-40b9-ad16-9e8514a36c10" providerId="ADAL" clId="{01CEBCA8-CBD6-4109-9FEE-3A7AEC1698ED}" dt="2025-12-24T16:28:12.435" v="6339" actId="1076"/>
          <ac:spMkLst>
            <pc:docMk/>
            <pc:sldMk cId="1945637317" sldId="283"/>
            <ac:spMk id="10" creationId="{746EB063-8C65-3408-FBDE-D9A4189FAB4D}"/>
          </ac:spMkLst>
        </pc:spChg>
        <pc:spChg chg="add mod">
          <ac:chgData name="Rohlfsen, Cory J" userId="a7e7a1f6-691a-40b9-ad16-9e8514a36c10" providerId="ADAL" clId="{01CEBCA8-CBD6-4109-9FEE-3A7AEC1698ED}" dt="2025-12-24T16:28:06.434" v="6337" actId="404"/>
          <ac:spMkLst>
            <pc:docMk/>
            <pc:sldMk cId="1945637317" sldId="283"/>
            <ac:spMk id="11" creationId="{746DAAFE-A8DD-6A06-4253-476B5CD6CE03}"/>
          </ac:spMkLst>
        </pc:spChg>
        <pc:spChg chg="add mod">
          <ac:chgData name="Rohlfsen, Cory J" userId="a7e7a1f6-691a-40b9-ad16-9e8514a36c10" providerId="ADAL" clId="{01CEBCA8-CBD6-4109-9FEE-3A7AEC1698ED}" dt="2025-12-24T16:28:56.813" v="6349" actId="207"/>
          <ac:spMkLst>
            <pc:docMk/>
            <pc:sldMk cId="1945637317" sldId="283"/>
            <ac:spMk id="12" creationId="{7F5F2AA6-A798-65B2-A225-339A1A724C3C}"/>
          </ac:spMkLst>
        </pc:spChg>
        <pc:picChg chg="add mod">
          <ac:chgData name="Rohlfsen, Cory J" userId="a7e7a1f6-691a-40b9-ad16-9e8514a36c10" providerId="ADAL" clId="{01CEBCA8-CBD6-4109-9FEE-3A7AEC1698ED}" dt="2025-12-24T16:15:42.832" v="5473" actId="1076"/>
          <ac:picMkLst>
            <pc:docMk/>
            <pc:sldMk cId="1945637317" sldId="283"/>
            <ac:picMk id="7" creationId="{A732C909-E415-D1F1-0E41-DE0FA562314E}"/>
          </ac:picMkLst>
        </pc:picChg>
      </pc:sldChg>
      <pc:sldChg chg="addSp delSp modSp add mod setBg delDesignElem">
        <pc:chgData name="Rohlfsen, Cory J" userId="a7e7a1f6-691a-40b9-ad16-9e8514a36c10" providerId="ADAL" clId="{01CEBCA8-CBD6-4109-9FEE-3A7AEC1698ED}" dt="2026-01-13T19:10:11.770" v="6605" actId="20577"/>
        <pc:sldMkLst>
          <pc:docMk/>
          <pc:sldMk cId="875952797" sldId="284"/>
        </pc:sldMkLst>
        <pc:spChg chg="mod">
          <ac:chgData name="Rohlfsen, Cory J" userId="a7e7a1f6-691a-40b9-ad16-9e8514a36c10" providerId="ADAL" clId="{01CEBCA8-CBD6-4109-9FEE-3A7AEC1698ED}" dt="2026-01-13T19:10:11.770" v="6605" actId="20577"/>
          <ac:spMkLst>
            <pc:docMk/>
            <pc:sldMk cId="875952797" sldId="284"/>
            <ac:spMk id="2" creationId="{863ACA6F-FAE6-A00C-B101-6677D1365CE4}"/>
          </ac:spMkLst>
        </pc:spChg>
        <pc:picChg chg="add mod">
          <ac:chgData name="Rohlfsen, Cory J" userId="a7e7a1f6-691a-40b9-ad16-9e8514a36c10" providerId="ADAL" clId="{01CEBCA8-CBD6-4109-9FEE-3A7AEC1698ED}" dt="2025-12-24T16:25:15.326" v="6187" actId="14100"/>
          <ac:picMkLst>
            <pc:docMk/>
            <pc:sldMk cId="875952797" sldId="284"/>
            <ac:picMk id="3" creationId="{0DEE599F-7713-C911-8F2C-B9E814B69A2B}"/>
          </ac:picMkLst>
        </pc:picChg>
        <pc:picChg chg="add mod ord">
          <ac:chgData name="Rohlfsen, Cory J" userId="a7e7a1f6-691a-40b9-ad16-9e8514a36c10" providerId="ADAL" clId="{01CEBCA8-CBD6-4109-9FEE-3A7AEC1698ED}" dt="2025-12-24T16:18:34.834" v="5510" actId="1076"/>
          <ac:picMkLst>
            <pc:docMk/>
            <pc:sldMk cId="875952797" sldId="284"/>
            <ac:picMk id="5" creationId="{1A78FCF7-667B-81FF-2B2B-B1976D489212}"/>
          </ac:picMkLst>
        </pc:picChg>
        <pc:picChg chg="add mod ord">
          <ac:chgData name="Rohlfsen, Cory J" userId="a7e7a1f6-691a-40b9-ad16-9e8514a36c10" providerId="ADAL" clId="{01CEBCA8-CBD6-4109-9FEE-3A7AEC1698ED}" dt="2025-12-24T16:25:28.058" v="6191" actId="1076"/>
          <ac:picMkLst>
            <pc:docMk/>
            <pc:sldMk cId="875952797" sldId="284"/>
            <ac:picMk id="11" creationId="{E07F59D7-2EB0-F6E9-42A6-260144AB89B2}"/>
          </ac:picMkLst>
        </pc:picChg>
      </pc:sldChg>
      <pc:sldChg chg="addSp delSp modSp new mod">
        <pc:chgData name="Rohlfsen, Cory J" userId="a7e7a1f6-691a-40b9-ad16-9e8514a36c10" providerId="ADAL" clId="{01CEBCA8-CBD6-4109-9FEE-3A7AEC1698ED}" dt="2025-12-24T16:34:02.183" v="6489" actId="1076"/>
        <pc:sldMkLst>
          <pc:docMk/>
          <pc:sldMk cId="599328745" sldId="285"/>
        </pc:sldMkLst>
        <pc:spChg chg="mod">
          <ac:chgData name="Rohlfsen, Cory J" userId="a7e7a1f6-691a-40b9-ad16-9e8514a36c10" providerId="ADAL" clId="{01CEBCA8-CBD6-4109-9FEE-3A7AEC1698ED}" dt="2025-12-24T16:33:58.833" v="6488" actId="404"/>
          <ac:spMkLst>
            <pc:docMk/>
            <pc:sldMk cId="599328745" sldId="285"/>
            <ac:spMk id="2" creationId="{14160C17-D6C5-8AD2-8AFB-EF974EDE8572}"/>
          </ac:spMkLst>
        </pc:spChg>
        <pc:picChg chg="add mod ord">
          <ac:chgData name="Rohlfsen, Cory J" userId="a7e7a1f6-691a-40b9-ad16-9e8514a36c10" providerId="ADAL" clId="{01CEBCA8-CBD6-4109-9FEE-3A7AEC1698ED}" dt="2025-12-24T16:34:02.183" v="6489" actId="1076"/>
          <ac:picMkLst>
            <pc:docMk/>
            <pc:sldMk cId="599328745" sldId="285"/>
            <ac:picMk id="5" creationId="{5140BB03-1B15-15B5-5BAA-421D4979B0DB}"/>
          </ac:picMkLst>
        </pc:picChg>
      </pc:sldChg>
      <pc:sldChg chg="delSp modSp add mod ord">
        <pc:chgData name="Rohlfsen, Cory J" userId="a7e7a1f6-691a-40b9-ad16-9e8514a36c10" providerId="ADAL" clId="{01CEBCA8-CBD6-4109-9FEE-3A7AEC1698ED}" dt="2026-01-13T19:07:27.119" v="6551" actId="207"/>
        <pc:sldMkLst>
          <pc:docMk/>
          <pc:sldMk cId="3966086208" sldId="286"/>
        </pc:sldMkLst>
        <pc:spChg chg="del mod">
          <ac:chgData name="Rohlfsen, Cory J" userId="a7e7a1f6-691a-40b9-ad16-9e8514a36c10" providerId="ADAL" clId="{01CEBCA8-CBD6-4109-9FEE-3A7AEC1698ED}" dt="2026-01-13T17:25:57.628" v="6537" actId="478"/>
          <ac:spMkLst>
            <pc:docMk/>
            <pc:sldMk cId="3966086208" sldId="286"/>
            <ac:spMk id="2" creationId="{4FBCDE49-6E6D-538A-5168-42604A664077}"/>
          </ac:spMkLst>
        </pc:spChg>
        <pc:spChg chg="mod">
          <ac:chgData name="Rohlfsen, Cory J" userId="a7e7a1f6-691a-40b9-ad16-9e8514a36c10" providerId="ADAL" clId="{01CEBCA8-CBD6-4109-9FEE-3A7AEC1698ED}" dt="2026-01-13T19:07:27.119" v="6551" actId="207"/>
          <ac:spMkLst>
            <pc:docMk/>
            <pc:sldMk cId="3966086208" sldId="286"/>
            <ac:spMk id="3" creationId="{85CE40A9-1994-8C31-9273-5CDFE0E1D709}"/>
          </ac:spMkLst>
        </pc:spChg>
      </pc:sldChg>
    </pc:docChg>
  </pc:docChgLst>
  <pc:docChgLst>
    <pc:chgData name="Rohlfsen, Cory J" userId="a7e7a1f6-691a-40b9-ad16-9e8514a36c10" providerId="ADAL" clId="{56D8CEEF-5D67-4AF5-A443-5FE0AB5A466A}"/>
    <pc:docChg chg="addSld modSld">
      <pc:chgData name="Rohlfsen, Cory J" userId="a7e7a1f6-691a-40b9-ad16-9e8514a36c10" providerId="ADAL" clId="{56D8CEEF-5D67-4AF5-A443-5FE0AB5A466A}" dt="2026-01-14T21:00:38.272" v="53" actId="20577"/>
      <pc:docMkLst>
        <pc:docMk/>
      </pc:docMkLst>
      <pc:sldChg chg="modNotesTx">
        <pc:chgData name="Rohlfsen, Cory J" userId="a7e7a1f6-691a-40b9-ad16-9e8514a36c10" providerId="ADAL" clId="{56D8CEEF-5D67-4AF5-A443-5FE0AB5A466A}" dt="2026-01-14T21:00:38.272" v="53" actId="20577"/>
        <pc:sldMkLst>
          <pc:docMk/>
          <pc:sldMk cId="1697760197" sldId="273"/>
        </pc:sldMkLst>
      </pc:sldChg>
      <pc:sldChg chg="addSp delSp modSp new mod">
        <pc:chgData name="Rohlfsen, Cory J" userId="a7e7a1f6-691a-40b9-ad16-9e8514a36c10" providerId="ADAL" clId="{56D8CEEF-5D67-4AF5-A443-5FE0AB5A466A}" dt="2026-01-14T20:28:14.410" v="38" actId="20577"/>
        <pc:sldMkLst>
          <pc:docMk/>
          <pc:sldMk cId="207503157" sldId="287"/>
        </pc:sldMkLst>
        <pc:spChg chg="mod">
          <ac:chgData name="Rohlfsen, Cory J" userId="a7e7a1f6-691a-40b9-ad16-9e8514a36c10" providerId="ADAL" clId="{56D8CEEF-5D67-4AF5-A443-5FE0AB5A466A}" dt="2026-01-14T20:27:51.161" v="18" actId="20577"/>
          <ac:spMkLst>
            <pc:docMk/>
            <pc:sldMk cId="207503157" sldId="287"/>
            <ac:spMk id="2" creationId="{7224C9BC-D027-58B2-AF19-8B250F258859}"/>
          </ac:spMkLst>
        </pc:spChg>
        <pc:spChg chg="del">
          <ac:chgData name="Rohlfsen, Cory J" userId="a7e7a1f6-691a-40b9-ad16-9e8514a36c10" providerId="ADAL" clId="{56D8CEEF-5D67-4AF5-A443-5FE0AB5A466A}" dt="2026-01-14T20:28:00.803" v="19" actId="3680"/>
          <ac:spMkLst>
            <pc:docMk/>
            <pc:sldMk cId="207503157" sldId="287"/>
            <ac:spMk id="3" creationId="{C799690B-9400-2498-2D89-44BD8B749EE3}"/>
          </ac:spMkLst>
        </pc:spChg>
        <pc:graphicFrameChg chg="add mod ord modGraphic">
          <ac:chgData name="Rohlfsen, Cory J" userId="a7e7a1f6-691a-40b9-ad16-9e8514a36c10" providerId="ADAL" clId="{56D8CEEF-5D67-4AF5-A443-5FE0AB5A466A}" dt="2026-01-14T20:28:14.410" v="38" actId="20577"/>
          <ac:graphicFrameMkLst>
            <pc:docMk/>
            <pc:sldMk cId="207503157" sldId="287"/>
            <ac:graphicFrameMk id="4" creationId="{040177F2-C6B3-0E35-A275-5026BCCC774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0502C9-03C0-4743-B316-A9BFDDBA4FF9}"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CA62DA-CDFC-4F55-8EE7-00587E03C326}" type="slidenum">
              <a:rPr lang="en-US" smtClean="0"/>
              <a:t>‹#›</a:t>
            </a:fld>
            <a:endParaRPr lang="en-US"/>
          </a:p>
        </p:txBody>
      </p:sp>
    </p:spTree>
    <p:extLst>
      <p:ext uri="{BB962C8B-B14F-4D97-AF65-F5344CB8AC3E}">
        <p14:creationId xmlns:p14="http://schemas.microsoft.com/office/powerpoint/2010/main" val="2413453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CA62DA-CDFC-4F55-8EE7-00587E03C326}" type="slidenum">
              <a:rPr lang="en-US" smtClean="0"/>
              <a:t>1</a:t>
            </a:fld>
            <a:endParaRPr lang="en-US"/>
          </a:p>
        </p:txBody>
      </p:sp>
    </p:spTree>
    <p:extLst>
      <p:ext uri="{BB962C8B-B14F-4D97-AF65-F5344CB8AC3E}">
        <p14:creationId xmlns:p14="http://schemas.microsoft.com/office/powerpoint/2010/main" val="581900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Log-loss punishes confident exclusion of the truth</a:t>
            </a:r>
          </a:p>
          <a:p>
            <a:r>
              <a:rPr lang="en-US" dirty="0"/>
              <a:t>Log-loss does </a:t>
            </a:r>
            <a:r>
              <a:rPr lang="en-US"/>
              <a:t>not necessarily punish </a:t>
            </a:r>
            <a:r>
              <a:rPr lang="en-US" dirty="0"/>
              <a:t>you for missing diagnoses, it punishes you for being surprised by the truth</a:t>
            </a:r>
          </a:p>
          <a:p>
            <a:r>
              <a:rPr lang="en-US" dirty="0"/>
              <a:t>Log-loss asks, “how surprised should you be by what actually happened, given your beliefs”</a:t>
            </a:r>
          </a:p>
          <a:p>
            <a:endParaRPr lang="en-US" dirty="0"/>
          </a:p>
          <a:p>
            <a:r>
              <a:rPr lang="en-US" dirty="0"/>
              <a:t>Calibration asks “Given what you thought was likely, how shocked SHOULD you have been when reality showed up”</a:t>
            </a:r>
          </a:p>
          <a:p>
            <a:br>
              <a:rPr lang="en-US" dirty="0"/>
            </a:br>
            <a:r>
              <a:rPr lang="en-US" dirty="0"/>
              <a:t>Good diagnosticians are less certain in high entropy cases even if they are superior at removing uncertainty that’s reducible</a:t>
            </a:r>
          </a:p>
        </p:txBody>
      </p:sp>
      <p:sp>
        <p:nvSpPr>
          <p:cNvPr id="4" name="Slide Number Placeholder 3"/>
          <p:cNvSpPr>
            <a:spLocks noGrp="1"/>
          </p:cNvSpPr>
          <p:nvPr>
            <p:ph type="sldNum" sz="quarter" idx="5"/>
          </p:nvPr>
        </p:nvSpPr>
        <p:spPr/>
        <p:txBody>
          <a:bodyPr/>
          <a:lstStyle/>
          <a:p>
            <a:fld id="{0FCA62DA-CDFC-4F55-8EE7-00587E03C326}" type="slidenum">
              <a:rPr lang="en-US" smtClean="0"/>
              <a:t>3</a:t>
            </a:fld>
            <a:endParaRPr lang="en-US"/>
          </a:p>
        </p:txBody>
      </p:sp>
    </p:spTree>
    <p:extLst>
      <p:ext uri="{BB962C8B-B14F-4D97-AF65-F5344CB8AC3E}">
        <p14:creationId xmlns:p14="http://schemas.microsoft.com/office/powerpoint/2010/main" val="625175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A91C77-8954-4BE7-A15C-DE07574AD822}" type="slidenum">
              <a:rPr lang="en-US" smtClean="0"/>
              <a:t>8</a:t>
            </a:fld>
            <a:endParaRPr lang="en-US"/>
          </a:p>
        </p:txBody>
      </p:sp>
    </p:spTree>
    <p:extLst>
      <p:ext uri="{BB962C8B-B14F-4D97-AF65-F5344CB8AC3E}">
        <p14:creationId xmlns:p14="http://schemas.microsoft.com/office/powerpoint/2010/main" val="3609933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E4652-DADD-37D6-21E3-6DF3052E9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E184B-2783-2D5F-7ADA-DDB9A5D06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2C1DBB-4D3B-C7D7-AA05-6462FD787D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6FC6B5-BB34-9216-BBDF-7E7B70A8348A}"/>
              </a:ext>
            </a:extLst>
          </p:cNvPr>
          <p:cNvSpPr>
            <a:spLocks noGrp="1"/>
          </p:cNvSpPr>
          <p:nvPr>
            <p:ph type="sldNum" sz="quarter" idx="5"/>
          </p:nvPr>
        </p:nvSpPr>
        <p:spPr/>
        <p:txBody>
          <a:bodyPr/>
          <a:lstStyle/>
          <a:p>
            <a:fld id="{0FCA62DA-CDFC-4F55-8EE7-00587E03C326}" type="slidenum">
              <a:rPr lang="en-US" smtClean="0"/>
              <a:t>9</a:t>
            </a:fld>
            <a:endParaRPr lang="en-US"/>
          </a:p>
        </p:txBody>
      </p:sp>
    </p:spTree>
    <p:extLst>
      <p:ext uri="{BB962C8B-B14F-4D97-AF65-F5344CB8AC3E}">
        <p14:creationId xmlns:p14="http://schemas.microsoft.com/office/powerpoint/2010/main" val="1117095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0382F-C209-86C7-AA64-BE2B398285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BC3803-3A8A-63C8-C220-574B3500C0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CBCA28-B800-F656-DCF5-19975B0677B2}"/>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5" name="Footer Placeholder 4">
            <a:extLst>
              <a:ext uri="{FF2B5EF4-FFF2-40B4-BE49-F238E27FC236}">
                <a16:creationId xmlns:a16="http://schemas.microsoft.com/office/drawing/2014/main" id="{9E509384-A30F-978F-618C-FF7E97393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34516B-CCBC-C3B0-D165-2BE2441FD7BC}"/>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2328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6EB9-C9B3-1FAB-1B5C-5EC6132E00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60CF8E-80A2-9EA1-6577-BF9887652D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EC33E9-9343-E159-FD95-7DB36B4A1730}"/>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5" name="Footer Placeholder 4">
            <a:extLst>
              <a:ext uri="{FF2B5EF4-FFF2-40B4-BE49-F238E27FC236}">
                <a16:creationId xmlns:a16="http://schemas.microsoft.com/office/drawing/2014/main" id="{9E2A3BCC-446A-D2F4-E646-C500F69ECE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5330-A62F-EFB3-957D-AF0AACA7F758}"/>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4175566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220F9-C62A-9124-034F-4C624D162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21043D-D5ED-6A43-4534-EBE8A8AD4E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A7A891-4A44-EED3-7798-DA848807A86F}"/>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5" name="Footer Placeholder 4">
            <a:extLst>
              <a:ext uri="{FF2B5EF4-FFF2-40B4-BE49-F238E27FC236}">
                <a16:creationId xmlns:a16="http://schemas.microsoft.com/office/drawing/2014/main" id="{2EEE7C62-8207-2AC1-7710-7CF4580A6A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353AAB-C86C-86FF-F7D1-B7955600FCA6}"/>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4220701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21A27-A5F3-532B-EB2F-2042C75A91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FF723C-93E3-330A-41B1-FC38BDAB63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41A1E8-4ADB-B003-4B7D-D3A6055A5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98ABC1-A2F0-D162-0100-AD475114E55D}"/>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6" name="Footer Placeholder 5">
            <a:extLst>
              <a:ext uri="{FF2B5EF4-FFF2-40B4-BE49-F238E27FC236}">
                <a16:creationId xmlns:a16="http://schemas.microsoft.com/office/drawing/2014/main" id="{AD8CFA8C-D4C4-CC85-4B40-E90F948B00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57D1A0-2DAF-5CBC-9A10-798DE9B95945}"/>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86975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C0421-FE99-ACBA-60A4-DDAE78222C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7FD8CC-86A1-F4C4-8E48-9EAF9A3A3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D441F9-2A65-5C6B-EBE4-EDB9151AAE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04BFD2-C650-5468-3A24-3D940A484C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C39774-CE4F-16A0-50A1-A79CA19A1B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1ED6F2-189C-3A6F-639B-5603B9B9D9FA}"/>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8" name="Footer Placeholder 7">
            <a:extLst>
              <a:ext uri="{FF2B5EF4-FFF2-40B4-BE49-F238E27FC236}">
                <a16:creationId xmlns:a16="http://schemas.microsoft.com/office/drawing/2014/main" id="{832C3E30-E495-A108-D187-D8BC7F7C86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D19B39-8CA4-BA5C-D275-155F6668DDC9}"/>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506205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B9A0-700A-CA40-AED7-E796284EA6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1D9DB9-5F78-FCAA-248A-39C77A9D9F3A}"/>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4" name="Footer Placeholder 3">
            <a:extLst>
              <a:ext uri="{FF2B5EF4-FFF2-40B4-BE49-F238E27FC236}">
                <a16:creationId xmlns:a16="http://schemas.microsoft.com/office/drawing/2014/main" id="{55040A3C-14FE-3D80-2022-A838BDC9F4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436268-F636-FD5B-5E03-1DB7CF4571C2}"/>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3470307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69FB8A-5D33-0C07-5A5A-99E5439CFCDC}"/>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3" name="Footer Placeholder 2">
            <a:extLst>
              <a:ext uri="{FF2B5EF4-FFF2-40B4-BE49-F238E27FC236}">
                <a16:creationId xmlns:a16="http://schemas.microsoft.com/office/drawing/2014/main" id="{256E67DA-D203-080F-8A67-54DE639AE3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904F08-71F6-9E86-82D1-8A5870BFF735}"/>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3207623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D3D9-A506-FD59-4C83-B3FE9E47BE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C735F3-0FE6-EA21-AFF6-433937D74F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711536-5C74-C888-A3CF-AD8B70EDAB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AF8C89-0BBC-7AB9-A51B-12D6C903F446}"/>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6" name="Footer Placeholder 5">
            <a:extLst>
              <a:ext uri="{FF2B5EF4-FFF2-40B4-BE49-F238E27FC236}">
                <a16:creationId xmlns:a16="http://schemas.microsoft.com/office/drawing/2014/main" id="{54EE76C6-398A-3142-BF51-F200AEA2F3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BB53BD-9104-3FB9-D004-CB374688B855}"/>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1314849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21E3-D1AB-E7EF-6656-370F8C2BDE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0EDE89-4BE6-04CF-C8B0-9C2261E6AC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B86A11-AAA3-44F8-6885-AD7286DC77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076D36-2F1E-6F35-B0B4-80BE37199347}"/>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6" name="Footer Placeholder 5">
            <a:extLst>
              <a:ext uri="{FF2B5EF4-FFF2-40B4-BE49-F238E27FC236}">
                <a16:creationId xmlns:a16="http://schemas.microsoft.com/office/drawing/2014/main" id="{2B1E7EAF-0E17-96DE-BD3E-62AB8F6958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141AD4-D0F9-8903-A5D7-61F9B197FF79}"/>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1612176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A0CB2-0027-6E40-7BEB-3FB488DB3E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9DC993-15EA-5407-8117-D418BD8C3F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7B7D58-78DF-AB4E-56FD-51242557143C}"/>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5" name="Footer Placeholder 4">
            <a:extLst>
              <a:ext uri="{FF2B5EF4-FFF2-40B4-BE49-F238E27FC236}">
                <a16:creationId xmlns:a16="http://schemas.microsoft.com/office/drawing/2014/main" id="{4CE58B83-2B46-3B0C-B678-BC21FF8FA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73566B-AF39-E265-4E13-08628F7F82B0}"/>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396574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9C8355-0B89-E93B-4ED5-C538B1D48B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BC6FBD-8A24-2046-E46C-FE972A41E8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B9EA0A-F503-0F57-68E3-3F837C865A13}"/>
              </a:ext>
            </a:extLst>
          </p:cNvPr>
          <p:cNvSpPr>
            <a:spLocks noGrp="1"/>
          </p:cNvSpPr>
          <p:nvPr>
            <p:ph type="dt" sz="half" idx="10"/>
          </p:nvPr>
        </p:nvSpPr>
        <p:spPr/>
        <p:txBody>
          <a:bodyPr/>
          <a:lstStyle/>
          <a:p>
            <a:fld id="{DCE0ED84-80A2-47BB-B6F8-97E743C23C9F}" type="datetimeFigureOut">
              <a:rPr lang="en-US" smtClean="0"/>
              <a:t>1/14/2026</a:t>
            </a:fld>
            <a:endParaRPr lang="en-US"/>
          </a:p>
        </p:txBody>
      </p:sp>
      <p:sp>
        <p:nvSpPr>
          <p:cNvPr id="5" name="Footer Placeholder 4">
            <a:extLst>
              <a:ext uri="{FF2B5EF4-FFF2-40B4-BE49-F238E27FC236}">
                <a16:creationId xmlns:a16="http://schemas.microsoft.com/office/drawing/2014/main" id="{7B044925-AB21-AB60-76B7-28C4B28C59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7E0DB-D1AC-859C-2CB5-6B9F9637EFE4}"/>
              </a:ext>
            </a:extLst>
          </p:cNvPr>
          <p:cNvSpPr>
            <a:spLocks noGrp="1"/>
          </p:cNvSpPr>
          <p:nvPr>
            <p:ph type="sldNum" sz="quarter" idx="12"/>
          </p:nvPr>
        </p:nvSpPr>
        <p:spPr/>
        <p:txBody>
          <a:bodyPr/>
          <a:lstStyle/>
          <a:p>
            <a:fld id="{B107FD5B-E20A-483F-800B-70E22E54EFCA}" type="slidenum">
              <a:rPr lang="en-US" smtClean="0"/>
              <a:t>‹#›</a:t>
            </a:fld>
            <a:endParaRPr lang="en-US"/>
          </a:p>
        </p:txBody>
      </p:sp>
    </p:spTree>
    <p:extLst>
      <p:ext uri="{BB962C8B-B14F-4D97-AF65-F5344CB8AC3E}">
        <p14:creationId xmlns:p14="http://schemas.microsoft.com/office/powerpoint/2010/main" val="4260566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78829C-7EEA-0A2B-C943-16AA4094E2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7EA7C6-22F1-D2F3-0EF3-F39487239E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67CB46-0051-9A70-BC20-ADFA6D13B1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CE0ED84-80A2-47BB-B6F8-97E743C23C9F}" type="datetimeFigureOut">
              <a:rPr lang="en-US" smtClean="0"/>
              <a:t>1/14/2026</a:t>
            </a:fld>
            <a:endParaRPr lang="en-US"/>
          </a:p>
        </p:txBody>
      </p:sp>
      <p:sp>
        <p:nvSpPr>
          <p:cNvPr id="5" name="Footer Placeholder 4">
            <a:extLst>
              <a:ext uri="{FF2B5EF4-FFF2-40B4-BE49-F238E27FC236}">
                <a16:creationId xmlns:a16="http://schemas.microsoft.com/office/drawing/2014/main" id="{6975535F-0773-9306-04BB-ABFD146BB3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D9D96C-79C8-4F51-BB97-DBAD818BC5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07FD5B-E20A-483F-800B-70E22E54EFCA}" type="slidenum">
              <a:rPr lang="en-US" smtClean="0"/>
              <a:t>‹#›</a:t>
            </a:fld>
            <a:endParaRPr lang="en-US"/>
          </a:p>
        </p:txBody>
      </p:sp>
    </p:spTree>
    <p:extLst>
      <p:ext uri="{BB962C8B-B14F-4D97-AF65-F5344CB8AC3E}">
        <p14:creationId xmlns:p14="http://schemas.microsoft.com/office/powerpoint/2010/main" val="2853788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E6B0C63-AC06-0D5D-AA49-E9092291041A}"/>
              </a:ext>
            </a:extLst>
          </p:cNvPr>
          <p:cNvSpPr>
            <a:spLocks noGrp="1"/>
          </p:cNvSpPr>
          <p:nvPr>
            <p:ph type="title"/>
          </p:nvPr>
        </p:nvSpPr>
        <p:spPr>
          <a:xfrm>
            <a:off x="721602" y="464438"/>
            <a:ext cx="10044023" cy="877729"/>
          </a:xfrm>
        </p:spPr>
        <p:txBody>
          <a:bodyPr anchor="ctr">
            <a:normAutofit/>
          </a:bodyPr>
          <a:lstStyle/>
          <a:p>
            <a:r>
              <a:rPr lang="en-US" sz="4000" dirty="0">
                <a:solidFill>
                  <a:srgbClr val="FFFFFF"/>
                </a:solidFill>
              </a:rPr>
              <a:t>Types of uncertainty: reducible vs irreducible</a:t>
            </a:r>
          </a:p>
        </p:txBody>
      </p:sp>
      <p:sp>
        <p:nvSpPr>
          <p:cNvPr id="16" name="Oval 15">
            <a:extLst>
              <a:ext uri="{FF2B5EF4-FFF2-40B4-BE49-F238E27FC236}">
                <a16:creationId xmlns:a16="http://schemas.microsoft.com/office/drawing/2014/main" id="{18690808-8F91-A02F-B0B4-4D6906446737}"/>
              </a:ext>
            </a:extLst>
          </p:cNvPr>
          <p:cNvSpPr/>
          <p:nvPr/>
        </p:nvSpPr>
        <p:spPr>
          <a:xfrm>
            <a:off x="248922" y="3585992"/>
            <a:ext cx="127182" cy="132202"/>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ight Brace 46">
            <a:extLst>
              <a:ext uri="{FF2B5EF4-FFF2-40B4-BE49-F238E27FC236}">
                <a16:creationId xmlns:a16="http://schemas.microsoft.com/office/drawing/2014/main" id="{81ECA44E-8D08-F3DE-B504-53DC5A20E99F}"/>
              </a:ext>
            </a:extLst>
          </p:cNvPr>
          <p:cNvSpPr/>
          <p:nvPr/>
        </p:nvSpPr>
        <p:spPr>
          <a:xfrm rot="10800000">
            <a:off x="8728056" y="2463254"/>
            <a:ext cx="415941" cy="1425697"/>
          </a:xfrm>
          <a:prstGeom prst="rightBrace">
            <a:avLst/>
          </a:prstGeom>
          <a:ln w="4127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8" name="Right Brace 47">
            <a:extLst>
              <a:ext uri="{FF2B5EF4-FFF2-40B4-BE49-F238E27FC236}">
                <a16:creationId xmlns:a16="http://schemas.microsoft.com/office/drawing/2014/main" id="{FBF9D728-DDD7-933A-BE7F-2BF488F82E45}"/>
              </a:ext>
            </a:extLst>
          </p:cNvPr>
          <p:cNvSpPr/>
          <p:nvPr/>
        </p:nvSpPr>
        <p:spPr>
          <a:xfrm rot="10800000">
            <a:off x="10470875" y="2463254"/>
            <a:ext cx="415941" cy="1425697"/>
          </a:xfrm>
          <a:prstGeom prst="rightBrace">
            <a:avLst/>
          </a:prstGeom>
          <a:ln w="4127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49" name="Picture 48">
            <a:extLst>
              <a:ext uri="{FF2B5EF4-FFF2-40B4-BE49-F238E27FC236}">
                <a16:creationId xmlns:a16="http://schemas.microsoft.com/office/drawing/2014/main" id="{166DAD97-8590-6C66-00C3-6D064DDC578E}"/>
              </a:ext>
            </a:extLst>
          </p:cNvPr>
          <p:cNvPicPr>
            <a:picLocks noChangeAspect="1"/>
          </p:cNvPicPr>
          <p:nvPr/>
        </p:nvPicPr>
        <p:blipFill>
          <a:blip r:embed="rId3"/>
          <a:stretch>
            <a:fillRect/>
          </a:stretch>
        </p:blipFill>
        <p:spPr>
          <a:xfrm>
            <a:off x="3105179" y="3522535"/>
            <a:ext cx="2006703" cy="273064"/>
          </a:xfrm>
          <a:prstGeom prst="rect">
            <a:avLst/>
          </a:prstGeom>
        </p:spPr>
      </p:pic>
      <p:grpSp>
        <p:nvGrpSpPr>
          <p:cNvPr id="57" name="Group 56">
            <a:extLst>
              <a:ext uri="{FF2B5EF4-FFF2-40B4-BE49-F238E27FC236}">
                <a16:creationId xmlns:a16="http://schemas.microsoft.com/office/drawing/2014/main" id="{D338F76E-0508-927E-D38A-D298748D2B73}"/>
              </a:ext>
            </a:extLst>
          </p:cNvPr>
          <p:cNvGrpSpPr/>
          <p:nvPr/>
        </p:nvGrpSpPr>
        <p:grpSpPr>
          <a:xfrm>
            <a:off x="248922" y="2448265"/>
            <a:ext cx="9153973" cy="3880713"/>
            <a:chOff x="248922" y="2448265"/>
            <a:chExt cx="9153973" cy="3880713"/>
          </a:xfrm>
        </p:grpSpPr>
        <p:sp>
          <p:nvSpPr>
            <p:cNvPr id="40" name="TextBox 39">
              <a:extLst>
                <a:ext uri="{FF2B5EF4-FFF2-40B4-BE49-F238E27FC236}">
                  <a16:creationId xmlns:a16="http://schemas.microsoft.com/office/drawing/2014/main" id="{B8117E9B-B6CF-7D52-98F2-FF1122489009}"/>
                </a:ext>
              </a:extLst>
            </p:cNvPr>
            <p:cNvSpPr txBox="1"/>
            <p:nvPr/>
          </p:nvSpPr>
          <p:spPr>
            <a:xfrm>
              <a:off x="5526792" y="5744203"/>
              <a:ext cx="3876103" cy="584775"/>
            </a:xfrm>
            <a:prstGeom prst="rect">
              <a:avLst/>
            </a:prstGeom>
            <a:noFill/>
          </p:spPr>
          <p:txBody>
            <a:bodyPr wrap="square" rtlCol="0">
              <a:spAutoFit/>
            </a:bodyPr>
            <a:lstStyle/>
            <a:p>
              <a:r>
                <a:rPr lang="en-US" sz="1600" dirty="0"/>
                <a:t>Total Epistemic Uncertainty if all key features are captured and accounted for</a:t>
              </a:r>
            </a:p>
          </p:txBody>
        </p:sp>
        <p:grpSp>
          <p:nvGrpSpPr>
            <p:cNvPr id="56" name="Group 55">
              <a:extLst>
                <a:ext uri="{FF2B5EF4-FFF2-40B4-BE49-F238E27FC236}">
                  <a16:creationId xmlns:a16="http://schemas.microsoft.com/office/drawing/2014/main" id="{3E6FAACE-74B7-AA5D-71ED-A9598D501AB9}"/>
                </a:ext>
              </a:extLst>
            </p:cNvPr>
            <p:cNvGrpSpPr/>
            <p:nvPr/>
          </p:nvGrpSpPr>
          <p:grpSpPr>
            <a:xfrm>
              <a:off x="248922" y="2448265"/>
              <a:ext cx="8499884" cy="3872121"/>
              <a:chOff x="248922" y="2448265"/>
              <a:chExt cx="8499884" cy="3872121"/>
            </a:xfrm>
          </p:grpSpPr>
          <p:pic>
            <p:nvPicPr>
              <p:cNvPr id="12" name="Picture 11">
                <a:extLst>
                  <a:ext uri="{FF2B5EF4-FFF2-40B4-BE49-F238E27FC236}">
                    <a16:creationId xmlns:a16="http://schemas.microsoft.com/office/drawing/2014/main" id="{0E5D5EFA-889E-4DEB-9E29-0D8281471E6D}"/>
                  </a:ext>
                </a:extLst>
              </p:cNvPr>
              <p:cNvPicPr>
                <a:picLocks noChangeAspect="1"/>
              </p:cNvPicPr>
              <p:nvPr/>
            </p:nvPicPr>
            <p:blipFill>
              <a:blip r:embed="rId4"/>
              <a:stretch>
                <a:fillRect/>
              </a:stretch>
            </p:blipFill>
            <p:spPr>
              <a:xfrm>
                <a:off x="388713" y="2448265"/>
                <a:ext cx="8360093" cy="3056277"/>
              </a:xfrm>
              <a:prstGeom prst="rect">
                <a:avLst/>
              </a:prstGeom>
            </p:spPr>
          </p:pic>
          <p:pic>
            <p:nvPicPr>
              <p:cNvPr id="37" name="Picture 36">
                <a:extLst>
                  <a:ext uri="{FF2B5EF4-FFF2-40B4-BE49-F238E27FC236}">
                    <a16:creationId xmlns:a16="http://schemas.microsoft.com/office/drawing/2014/main" id="{6950BECA-EAF2-2C51-64E6-717B9EE5A8DE}"/>
                  </a:ext>
                </a:extLst>
              </p:cNvPr>
              <p:cNvPicPr>
                <a:picLocks noChangeAspect="1"/>
              </p:cNvPicPr>
              <p:nvPr/>
            </p:nvPicPr>
            <p:blipFill>
              <a:blip r:embed="rId5"/>
              <a:stretch>
                <a:fillRect/>
              </a:stretch>
            </p:blipFill>
            <p:spPr>
              <a:xfrm>
                <a:off x="476848" y="5810739"/>
                <a:ext cx="1089139" cy="370532"/>
              </a:xfrm>
              <a:prstGeom prst="rect">
                <a:avLst/>
              </a:prstGeom>
            </p:spPr>
          </p:pic>
          <p:sp>
            <p:nvSpPr>
              <p:cNvPr id="38" name="Right Brace 37">
                <a:extLst>
                  <a:ext uri="{FF2B5EF4-FFF2-40B4-BE49-F238E27FC236}">
                    <a16:creationId xmlns:a16="http://schemas.microsoft.com/office/drawing/2014/main" id="{46F6F45B-DE2C-1BFE-F638-53B2416907FE}"/>
                  </a:ext>
                </a:extLst>
              </p:cNvPr>
              <p:cNvSpPr/>
              <p:nvPr/>
            </p:nvSpPr>
            <p:spPr>
              <a:xfrm>
                <a:off x="2829497" y="4125150"/>
                <a:ext cx="431495" cy="887269"/>
              </a:xfrm>
              <a:prstGeom prst="rightBrace">
                <a:avLst/>
              </a:prstGeom>
              <a:ln w="41275">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55" name="Group 54">
                <a:extLst>
                  <a:ext uri="{FF2B5EF4-FFF2-40B4-BE49-F238E27FC236}">
                    <a16:creationId xmlns:a16="http://schemas.microsoft.com/office/drawing/2014/main" id="{F6EB88AD-A53E-18DE-BCEB-610E6CD54140}"/>
                  </a:ext>
                </a:extLst>
              </p:cNvPr>
              <p:cNvGrpSpPr/>
              <p:nvPr/>
            </p:nvGrpSpPr>
            <p:grpSpPr>
              <a:xfrm>
                <a:off x="248922" y="3007605"/>
                <a:ext cx="139791" cy="3017990"/>
                <a:chOff x="248922" y="3007605"/>
                <a:chExt cx="139791" cy="3017990"/>
              </a:xfrm>
            </p:grpSpPr>
            <p:sp>
              <p:nvSpPr>
                <p:cNvPr id="14" name="Oval 13">
                  <a:extLst>
                    <a:ext uri="{FF2B5EF4-FFF2-40B4-BE49-F238E27FC236}">
                      <a16:creationId xmlns:a16="http://schemas.microsoft.com/office/drawing/2014/main" id="{D376910C-2619-4CCF-DB9A-28AAF6B1BF39}"/>
                    </a:ext>
                  </a:extLst>
                </p:cNvPr>
                <p:cNvSpPr/>
                <p:nvPr/>
              </p:nvSpPr>
              <p:spPr>
                <a:xfrm>
                  <a:off x="248922" y="3007605"/>
                  <a:ext cx="127182" cy="132202"/>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25B1C26-AF33-1C39-64F3-0AA042F0F319}"/>
                    </a:ext>
                  </a:extLst>
                </p:cNvPr>
                <p:cNvSpPr/>
                <p:nvPr/>
              </p:nvSpPr>
              <p:spPr>
                <a:xfrm>
                  <a:off x="248922" y="4111178"/>
                  <a:ext cx="127182" cy="132202"/>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6C8585AA-8D10-B911-90D0-DC0AD0E27D82}"/>
                    </a:ext>
                  </a:extLst>
                </p:cNvPr>
                <p:cNvGrpSpPr/>
                <p:nvPr/>
              </p:nvGrpSpPr>
              <p:grpSpPr>
                <a:xfrm>
                  <a:off x="248922" y="4689565"/>
                  <a:ext cx="139791" cy="1336030"/>
                  <a:chOff x="248922" y="4689565"/>
                  <a:chExt cx="139791" cy="1336030"/>
                </a:xfrm>
              </p:grpSpPr>
              <p:sp>
                <p:nvSpPr>
                  <p:cNvPr id="20" name="Oval 19">
                    <a:extLst>
                      <a:ext uri="{FF2B5EF4-FFF2-40B4-BE49-F238E27FC236}">
                        <a16:creationId xmlns:a16="http://schemas.microsoft.com/office/drawing/2014/main" id="{923D4929-6DF6-8B5F-8B72-52890BB18CF2}"/>
                      </a:ext>
                    </a:extLst>
                  </p:cNvPr>
                  <p:cNvSpPr/>
                  <p:nvPr/>
                </p:nvSpPr>
                <p:spPr>
                  <a:xfrm>
                    <a:off x="261531" y="4689565"/>
                    <a:ext cx="127182" cy="132202"/>
                  </a:xfrm>
                  <a:prstGeom prst="ellipse">
                    <a:avLst/>
                  </a:prstGeom>
                  <a:solidFill>
                    <a:srgbClr val="A02B93"/>
                  </a:solidFill>
                  <a:ln>
                    <a:solidFill>
                      <a:srgbClr val="A02B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44EC68E-C355-1F26-60F5-E88E38257506}"/>
                      </a:ext>
                    </a:extLst>
                  </p:cNvPr>
                  <p:cNvSpPr/>
                  <p:nvPr/>
                </p:nvSpPr>
                <p:spPr>
                  <a:xfrm>
                    <a:off x="248922" y="5893393"/>
                    <a:ext cx="127182" cy="132202"/>
                  </a:xfrm>
                  <a:prstGeom prst="ellipse">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42" name="Connector: Curved 41">
                <a:extLst>
                  <a:ext uri="{FF2B5EF4-FFF2-40B4-BE49-F238E27FC236}">
                    <a16:creationId xmlns:a16="http://schemas.microsoft.com/office/drawing/2014/main" id="{FA054652-03C5-D41B-21BC-1EB9DCAE9464}"/>
                  </a:ext>
                </a:extLst>
              </p:cNvPr>
              <p:cNvCxnSpPr>
                <a:cxnSpLocks/>
              </p:cNvCxnSpPr>
              <p:nvPr/>
            </p:nvCxnSpPr>
            <p:spPr>
              <a:xfrm rot="10800000" flipV="1">
                <a:off x="1666732" y="4568784"/>
                <a:ext cx="1759514" cy="1467806"/>
              </a:xfrm>
              <a:prstGeom prst="curvedConnector3">
                <a:avLst>
                  <a:gd name="adj1" fmla="val -35154"/>
                </a:avLst>
              </a:prstGeom>
              <a:ln>
                <a:solidFill>
                  <a:schemeClr val="accent2"/>
                </a:solidFill>
                <a:tailEnd type="triangle" w="lg" len="lg"/>
              </a:ln>
            </p:spPr>
            <p:style>
              <a:lnRef idx="2">
                <a:schemeClr val="accent1"/>
              </a:lnRef>
              <a:fillRef idx="0">
                <a:schemeClr val="accent1"/>
              </a:fillRef>
              <a:effectRef idx="1">
                <a:schemeClr val="accent1"/>
              </a:effectRef>
              <a:fontRef idx="minor">
                <a:schemeClr val="tx1"/>
              </a:fontRef>
            </p:style>
          </p:cxnSp>
          <p:pic>
            <p:nvPicPr>
              <p:cNvPr id="50" name="Picture 49">
                <a:extLst>
                  <a:ext uri="{FF2B5EF4-FFF2-40B4-BE49-F238E27FC236}">
                    <a16:creationId xmlns:a16="http://schemas.microsoft.com/office/drawing/2014/main" id="{6611B40E-BA9B-01B0-0F92-9B6719E54BFF}"/>
                  </a:ext>
                </a:extLst>
              </p:cNvPr>
              <p:cNvPicPr>
                <a:picLocks noChangeAspect="1"/>
              </p:cNvPicPr>
              <p:nvPr/>
            </p:nvPicPr>
            <p:blipFill>
              <a:blip r:embed="rId6"/>
              <a:stretch>
                <a:fillRect/>
              </a:stretch>
            </p:blipFill>
            <p:spPr>
              <a:xfrm>
                <a:off x="2247748" y="6104475"/>
                <a:ext cx="2597283" cy="215911"/>
              </a:xfrm>
              <a:prstGeom prst="rect">
                <a:avLst/>
              </a:prstGeom>
            </p:spPr>
          </p:pic>
        </p:grpSp>
      </p:grpSp>
      <p:grpSp>
        <p:nvGrpSpPr>
          <p:cNvPr id="58" name="Group 57">
            <a:extLst>
              <a:ext uri="{FF2B5EF4-FFF2-40B4-BE49-F238E27FC236}">
                <a16:creationId xmlns:a16="http://schemas.microsoft.com/office/drawing/2014/main" id="{CF3E450B-9D07-1D5C-85E5-243E5385A08D}"/>
              </a:ext>
            </a:extLst>
          </p:cNvPr>
          <p:cNvGrpSpPr/>
          <p:nvPr/>
        </p:nvGrpSpPr>
        <p:grpSpPr>
          <a:xfrm>
            <a:off x="8879595" y="1986599"/>
            <a:ext cx="2890093" cy="3906794"/>
            <a:chOff x="8879595" y="1986599"/>
            <a:chExt cx="2890093" cy="3906794"/>
          </a:xfrm>
        </p:grpSpPr>
        <p:grpSp>
          <p:nvGrpSpPr>
            <p:cNvPr id="35" name="Group 34">
              <a:extLst>
                <a:ext uri="{FF2B5EF4-FFF2-40B4-BE49-F238E27FC236}">
                  <a16:creationId xmlns:a16="http://schemas.microsoft.com/office/drawing/2014/main" id="{58750C73-A8B3-F5A3-622C-1CCE7DC7EAFA}"/>
                </a:ext>
              </a:extLst>
            </p:cNvPr>
            <p:cNvGrpSpPr/>
            <p:nvPr/>
          </p:nvGrpSpPr>
          <p:grpSpPr>
            <a:xfrm>
              <a:off x="8879595" y="1986599"/>
              <a:ext cx="2890093" cy="2915907"/>
              <a:chOff x="8879595" y="1986599"/>
              <a:chExt cx="2890093" cy="2915907"/>
            </a:xfrm>
          </p:grpSpPr>
          <p:cxnSp>
            <p:nvCxnSpPr>
              <p:cNvPr id="22" name="Straight Connector 21">
                <a:extLst>
                  <a:ext uri="{FF2B5EF4-FFF2-40B4-BE49-F238E27FC236}">
                    <a16:creationId xmlns:a16="http://schemas.microsoft.com/office/drawing/2014/main" id="{498781E0-EC9D-7129-1D6E-6D06ACE531DB}"/>
                  </a:ext>
                </a:extLst>
              </p:cNvPr>
              <p:cNvCxnSpPr>
                <a:cxnSpLocks/>
              </p:cNvCxnSpPr>
              <p:nvPr/>
            </p:nvCxnSpPr>
            <p:spPr>
              <a:xfrm>
                <a:off x="8879595" y="4019289"/>
                <a:ext cx="2768906" cy="0"/>
              </a:xfrm>
              <a:prstGeom prst="line">
                <a:avLst/>
              </a:prstGeom>
              <a:ln w="44450">
                <a:solidFill>
                  <a:srgbClr val="FF0000"/>
                </a:solidFill>
                <a:prstDash val="lgDash"/>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0A87F3B9-98E3-D623-DA7F-D9AA6C3311C9}"/>
                  </a:ext>
                </a:extLst>
              </p:cNvPr>
              <p:cNvSpPr/>
              <p:nvPr/>
            </p:nvSpPr>
            <p:spPr>
              <a:xfrm>
                <a:off x="9265186" y="2448265"/>
                <a:ext cx="275421" cy="1041090"/>
              </a:xfrm>
              <a:prstGeom prst="rect">
                <a:avLst/>
              </a:prstGeom>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139EED1-A4E0-EFA0-7364-186348BD3337}"/>
                  </a:ext>
                </a:extLst>
              </p:cNvPr>
              <p:cNvSpPr txBox="1"/>
              <p:nvPr/>
            </p:nvSpPr>
            <p:spPr>
              <a:xfrm>
                <a:off x="8993436" y="1986599"/>
                <a:ext cx="1055473" cy="307777"/>
              </a:xfrm>
              <a:prstGeom prst="rect">
                <a:avLst/>
              </a:prstGeom>
              <a:noFill/>
            </p:spPr>
            <p:txBody>
              <a:bodyPr wrap="square" rtlCol="0">
                <a:spAutoFit/>
              </a:bodyPr>
              <a:lstStyle/>
              <a:p>
                <a:r>
                  <a:rPr lang="en-US" sz="1400" dirty="0"/>
                  <a:t>Learner 1</a:t>
                </a:r>
              </a:p>
            </p:txBody>
          </p:sp>
          <p:sp>
            <p:nvSpPr>
              <p:cNvPr id="26" name="TextBox 25">
                <a:extLst>
                  <a:ext uri="{FF2B5EF4-FFF2-40B4-BE49-F238E27FC236}">
                    <a16:creationId xmlns:a16="http://schemas.microsoft.com/office/drawing/2014/main" id="{165D5DB0-43A4-564C-7D45-602954DA3506}"/>
                  </a:ext>
                </a:extLst>
              </p:cNvPr>
              <p:cNvSpPr txBox="1"/>
              <p:nvPr/>
            </p:nvSpPr>
            <p:spPr>
              <a:xfrm>
                <a:off x="10592718" y="1986599"/>
                <a:ext cx="1055473" cy="307777"/>
              </a:xfrm>
              <a:prstGeom prst="rect">
                <a:avLst/>
              </a:prstGeom>
              <a:noFill/>
            </p:spPr>
            <p:txBody>
              <a:bodyPr wrap="square" rtlCol="0">
                <a:spAutoFit/>
              </a:bodyPr>
              <a:lstStyle/>
              <a:p>
                <a:r>
                  <a:rPr lang="en-US" sz="1400" dirty="0"/>
                  <a:t>Learner 2</a:t>
                </a:r>
              </a:p>
            </p:txBody>
          </p:sp>
          <p:sp>
            <p:nvSpPr>
              <p:cNvPr id="27" name="Rectangle 26">
                <a:extLst>
                  <a:ext uri="{FF2B5EF4-FFF2-40B4-BE49-F238E27FC236}">
                    <a16:creationId xmlns:a16="http://schemas.microsoft.com/office/drawing/2014/main" id="{EE6D340E-E7A3-247C-858D-37E3AF5A301A}"/>
                  </a:ext>
                </a:extLst>
              </p:cNvPr>
              <p:cNvSpPr/>
              <p:nvPr/>
            </p:nvSpPr>
            <p:spPr>
              <a:xfrm>
                <a:off x="10982743" y="2448265"/>
                <a:ext cx="275421" cy="558848"/>
              </a:xfrm>
              <a:prstGeom prst="rect">
                <a:avLst/>
              </a:prstGeom>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0F1E006-FF9C-4651-7A4D-0ABF7DE2F2AC}"/>
                  </a:ext>
                </a:extLst>
              </p:cNvPr>
              <p:cNvSpPr/>
              <p:nvPr/>
            </p:nvSpPr>
            <p:spPr>
              <a:xfrm>
                <a:off x="9265185" y="3522535"/>
                <a:ext cx="275421" cy="453375"/>
              </a:xfrm>
              <a:prstGeom prst="rect">
                <a:avLst/>
              </a:prstGeom>
              <a:solidFill>
                <a:srgbClr val="A02B93"/>
              </a:solidFill>
              <a:ln>
                <a:solidFill>
                  <a:srgbClr val="A02B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732984F-3F4B-780E-A50D-124F333EFC84}"/>
                  </a:ext>
                </a:extLst>
              </p:cNvPr>
              <p:cNvSpPr/>
              <p:nvPr/>
            </p:nvSpPr>
            <p:spPr>
              <a:xfrm>
                <a:off x="10982743" y="3038382"/>
                <a:ext cx="275421" cy="937526"/>
              </a:xfrm>
              <a:prstGeom prst="rect">
                <a:avLst/>
              </a:prstGeom>
              <a:solidFill>
                <a:srgbClr val="A02B93"/>
              </a:solidFill>
              <a:ln>
                <a:solidFill>
                  <a:srgbClr val="A02B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1EE42AF-4718-C77C-7AD0-2F2CD3EF4179}"/>
                  </a:ext>
                </a:extLst>
              </p:cNvPr>
              <p:cNvSpPr/>
              <p:nvPr/>
            </p:nvSpPr>
            <p:spPr>
              <a:xfrm>
                <a:off x="9265185" y="4062669"/>
                <a:ext cx="275421" cy="839837"/>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08BA5EF-6B74-6739-BFD5-58A3484BFA4E}"/>
                  </a:ext>
                </a:extLst>
              </p:cNvPr>
              <p:cNvSpPr/>
              <p:nvPr/>
            </p:nvSpPr>
            <p:spPr>
              <a:xfrm>
                <a:off x="10982743" y="4062669"/>
                <a:ext cx="275421" cy="839837"/>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ight Brace 32">
                <a:extLst>
                  <a:ext uri="{FF2B5EF4-FFF2-40B4-BE49-F238E27FC236}">
                    <a16:creationId xmlns:a16="http://schemas.microsoft.com/office/drawing/2014/main" id="{7E74E62C-B0A3-970C-95DC-C5C89CD2285F}"/>
                  </a:ext>
                </a:extLst>
              </p:cNvPr>
              <p:cNvSpPr/>
              <p:nvPr/>
            </p:nvSpPr>
            <p:spPr>
              <a:xfrm>
                <a:off x="9661793" y="3585992"/>
                <a:ext cx="387114" cy="1316512"/>
              </a:xfrm>
              <a:prstGeom prst="rightBrace">
                <a:avLst/>
              </a:prstGeom>
              <a:ln w="41275">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4" name="Right Brace 33">
                <a:extLst>
                  <a:ext uri="{FF2B5EF4-FFF2-40B4-BE49-F238E27FC236}">
                    <a16:creationId xmlns:a16="http://schemas.microsoft.com/office/drawing/2014/main" id="{6B0D70D4-234C-E9CE-E6F5-9054B88F59B8}"/>
                  </a:ext>
                </a:extLst>
              </p:cNvPr>
              <p:cNvSpPr/>
              <p:nvPr/>
            </p:nvSpPr>
            <p:spPr>
              <a:xfrm>
                <a:off x="11382574" y="3038382"/>
                <a:ext cx="387114" cy="1864122"/>
              </a:xfrm>
              <a:prstGeom prst="rightBrace">
                <a:avLst/>
              </a:prstGeom>
              <a:ln w="41275">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51" name="TextBox 50">
              <a:extLst>
                <a:ext uri="{FF2B5EF4-FFF2-40B4-BE49-F238E27FC236}">
                  <a16:creationId xmlns:a16="http://schemas.microsoft.com/office/drawing/2014/main" id="{55A4C356-8C31-469E-BDB0-932BA550D5D0}"/>
                </a:ext>
              </a:extLst>
            </p:cNvPr>
            <p:cNvSpPr txBox="1"/>
            <p:nvPr/>
          </p:nvSpPr>
          <p:spPr>
            <a:xfrm>
              <a:off x="9220044" y="5370173"/>
              <a:ext cx="2346260" cy="523220"/>
            </a:xfrm>
            <a:prstGeom prst="rect">
              <a:avLst/>
            </a:prstGeom>
            <a:noFill/>
          </p:spPr>
          <p:txBody>
            <a:bodyPr wrap="square" rtlCol="0">
              <a:spAutoFit/>
            </a:bodyPr>
            <a:lstStyle/>
            <a:p>
              <a:pPr algn="ctr"/>
              <a:r>
                <a:rPr lang="en-US" sz="1400" dirty="0"/>
                <a:t>(“Aleatoric limit” even with oracle-like knowledge)</a:t>
              </a:r>
            </a:p>
          </p:txBody>
        </p:sp>
        <p:cxnSp>
          <p:nvCxnSpPr>
            <p:cNvPr id="53" name="Straight Arrow Connector 52">
              <a:extLst>
                <a:ext uri="{FF2B5EF4-FFF2-40B4-BE49-F238E27FC236}">
                  <a16:creationId xmlns:a16="http://schemas.microsoft.com/office/drawing/2014/main" id="{CA8C4691-EB7C-2407-7FCF-E2848404302B}"/>
                </a:ext>
              </a:extLst>
            </p:cNvPr>
            <p:cNvCxnSpPr>
              <a:stCxn id="51" idx="0"/>
            </p:cNvCxnSpPr>
            <p:nvPr/>
          </p:nvCxnSpPr>
          <p:spPr>
            <a:xfrm flipH="1" flipV="1">
              <a:off x="10366872" y="4062669"/>
              <a:ext cx="26302" cy="130750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60" name="Straight Connector 59">
            <a:extLst>
              <a:ext uri="{FF2B5EF4-FFF2-40B4-BE49-F238E27FC236}">
                <a16:creationId xmlns:a16="http://schemas.microsoft.com/office/drawing/2014/main" id="{0DADDEE4-C315-B2BC-BB9E-D59A9D1EF6B0}"/>
              </a:ext>
            </a:extLst>
          </p:cNvPr>
          <p:cNvCxnSpPr/>
          <p:nvPr/>
        </p:nvCxnSpPr>
        <p:spPr>
          <a:xfrm>
            <a:off x="5170583" y="1156771"/>
            <a:ext cx="1806766" cy="0"/>
          </a:xfrm>
          <a:prstGeom prst="line">
            <a:avLst/>
          </a:prstGeom>
          <a:ln w="73025"/>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96E740FD-3059-9D84-0DEB-A8639822B3FE}"/>
              </a:ext>
            </a:extLst>
          </p:cNvPr>
          <p:cNvCxnSpPr/>
          <p:nvPr/>
        </p:nvCxnSpPr>
        <p:spPr>
          <a:xfrm>
            <a:off x="5170583" y="1318297"/>
            <a:ext cx="1806766" cy="0"/>
          </a:xfrm>
          <a:prstGeom prst="line">
            <a:avLst/>
          </a:prstGeom>
          <a:ln w="73025">
            <a:solidFill>
              <a:srgbClr val="A02B93"/>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036503D7-8459-50A7-00B1-36DA2A98A637}"/>
              </a:ext>
            </a:extLst>
          </p:cNvPr>
          <p:cNvCxnSpPr>
            <a:cxnSpLocks/>
          </p:cNvCxnSpPr>
          <p:nvPr/>
        </p:nvCxnSpPr>
        <p:spPr>
          <a:xfrm>
            <a:off x="7733840" y="1156771"/>
            <a:ext cx="2148290" cy="0"/>
          </a:xfrm>
          <a:prstGeom prst="line">
            <a:avLst/>
          </a:prstGeom>
          <a:ln w="73025">
            <a:solidFill>
              <a:srgbClr val="FF0000"/>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F8AE6CB1-AF5C-5386-FD3D-F493662D9E7B}"/>
              </a:ext>
            </a:extLst>
          </p:cNvPr>
          <p:cNvSpPr txBox="1"/>
          <p:nvPr/>
        </p:nvSpPr>
        <p:spPr>
          <a:xfrm>
            <a:off x="2908453" y="3474401"/>
            <a:ext cx="2262130" cy="369332"/>
          </a:xfrm>
          <a:prstGeom prst="rect">
            <a:avLst/>
          </a:prstGeom>
          <a:noFill/>
        </p:spPr>
        <p:txBody>
          <a:bodyPr wrap="square" rtlCol="0">
            <a:spAutoFit/>
          </a:bodyPr>
          <a:lstStyle/>
          <a:p>
            <a:r>
              <a:rPr lang="en-US" b="1" dirty="0">
                <a:solidFill>
                  <a:srgbClr val="00B050"/>
                </a:solidFill>
              </a:rPr>
              <a:t>(Log loss)</a:t>
            </a:r>
          </a:p>
        </p:txBody>
      </p:sp>
    </p:spTree>
    <p:extLst>
      <p:ext uri="{BB962C8B-B14F-4D97-AF65-F5344CB8AC3E}">
        <p14:creationId xmlns:p14="http://schemas.microsoft.com/office/powerpoint/2010/main" val="1813281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C1FA4-09BE-A7AF-5243-90B66B4BF5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CE40A9-1994-8C31-9273-5CDFE0E1D709}"/>
              </a:ext>
            </a:extLst>
          </p:cNvPr>
          <p:cNvSpPr>
            <a:spLocks noGrp="1"/>
          </p:cNvSpPr>
          <p:nvPr>
            <p:ph idx="1"/>
          </p:nvPr>
        </p:nvSpPr>
        <p:spPr>
          <a:xfrm>
            <a:off x="728031" y="918665"/>
            <a:ext cx="10515600" cy="4351338"/>
          </a:xfrm>
        </p:spPr>
        <p:txBody>
          <a:bodyPr>
            <a:normAutofit fontScale="92500"/>
          </a:bodyPr>
          <a:lstStyle/>
          <a:p>
            <a:pPr marL="0" indent="0">
              <a:buNone/>
            </a:pPr>
            <a:r>
              <a:rPr lang="en-US" sz="3200" b="1" dirty="0">
                <a:solidFill>
                  <a:srgbClr val="00B050"/>
                </a:solidFill>
              </a:rPr>
              <a:t>Log loss </a:t>
            </a:r>
            <a:r>
              <a:rPr lang="en-US" sz="3200" dirty="0"/>
              <a:t>is a quantitative score that asks, “how surprised should you be by what actually happened, given your beliefs?”</a:t>
            </a:r>
          </a:p>
          <a:p>
            <a:pPr marL="0" indent="0">
              <a:buNone/>
            </a:pPr>
            <a:endParaRPr lang="en-US" sz="3200" dirty="0"/>
          </a:p>
          <a:p>
            <a:pPr marL="0" indent="0">
              <a:buNone/>
            </a:pPr>
            <a:r>
              <a:rPr lang="en-US" sz="3200" i="1" dirty="0"/>
              <a:t>Good</a:t>
            </a:r>
            <a:r>
              <a:rPr lang="en-US" sz="3200" dirty="0"/>
              <a:t> diagnosticians actively reduce avoidable surprise (low log loss). </a:t>
            </a:r>
          </a:p>
          <a:p>
            <a:pPr marL="0" indent="0">
              <a:buNone/>
            </a:pPr>
            <a:endParaRPr lang="en-US" sz="3200" dirty="0"/>
          </a:p>
          <a:p>
            <a:pPr marL="0" indent="0">
              <a:buNone/>
            </a:pPr>
            <a:r>
              <a:rPr lang="en-US" sz="3200" i="1" dirty="0"/>
              <a:t>Great</a:t>
            </a:r>
            <a:r>
              <a:rPr lang="en-US" sz="3200" dirty="0"/>
              <a:t> diagnosticians recognize when surprise is unavoidable and create management conditions that can weather the incoming storm of unpredictability (high log loss).</a:t>
            </a:r>
          </a:p>
        </p:txBody>
      </p:sp>
    </p:spTree>
    <p:extLst>
      <p:ext uri="{BB962C8B-B14F-4D97-AF65-F5344CB8AC3E}">
        <p14:creationId xmlns:p14="http://schemas.microsoft.com/office/powerpoint/2010/main" val="3966086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A92C-378C-109B-632A-AFBDFA513DD2}"/>
              </a:ext>
            </a:extLst>
          </p:cNvPr>
          <p:cNvSpPr>
            <a:spLocks noGrp="1"/>
          </p:cNvSpPr>
          <p:nvPr>
            <p:ph type="title"/>
          </p:nvPr>
        </p:nvSpPr>
        <p:spPr>
          <a:xfrm>
            <a:off x="660225" y="393166"/>
            <a:ext cx="11476690" cy="1325563"/>
          </a:xfrm>
        </p:spPr>
        <p:txBody>
          <a:bodyPr>
            <a:noAutofit/>
          </a:bodyPr>
          <a:lstStyle/>
          <a:p>
            <a:r>
              <a:rPr lang="en-US" sz="2000" b="1" dirty="0"/>
              <a:t>Translating subjective surprisal states into mathematical probabilities:</a:t>
            </a:r>
            <a:br>
              <a:rPr lang="en-US" sz="2000" dirty="0"/>
            </a:br>
            <a:r>
              <a:rPr lang="en-US" sz="2000" dirty="0"/>
              <a:t>Solution: Each case, a learner answers this question after committing to a prioritized </a:t>
            </a:r>
            <a:r>
              <a:rPr lang="en-US" sz="2000" dirty="0" err="1"/>
              <a:t>ddx</a:t>
            </a:r>
            <a:r>
              <a:rPr lang="en-US" sz="2000" dirty="0"/>
              <a:t> (top 3 diagnoses)</a:t>
            </a:r>
            <a:br>
              <a:rPr lang="en-US" sz="2000" dirty="0"/>
            </a:br>
            <a:br>
              <a:rPr lang="en-US" sz="2000" dirty="0"/>
            </a:br>
            <a:r>
              <a:rPr lang="en-US" sz="2000" dirty="0"/>
              <a:t>Q) “How </a:t>
            </a:r>
            <a:r>
              <a:rPr lang="en-US" sz="2000" dirty="0">
                <a:solidFill>
                  <a:srgbClr val="FF0000"/>
                </a:solidFill>
              </a:rPr>
              <a:t>surprised</a:t>
            </a:r>
            <a:r>
              <a:rPr lang="en-US" sz="2000" dirty="0"/>
              <a:t> would you be if the final diagnosis ended up being something </a:t>
            </a:r>
            <a:r>
              <a:rPr lang="en-US" sz="2000" i="1" dirty="0"/>
              <a:t>other</a:t>
            </a:r>
            <a:r>
              <a:rPr lang="en-US" sz="2000" dirty="0"/>
              <a:t> than what you’ve listed on the differential diagnosis (top 3)?”</a:t>
            </a:r>
            <a:br>
              <a:rPr lang="en-US" sz="2000" dirty="0"/>
            </a:br>
            <a:endParaRPr lang="en-US" sz="2000" dirty="0"/>
          </a:p>
        </p:txBody>
      </p:sp>
      <p:graphicFrame>
        <p:nvGraphicFramePr>
          <p:cNvPr id="4" name="Content Placeholder 3">
            <a:extLst>
              <a:ext uri="{FF2B5EF4-FFF2-40B4-BE49-F238E27FC236}">
                <a16:creationId xmlns:a16="http://schemas.microsoft.com/office/drawing/2014/main" id="{C1B05803-3D0D-2411-AD4E-C599F4E56993}"/>
              </a:ext>
            </a:extLst>
          </p:cNvPr>
          <p:cNvGraphicFramePr>
            <a:graphicFrameLocks noGrp="1"/>
          </p:cNvGraphicFramePr>
          <p:nvPr>
            <p:ph idx="1"/>
            <p:extLst>
              <p:ext uri="{D42A27DB-BD31-4B8C-83A1-F6EECF244321}">
                <p14:modId xmlns:p14="http://schemas.microsoft.com/office/powerpoint/2010/main" val="3630108198"/>
              </p:ext>
            </p:extLst>
          </p:nvPr>
        </p:nvGraphicFramePr>
        <p:xfrm>
          <a:off x="55084" y="1941138"/>
          <a:ext cx="12081831" cy="3838575"/>
        </p:xfrm>
        <a:graphic>
          <a:graphicData uri="http://schemas.openxmlformats.org/drawingml/2006/table">
            <a:tbl>
              <a:tblPr/>
              <a:tblGrid>
                <a:gridCol w="623004">
                  <a:extLst>
                    <a:ext uri="{9D8B030D-6E8A-4147-A177-3AD203B41FA5}">
                      <a16:colId xmlns:a16="http://schemas.microsoft.com/office/drawing/2014/main" val="2297051202"/>
                    </a:ext>
                  </a:extLst>
                </a:gridCol>
                <a:gridCol w="1646512">
                  <a:extLst>
                    <a:ext uri="{9D8B030D-6E8A-4147-A177-3AD203B41FA5}">
                      <a16:colId xmlns:a16="http://schemas.microsoft.com/office/drawing/2014/main" val="99109990"/>
                    </a:ext>
                  </a:extLst>
                </a:gridCol>
                <a:gridCol w="6466861">
                  <a:extLst>
                    <a:ext uri="{9D8B030D-6E8A-4147-A177-3AD203B41FA5}">
                      <a16:colId xmlns:a16="http://schemas.microsoft.com/office/drawing/2014/main" val="1303478746"/>
                    </a:ext>
                  </a:extLst>
                </a:gridCol>
                <a:gridCol w="3345454">
                  <a:extLst>
                    <a:ext uri="{9D8B030D-6E8A-4147-A177-3AD203B41FA5}">
                      <a16:colId xmlns:a16="http://schemas.microsoft.com/office/drawing/2014/main" val="2021681941"/>
                    </a:ext>
                  </a:extLst>
                </a:gridCol>
              </a:tblGrid>
              <a:tr h="1221365">
                <a:tc>
                  <a:txBody>
                    <a:bodyPr/>
                    <a:lstStyle/>
                    <a:p>
                      <a:pPr>
                        <a:buNone/>
                      </a:pPr>
                      <a:r>
                        <a:rPr lang="en-US" sz="1200" b="1" dirty="0">
                          <a:solidFill>
                            <a:srgbClr val="000000"/>
                          </a:solidFill>
                          <a:effectLst/>
                          <a:latin typeface="Aptos" panose="020B0004020202020204" pitchFamily="34" charset="0"/>
                        </a:rPr>
                        <a:t>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1" dirty="0">
                          <a:solidFill>
                            <a:srgbClr val="000000"/>
                          </a:solidFill>
                          <a:effectLst/>
                          <a:latin typeface="Aptos" panose="020B0004020202020204" pitchFamily="34" charset="0"/>
                        </a:rPr>
                        <a:t>Label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200" b="1" dirty="0">
                        <a:solidFill>
                          <a:srgbClr val="000000"/>
                        </a:solidFill>
                        <a:effectLst/>
                        <a:latin typeface="Aptos" panose="020B0004020202020204" pitchFamily="34" charset="0"/>
                      </a:endParaRPr>
                    </a:p>
                    <a:p>
                      <a:pPr>
                        <a:buNone/>
                      </a:pPr>
                      <a:r>
                        <a:rPr lang="en-US" sz="1200" b="1" dirty="0">
                          <a:solidFill>
                            <a:srgbClr val="000000"/>
                          </a:solidFill>
                          <a:effectLst/>
                          <a:latin typeface="Aptos" panose="020B0004020202020204" pitchFamily="34" charset="0"/>
                        </a:rPr>
                        <a:t>Response Anchor </a:t>
                      </a:r>
                    </a:p>
                    <a:p>
                      <a:pPr>
                        <a:buNone/>
                      </a:pPr>
                      <a:r>
                        <a:rPr lang="en-US" sz="1200" b="0" i="1" dirty="0">
                          <a:solidFill>
                            <a:schemeClr val="bg2">
                              <a:lumMod val="50000"/>
                            </a:schemeClr>
                          </a:solidFill>
                          <a:effectLst/>
                          <a:latin typeface="Aptos" panose="020B0004020202020204" pitchFamily="34" charset="0"/>
                        </a:rPr>
                        <a:t>(adapted from validated surprise intensity descriptors)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US" sz="1200" b="1" i="0" dirty="0">
                        <a:solidFill>
                          <a:schemeClr val="tx1"/>
                        </a:solidFill>
                        <a:effectLst/>
                        <a:latin typeface="Aptos" panose="020B0004020202020204" pitchFamily="34" charset="0"/>
                      </a:endParaRPr>
                    </a:p>
                    <a:p>
                      <a:pPr>
                        <a:buNone/>
                      </a:pPr>
                      <a:r>
                        <a:rPr lang="en-US" sz="1200" b="1" i="0" dirty="0">
                          <a:solidFill>
                            <a:schemeClr val="tx1"/>
                          </a:solidFill>
                          <a:effectLst/>
                          <a:latin typeface="Aptos" panose="020B0004020202020204" pitchFamily="34" charset="0"/>
                        </a:rPr>
                        <a:t>Implied P</a:t>
                      </a:r>
                    </a:p>
                    <a:p>
                      <a:pPr>
                        <a:buNone/>
                      </a:pPr>
                      <a:r>
                        <a:rPr lang="en-US" sz="1200" b="0" i="1" dirty="0">
                          <a:solidFill>
                            <a:schemeClr val="bg2">
                              <a:lumMod val="50000"/>
                            </a:schemeClr>
                          </a:solidFill>
                          <a:effectLst/>
                          <a:latin typeface="Aptos" panose="020B0004020202020204" pitchFamily="34" charset="0"/>
                        </a:rPr>
                        <a:t>Translating subjective Likert anchor into a quantitative metric for calculations</a:t>
                      </a:r>
                    </a:p>
                    <a:p>
                      <a:pPr>
                        <a:buNone/>
                      </a:pPr>
                      <a:r>
                        <a:rPr lang="en-US" sz="1200" b="0" i="1" dirty="0">
                          <a:solidFill>
                            <a:schemeClr val="bg2">
                              <a:lumMod val="50000"/>
                            </a:schemeClr>
                          </a:solidFill>
                          <a:effectLst/>
                          <a:latin typeface="Aptos" panose="020B0004020202020204" pitchFamily="34" charset="0"/>
                        </a:rPr>
                        <a:t>(</a:t>
                      </a:r>
                      <a:r>
                        <a:rPr lang="en-US" sz="1200" b="1" i="1" dirty="0">
                          <a:solidFill>
                            <a:schemeClr val="accent3">
                              <a:lumMod val="60000"/>
                              <a:lumOff val="40000"/>
                            </a:schemeClr>
                          </a:solidFill>
                          <a:effectLst/>
                          <a:latin typeface="Aptos" panose="020B0004020202020204" pitchFamily="34" charset="0"/>
                        </a:rPr>
                        <a:t>Ground truth correct</a:t>
                      </a:r>
                      <a:r>
                        <a:rPr lang="en-US" sz="1200" b="0" i="1" dirty="0">
                          <a:solidFill>
                            <a:schemeClr val="bg2">
                              <a:lumMod val="50000"/>
                            </a:schemeClr>
                          </a:solidFill>
                          <a:effectLst/>
                          <a:latin typeface="Aptos" panose="020B0004020202020204" pitchFamily="34" charset="0"/>
                        </a:rPr>
                        <a:t>, </a:t>
                      </a:r>
                      <a:r>
                        <a:rPr lang="en-US" sz="1200" b="1" i="1" dirty="0">
                          <a:solidFill>
                            <a:srgbClr val="FF0000"/>
                          </a:solidFill>
                          <a:effectLst/>
                          <a:latin typeface="Aptos" panose="020B0004020202020204" pitchFamily="34" charset="0"/>
                        </a:rPr>
                        <a:t>Ground truth incorrect</a:t>
                      </a:r>
                      <a:r>
                        <a:rPr lang="en-US" sz="1200" b="0" i="1" dirty="0">
                          <a:solidFill>
                            <a:schemeClr val="bg2">
                              <a:lumMod val="50000"/>
                            </a:schemeClr>
                          </a:solidFill>
                          <a:effectLst/>
                          <a:latin typeface="Aptos" panose="020B00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6709531"/>
                  </a:ext>
                </a:extLst>
              </a:tr>
              <a:tr h="523442">
                <a:tc>
                  <a:txBody>
                    <a:bodyPr/>
                    <a:lstStyle/>
                    <a:p>
                      <a:pPr algn="ctr">
                        <a:buNone/>
                      </a:pPr>
                      <a:r>
                        <a:rPr lang="en-US" sz="1200" b="1" dirty="0">
                          <a:solidFill>
                            <a:srgbClr val="000000"/>
                          </a:solidFill>
                          <a:effectLst/>
                          <a:latin typeface="Aptos" panose="020B0004020202020204" pitchFamily="34" charset="0"/>
                        </a:rPr>
                        <a:t>1</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solidFill>
                            <a:srgbClr val="000000"/>
                          </a:solidFill>
                          <a:effectLst/>
                          <a:latin typeface="Aptos" panose="020B0004020202020204" pitchFamily="34" charset="0"/>
                        </a:rPr>
                        <a:t>Not at all surprised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i="1" dirty="0">
                          <a:solidFill>
                            <a:srgbClr val="000000"/>
                          </a:solidFill>
                          <a:effectLst/>
                          <a:latin typeface="Aptos" panose="020B0004020202020204" pitchFamily="34" charset="0"/>
                        </a:rPr>
                        <a:t>I have no expectation of being right ; I would not be surprised at all if there's a different diagnosis.</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dirty="0">
                          <a:solidFill>
                            <a:srgbClr val="000000"/>
                          </a:solidFill>
                          <a:effectLst/>
                          <a:latin typeface="Aptos" panose="020B0004020202020204" pitchFamily="34" charset="0"/>
                        </a:rPr>
                        <a:t>(</a:t>
                      </a:r>
                      <a:r>
                        <a:rPr lang="en-US" sz="1200" b="1" dirty="0">
                          <a:solidFill>
                            <a:srgbClr val="00B050"/>
                          </a:solidFill>
                          <a:effectLst/>
                          <a:latin typeface="Aptos" panose="020B0004020202020204" pitchFamily="34" charset="0"/>
                        </a:rPr>
                        <a:t>0.5</a:t>
                      </a:r>
                      <a:r>
                        <a:rPr lang="en-US" sz="1200" dirty="0">
                          <a:solidFill>
                            <a:srgbClr val="000000"/>
                          </a:solidFill>
                          <a:effectLst/>
                          <a:latin typeface="Aptos" panose="020B0004020202020204" pitchFamily="34" charset="0"/>
                        </a:rPr>
                        <a:t>, </a:t>
                      </a:r>
                      <a:r>
                        <a:rPr lang="en-US" sz="1200" b="1" dirty="0">
                          <a:solidFill>
                            <a:srgbClr val="FF0000"/>
                          </a:solidFill>
                          <a:effectLst/>
                          <a:latin typeface="Aptos" panose="020B0004020202020204" pitchFamily="34" charset="0"/>
                        </a:rPr>
                        <a:t>0.5</a:t>
                      </a:r>
                      <a:r>
                        <a:rPr lang="en-US" sz="1200" dirty="0">
                          <a:solidFill>
                            <a:srgbClr val="000000"/>
                          </a:solidFill>
                          <a:effectLst/>
                          <a:latin typeface="Aptos" panose="020B00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3667913"/>
                  </a:ext>
                </a:extLst>
              </a:tr>
              <a:tr h="523442">
                <a:tc>
                  <a:txBody>
                    <a:bodyPr/>
                    <a:lstStyle/>
                    <a:p>
                      <a:pPr algn="ctr">
                        <a:buNone/>
                      </a:pPr>
                      <a:r>
                        <a:rPr lang="en-US" sz="1200" b="1" dirty="0">
                          <a:solidFill>
                            <a:srgbClr val="000000"/>
                          </a:solidFill>
                          <a:effectLst/>
                          <a:latin typeface="Aptos" panose="020B0004020202020204" pitchFamily="34" charset="0"/>
                        </a:rPr>
                        <a:t>2</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solidFill>
                            <a:srgbClr val="000000"/>
                          </a:solidFill>
                          <a:effectLst/>
                          <a:latin typeface="Aptos" panose="020B0004020202020204" pitchFamily="34" charset="0"/>
                        </a:rPr>
                        <a:t>Unsurprised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i="1" dirty="0">
                          <a:solidFill>
                            <a:srgbClr val="000000"/>
                          </a:solidFill>
                          <a:effectLst/>
                          <a:latin typeface="Aptos" panose="020B0004020202020204" pitchFamily="34" charset="0"/>
                        </a:rPr>
                        <a:t>I think my list is plausible, but I would not be surprised if another diagnosis emerged.</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dirty="0">
                          <a:solidFill>
                            <a:srgbClr val="000000"/>
                          </a:solidFill>
                          <a:effectLst/>
                          <a:latin typeface="Aptos" panose="020B0004020202020204" pitchFamily="34" charset="0"/>
                        </a:rPr>
                        <a:t>(</a:t>
                      </a:r>
                      <a:r>
                        <a:rPr lang="en-US" sz="1200" b="1" dirty="0">
                          <a:solidFill>
                            <a:srgbClr val="00B050"/>
                          </a:solidFill>
                          <a:effectLst/>
                          <a:latin typeface="Aptos" panose="020B0004020202020204" pitchFamily="34" charset="0"/>
                        </a:rPr>
                        <a:t>0.65</a:t>
                      </a:r>
                      <a:r>
                        <a:rPr lang="en-US" sz="1200" dirty="0">
                          <a:solidFill>
                            <a:srgbClr val="000000"/>
                          </a:solidFill>
                          <a:effectLst/>
                          <a:latin typeface="Aptos" panose="020B0004020202020204" pitchFamily="34" charset="0"/>
                        </a:rPr>
                        <a:t>, </a:t>
                      </a:r>
                      <a:r>
                        <a:rPr lang="en-US" sz="1200" b="1" dirty="0">
                          <a:solidFill>
                            <a:srgbClr val="FF0000"/>
                          </a:solidFill>
                          <a:effectLst/>
                          <a:latin typeface="Aptos" panose="020B0004020202020204" pitchFamily="34" charset="0"/>
                        </a:rPr>
                        <a:t>0.35</a:t>
                      </a:r>
                      <a:r>
                        <a:rPr lang="en-US" sz="1200" dirty="0">
                          <a:solidFill>
                            <a:srgbClr val="000000"/>
                          </a:solidFill>
                          <a:effectLst/>
                          <a:latin typeface="Aptos" panose="020B00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8661473"/>
                  </a:ext>
                </a:extLst>
              </a:tr>
              <a:tr h="523442">
                <a:tc>
                  <a:txBody>
                    <a:bodyPr/>
                    <a:lstStyle/>
                    <a:p>
                      <a:pPr algn="ctr">
                        <a:buNone/>
                      </a:pPr>
                      <a:r>
                        <a:rPr lang="en-US" sz="1200" b="1" dirty="0">
                          <a:solidFill>
                            <a:srgbClr val="000000"/>
                          </a:solidFill>
                          <a:effectLst/>
                          <a:latin typeface="Aptos" panose="020B0004020202020204" pitchFamily="34" charset="0"/>
                        </a:rPr>
                        <a:t>3</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solidFill>
                            <a:srgbClr val="000000"/>
                          </a:solidFill>
                          <a:effectLst/>
                          <a:latin typeface="Aptos" panose="020B0004020202020204" pitchFamily="34" charset="0"/>
                        </a:rPr>
                        <a:t>Somewhat surprised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i="1" dirty="0">
                          <a:solidFill>
                            <a:srgbClr val="000000"/>
                          </a:solidFill>
                          <a:effectLst/>
                          <a:latin typeface="Aptos" panose="020B0004020202020204" pitchFamily="34" charset="0"/>
                        </a:rPr>
                        <a:t>I lean towards my list of diagnoses; another diagnosis would be somewhat surprising.</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dirty="0">
                          <a:solidFill>
                            <a:srgbClr val="000000"/>
                          </a:solidFill>
                          <a:effectLst/>
                          <a:latin typeface="Aptos" panose="020B0004020202020204" pitchFamily="34" charset="0"/>
                        </a:rPr>
                        <a:t>(</a:t>
                      </a:r>
                      <a:r>
                        <a:rPr lang="en-US" sz="1200" b="1" dirty="0">
                          <a:solidFill>
                            <a:srgbClr val="00B050"/>
                          </a:solidFill>
                          <a:effectLst/>
                          <a:latin typeface="Aptos" panose="020B0004020202020204" pitchFamily="34" charset="0"/>
                        </a:rPr>
                        <a:t>0.8</a:t>
                      </a:r>
                      <a:r>
                        <a:rPr lang="en-US" sz="1200" dirty="0">
                          <a:solidFill>
                            <a:srgbClr val="000000"/>
                          </a:solidFill>
                          <a:effectLst/>
                          <a:latin typeface="Aptos" panose="020B0004020202020204" pitchFamily="34" charset="0"/>
                        </a:rPr>
                        <a:t>, </a:t>
                      </a:r>
                      <a:r>
                        <a:rPr lang="en-US" sz="1200" b="1" dirty="0">
                          <a:solidFill>
                            <a:srgbClr val="FF0000"/>
                          </a:solidFill>
                          <a:effectLst/>
                          <a:latin typeface="Aptos" panose="020B0004020202020204" pitchFamily="34" charset="0"/>
                        </a:rPr>
                        <a:t>0.2</a:t>
                      </a:r>
                      <a:r>
                        <a:rPr lang="en-US" sz="1200" dirty="0">
                          <a:solidFill>
                            <a:srgbClr val="000000"/>
                          </a:solidFill>
                          <a:effectLst/>
                          <a:latin typeface="Aptos" panose="020B00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948303"/>
                  </a:ext>
                </a:extLst>
              </a:tr>
              <a:tr h="523442">
                <a:tc>
                  <a:txBody>
                    <a:bodyPr/>
                    <a:lstStyle/>
                    <a:p>
                      <a:pPr algn="ctr">
                        <a:buNone/>
                      </a:pPr>
                      <a:r>
                        <a:rPr lang="en-US" sz="1200" b="1" dirty="0">
                          <a:solidFill>
                            <a:srgbClr val="000000"/>
                          </a:solidFill>
                          <a:effectLst/>
                          <a:latin typeface="Aptos" panose="020B0004020202020204" pitchFamily="34" charset="0"/>
                        </a:rPr>
                        <a:t>4</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solidFill>
                            <a:srgbClr val="000000"/>
                          </a:solidFill>
                          <a:effectLst/>
                          <a:latin typeface="Aptos" panose="020B0004020202020204" pitchFamily="34" charset="0"/>
                        </a:rPr>
                        <a:t>Very surprised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i="1" dirty="0">
                          <a:solidFill>
                            <a:srgbClr val="000000"/>
                          </a:solidFill>
                          <a:effectLst/>
                          <a:latin typeface="Aptos" panose="020B0004020202020204" pitchFamily="34" charset="0"/>
                        </a:rPr>
                        <a:t>I believe my differential is strong; another diagnosis would be quite surprising.</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Aptos" panose="020B0004020202020204" pitchFamily="34" charset="0"/>
                        </a:rPr>
                        <a:t>(</a:t>
                      </a:r>
                      <a:r>
                        <a:rPr lang="en-US" sz="1200" b="1" dirty="0">
                          <a:solidFill>
                            <a:srgbClr val="00B050"/>
                          </a:solidFill>
                          <a:effectLst/>
                          <a:latin typeface="Aptos" panose="020B0004020202020204" pitchFamily="34" charset="0"/>
                        </a:rPr>
                        <a:t>0.9,</a:t>
                      </a:r>
                      <a:r>
                        <a:rPr lang="en-US" sz="1200" dirty="0">
                          <a:solidFill>
                            <a:srgbClr val="000000"/>
                          </a:solidFill>
                          <a:effectLst/>
                          <a:latin typeface="Aptos" panose="020B0004020202020204" pitchFamily="34" charset="0"/>
                        </a:rPr>
                        <a:t> </a:t>
                      </a:r>
                      <a:r>
                        <a:rPr lang="en-US" sz="1200" b="1" dirty="0">
                          <a:solidFill>
                            <a:srgbClr val="FF0000"/>
                          </a:solidFill>
                          <a:effectLst/>
                          <a:latin typeface="Aptos" panose="020B0004020202020204" pitchFamily="34" charset="0"/>
                        </a:rPr>
                        <a:t>0.1</a:t>
                      </a:r>
                      <a:r>
                        <a:rPr lang="en-US" sz="1200" dirty="0">
                          <a:solidFill>
                            <a:srgbClr val="000000"/>
                          </a:solidFill>
                          <a:effectLst/>
                          <a:latin typeface="Aptos" panose="020B0004020202020204" pitchFamily="34" charset="0"/>
                        </a:rPr>
                        <a:t>)</a:t>
                      </a:r>
                    </a:p>
                    <a:p>
                      <a:pPr algn="ctr">
                        <a:buNone/>
                      </a:pP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0638496"/>
                  </a:ext>
                </a:extLst>
              </a:tr>
              <a:tr h="523442">
                <a:tc>
                  <a:txBody>
                    <a:bodyPr/>
                    <a:lstStyle/>
                    <a:p>
                      <a:pPr algn="ctr">
                        <a:buNone/>
                      </a:pPr>
                      <a:r>
                        <a:rPr lang="en-US" sz="1200" b="1" dirty="0">
                          <a:solidFill>
                            <a:srgbClr val="000000"/>
                          </a:solidFill>
                          <a:effectLst/>
                          <a:latin typeface="Aptos" panose="020B0004020202020204" pitchFamily="34" charset="0"/>
                        </a:rPr>
                        <a:t>5</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solidFill>
                            <a:srgbClr val="000000"/>
                          </a:solidFill>
                          <a:effectLst/>
                          <a:latin typeface="Aptos" panose="020B0004020202020204" pitchFamily="34" charset="0"/>
                        </a:rPr>
                        <a:t>Completely shocked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i="1" dirty="0">
                          <a:solidFill>
                            <a:srgbClr val="000000"/>
                          </a:solidFill>
                          <a:effectLst/>
                          <a:latin typeface="Aptos" panose="020B0004020202020204" pitchFamily="34" charset="0"/>
                        </a:rPr>
                        <a:t>I would be shocked if the final diagnosis differed from the ones I listed.</a:t>
                      </a: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Aptos" panose="020B0004020202020204" pitchFamily="34" charset="0"/>
                        </a:rPr>
                        <a:t>(</a:t>
                      </a:r>
                      <a:r>
                        <a:rPr lang="en-US" sz="1200" b="1" dirty="0">
                          <a:solidFill>
                            <a:srgbClr val="00B050"/>
                          </a:solidFill>
                          <a:effectLst/>
                          <a:latin typeface="Aptos" panose="020B0004020202020204" pitchFamily="34" charset="0"/>
                        </a:rPr>
                        <a:t>0.97</a:t>
                      </a:r>
                      <a:r>
                        <a:rPr lang="en-US" sz="1200" dirty="0">
                          <a:solidFill>
                            <a:srgbClr val="000000"/>
                          </a:solidFill>
                          <a:effectLst/>
                          <a:latin typeface="Aptos" panose="020B0004020202020204" pitchFamily="34" charset="0"/>
                        </a:rPr>
                        <a:t>, </a:t>
                      </a:r>
                      <a:r>
                        <a:rPr lang="en-US" sz="1200" b="1" dirty="0">
                          <a:solidFill>
                            <a:srgbClr val="FF0000"/>
                          </a:solidFill>
                          <a:effectLst/>
                          <a:latin typeface="Aptos" panose="020B0004020202020204" pitchFamily="34" charset="0"/>
                        </a:rPr>
                        <a:t>0.03</a:t>
                      </a:r>
                      <a:r>
                        <a:rPr lang="en-US" sz="1200" dirty="0">
                          <a:solidFill>
                            <a:srgbClr val="000000"/>
                          </a:solidFill>
                          <a:effectLst/>
                          <a:latin typeface="Aptos" panose="020B0004020202020204" pitchFamily="34" charset="0"/>
                        </a:rPr>
                        <a:t>)</a:t>
                      </a:r>
                    </a:p>
                    <a:p>
                      <a:pPr algn="ctr">
                        <a:buNone/>
                      </a:pPr>
                      <a:endParaRPr lang="en-US" sz="1200" dirty="0">
                        <a:solidFill>
                          <a:srgbClr val="000000"/>
                        </a:solidFill>
                        <a:effectLst/>
                        <a:latin typeface="Aptos" panose="020B00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587200"/>
                  </a:ext>
                </a:extLst>
              </a:tr>
            </a:tbl>
          </a:graphicData>
        </a:graphic>
      </p:graphicFrame>
      <p:sp>
        <p:nvSpPr>
          <p:cNvPr id="3" name="TextBox 2">
            <a:extLst>
              <a:ext uri="{FF2B5EF4-FFF2-40B4-BE49-F238E27FC236}">
                <a16:creationId xmlns:a16="http://schemas.microsoft.com/office/drawing/2014/main" id="{11430C60-186E-3D94-1A9A-41E95729BA5F}"/>
              </a:ext>
            </a:extLst>
          </p:cNvPr>
          <p:cNvSpPr txBox="1"/>
          <p:nvPr/>
        </p:nvSpPr>
        <p:spPr>
          <a:xfrm>
            <a:off x="279093" y="6086584"/>
            <a:ext cx="11633812" cy="584775"/>
          </a:xfrm>
          <a:prstGeom prst="rect">
            <a:avLst/>
          </a:prstGeom>
          <a:noFill/>
        </p:spPr>
        <p:txBody>
          <a:bodyPr wrap="square" rtlCol="0">
            <a:spAutoFit/>
          </a:bodyPr>
          <a:lstStyle/>
          <a:p>
            <a:r>
              <a:rPr lang="en-US" sz="1600" dirty="0"/>
              <a:t>Implied P mathematical example) Likert scale 5 means a learner believes the “correct” answer will be in their differential diagnosis (top 3 dx listed) 97 out of 100 times and outside of their differential diagnosis (top 3 dx listed) only 3 out of 100 times.  </a:t>
            </a:r>
          </a:p>
        </p:txBody>
      </p:sp>
    </p:spTree>
    <p:extLst>
      <p:ext uri="{BB962C8B-B14F-4D97-AF65-F5344CB8AC3E}">
        <p14:creationId xmlns:p14="http://schemas.microsoft.com/office/powerpoint/2010/main" val="1697760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2DE14-2F1C-0E29-0A76-A0396BCFF093}"/>
              </a:ext>
            </a:extLst>
          </p:cNvPr>
          <p:cNvSpPr>
            <a:spLocks noGrp="1"/>
          </p:cNvSpPr>
          <p:nvPr>
            <p:ph type="title"/>
          </p:nvPr>
        </p:nvSpPr>
        <p:spPr/>
        <p:txBody>
          <a:bodyPr>
            <a:normAutofit/>
          </a:bodyPr>
          <a:lstStyle/>
          <a:p>
            <a:r>
              <a:rPr lang="en-US" sz="3200" dirty="0"/>
              <a:t>Is there really a difference between Likert anchors?</a:t>
            </a:r>
          </a:p>
        </p:txBody>
      </p:sp>
      <p:pic>
        <p:nvPicPr>
          <p:cNvPr id="5" name="Picture 4">
            <a:extLst>
              <a:ext uri="{FF2B5EF4-FFF2-40B4-BE49-F238E27FC236}">
                <a16:creationId xmlns:a16="http://schemas.microsoft.com/office/drawing/2014/main" id="{D328678F-FB25-289E-FCDA-315CE2374B0C}"/>
              </a:ext>
            </a:extLst>
          </p:cNvPr>
          <p:cNvPicPr>
            <a:picLocks noChangeAspect="1"/>
          </p:cNvPicPr>
          <p:nvPr/>
        </p:nvPicPr>
        <p:blipFill>
          <a:blip r:embed="rId2"/>
          <a:stretch>
            <a:fillRect/>
          </a:stretch>
        </p:blipFill>
        <p:spPr>
          <a:xfrm>
            <a:off x="1449336" y="1901746"/>
            <a:ext cx="9904464" cy="4190015"/>
          </a:xfrm>
          <a:prstGeom prst="rect">
            <a:avLst/>
          </a:prstGeom>
        </p:spPr>
      </p:pic>
    </p:spTree>
    <p:extLst>
      <p:ext uri="{BB962C8B-B14F-4D97-AF65-F5344CB8AC3E}">
        <p14:creationId xmlns:p14="http://schemas.microsoft.com/office/powerpoint/2010/main" val="1861458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3E646-A41E-1F1B-2270-A95119BA48E8}"/>
              </a:ext>
            </a:extLst>
          </p:cNvPr>
          <p:cNvSpPr>
            <a:spLocks noGrp="1"/>
          </p:cNvSpPr>
          <p:nvPr>
            <p:ph type="title"/>
          </p:nvPr>
        </p:nvSpPr>
        <p:spPr>
          <a:xfrm>
            <a:off x="838200" y="447601"/>
            <a:ext cx="10515600" cy="1325563"/>
          </a:xfrm>
        </p:spPr>
        <p:txBody>
          <a:bodyPr>
            <a:noAutofit/>
          </a:bodyPr>
          <a:lstStyle/>
          <a:p>
            <a:r>
              <a:rPr lang="en-US" sz="3200" b="1" dirty="0">
                <a:solidFill>
                  <a:srgbClr val="0070C0"/>
                </a:solidFill>
              </a:rPr>
              <a:t>Log-loss</a:t>
            </a:r>
            <a:r>
              <a:rPr lang="en-US" sz="3200" dirty="0"/>
              <a:t> (“how surprised you should be (objectively) by what actually happened, given your beliefs”) helps us define </a:t>
            </a:r>
            <a:r>
              <a:rPr lang="en-US" sz="3200" b="1" dirty="0">
                <a:solidFill>
                  <a:srgbClr val="A02B93"/>
                </a:solidFill>
              </a:rPr>
              <a:t>Diagnostic Calibration</a:t>
            </a:r>
          </a:p>
        </p:txBody>
      </p:sp>
      <p:pic>
        <p:nvPicPr>
          <p:cNvPr id="9" name="Picture 8">
            <a:extLst>
              <a:ext uri="{FF2B5EF4-FFF2-40B4-BE49-F238E27FC236}">
                <a16:creationId xmlns:a16="http://schemas.microsoft.com/office/drawing/2014/main" id="{85D19E14-6B3B-CCD8-07D5-2D104A38B13C}"/>
              </a:ext>
            </a:extLst>
          </p:cNvPr>
          <p:cNvPicPr>
            <a:picLocks noChangeAspect="1"/>
          </p:cNvPicPr>
          <p:nvPr/>
        </p:nvPicPr>
        <p:blipFill>
          <a:blip r:embed="rId2"/>
          <a:stretch>
            <a:fillRect/>
          </a:stretch>
        </p:blipFill>
        <p:spPr>
          <a:xfrm>
            <a:off x="617863" y="2203373"/>
            <a:ext cx="5524414" cy="3805382"/>
          </a:xfrm>
          <a:prstGeom prst="rect">
            <a:avLst/>
          </a:prstGeom>
        </p:spPr>
      </p:pic>
      <p:sp>
        <p:nvSpPr>
          <p:cNvPr id="10" name="TextBox 9">
            <a:extLst>
              <a:ext uri="{FF2B5EF4-FFF2-40B4-BE49-F238E27FC236}">
                <a16:creationId xmlns:a16="http://schemas.microsoft.com/office/drawing/2014/main" id="{C9E918F5-EE67-20D9-46C5-5B5139C0BDE8}"/>
              </a:ext>
            </a:extLst>
          </p:cNvPr>
          <p:cNvSpPr txBox="1"/>
          <p:nvPr/>
        </p:nvSpPr>
        <p:spPr>
          <a:xfrm>
            <a:off x="6431949" y="1761595"/>
            <a:ext cx="5389149" cy="4893647"/>
          </a:xfrm>
          <a:prstGeom prst="rect">
            <a:avLst/>
          </a:prstGeom>
          <a:noFill/>
        </p:spPr>
        <p:txBody>
          <a:bodyPr wrap="square" rtlCol="0">
            <a:spAutoFit/>
          </a:bodyPr>
          <a:lstStyle/>
          <a:p>
            <a:r>
              <a:rPr lang="en-US" sz="2400" b="1" dirty="0">
                <a:solidFill>
                  <a:schemeClr val="tx2">
                    <a:lumMod val="50000"/>
                    <a:lumOff val="50000"/>
                  </a:schemeClr>
                </a:solidFill>
              </a:rPr>
              <a:t>Log-loss</a:t>
            </a:r>
            <a:r>
              <a:rPr lang="en-US" sz="2400" dirty="0"/>
              <a:t> is </a:t>
            </a:r>
            <a:r>
              <a:rPr lang="en-US" sz="2400" i="1" dirty="0">
                <a:solidFill>
                  <a:schemeClr val="tx2">
                    <a:lumMod val="50000"/>
                    <a:lumOff val="50000"/>
                  </a:schemeClr>
                </a:solidFill>
              </a:rPr>
              <a:t>outcome dependent: </a:t>
            </a:r>
            <a:r>
              <a:rPr lang="en-US" sz="2400" dirty="0"/>
              <a:t>it does not punish you for failing to capture data. It punishes you for being surprised by the truth (incorrectness) and rewards accurate prediction (correctness) even if lucky.</a:t>
            </a:r>
          </a:p>
          <a:p>
            <a:endParaRPr lang="en-US" sz="2400" dirty="0"/>
          </a:p>
          <a:p>
            <a:r>
              <a:rPr lang="en-US" sz="2400" b="1" dirty="0">
                <a:solidFill>
                  <a:schemeClr val="accent5"/>
                </a:solidFill>
              </a:rPr>
              <a:t>Diagnostic Calibration </a:t>
            </a:r>
            <a:r>
              <a:rPr lang="en-US" sz="2400" dirty="0"/>
              <a:t>is </a:t>
            </a:r>
            <a:r>
              <a:rPr lang="en-US" sz="2400" i="1" dirty="0">
                <a:solidFill>
                  <a:srgbClr val="A02B93"/>
                </a:solidFill>
              </a:rPr>
              <a:t>outcome-independent: </a:t>
            </a:r>
            <a:r>
              <a:rPr lang="en-US" sz="2400" dirty="0"/>
              <a:t>it assesses if subjective confidence matches the real world state of unpredictability. It rewards hedging only when large surprise is expected.</a:t>
            </a:r>
            <a:endParaRPr lang="en-US" sz="2400" i="1" dirty="0">
              <a:solidFill>
                <a:srgbClr val="A02B93"/>
              </a:solidFill>
            </a:endParaRPr>
          </a:p>
        </p:txBody>
      </p:sp>
    </p:spTree>
    <p:extLst>
      <p:ext uri="{BB962C8B-B14F-4D97-AF65-F5344CB8AC3E}">
        <p14:creationId xmlns:p14="http://schemas.microsoft.com/office/powerpoint/2010/main" val="2149273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5105D448-4A6C-48A3-8C3C-71AF58F3E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4025579F-C5D8-43BE-AF84-3E66A482C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2544415"/>
          </a:xfrm>
          <a:prstGeom prst="rect">
            <a:avLst/>
          </a:prstGeom>
          <a:ln>
            <a:noFill/>
          </a:ln>
          <a:effectLst>
            <a:outerShdw blurRad="203200" dist="88900" dir="5460000" sx="95000" sy="95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09F7DC-79A2-A18B-BA47-56DA94AD8268}"/>
              </a:ext>
            </a:extLst>
          </p:cNvPr>
          <p:cNvSpPr>
            <a:spLocks noGrp="1"/>
          </p:cNvSpPr>
          <p:nvPr>
            <p:ph type="title"/>
          </p:nvPr>
        </p:nvSpPr>
        <p:spPr>
          <a:xfrm>
            <a:off x="761999" y="463942"/>
            <a:ext cx="9880295" cy="990286"/>
          </a:xfrm>
        </p:spPr>
        <p:txBody>
          <a:bodyPr>
            <a:normAutofit fontScale="90000"/>
          </a:bodyPr>
          <a:lstStyle/>
          <a:p>
            <a:r>
              <a:rPr lang="en-US" sz="4000" dirty="0"/>
              <a:t>Translating subjective surprisal states into </a:t>
            </a:r>
            <a:r>
              <a:rPr lang="en-US" sz="4000" i="1" dirty="0"/>
              <a:t>implied P </a:t>
            </a:r>
            <a:r>
              <a:rPr lang="en-US" sz="4000" dirty="0"/>
              <a:t>(</a:t>
            </a:r>
            <a:r>
              <a:rPr lang="en-US" sz="4000" dirty="0" err="1"/>
              <a:t>px</a:t>
            </a:r>
            <a:r>
              <a:rPr lang="en-US" sz="4000" dirty="0"/>
              <a:t>) and Log-loss (bits) – using log 2</a:t>
            </a:r>
          </a:p>
        </p:txBody>
      </p:sp>
      <p:graphicFrame>
        <p:nvGraphicFramePr>
          <p:cNvPr id="4" name="Content Placeholder 3">
            <a:extLst>
              <a:ext uri="{FF2B5EF4-FFF2-40B4-BE49-F238E27FC236}">
                <a16:creationId xmlns:a16="http://schemas.microsoft.com/office/drawing/2014/main" id="{E8585753-E30C-4DCD-8E2C-246C4F2F2FBB}"/>
              </a:ext>
            </a:extLst>
          </p:cNvPr>
          <p:cNvGraphicFramePr>
            <a:graphicFrameLocks noGrp="1"/>
          </p:cNvGraphicFramePr>
          <p:nvPr>
            <p:ph idx="1"/>
            <p:extLst>
              <p:ext uri="{D42A27DB-BD31-4B8C-83A1-F6EECF244321}">
                <p14:modId xmlns:p14="http://schemas.microsoft.com/office/powerpoint/2010/main" val="3964043808"/>
              </p:ext>
            </p:extLst>
          </p:nvPr>
        </p:nvGraphicFramePr>
        <p:xfrm>
          <a:off x="506081" y="1728091"/>
          <a:ext cx="11179837" cy="3094301"/>
        </p:xfrm>
        <a:graphic>
          <a:graphicData uri="http://schemas.openxmlformats.org/drawingml/2006/table">
            <a:tbl>
              <a:tblPr firstRow="1" bandRow="1">
                <a:solidFill>
                  <a:srgbClr val="F7F7F7"/>
                </a:solidFill>
              </a:tblPr>
              <a:tblGrid>
                <a:gridCol w="1654942">
                  <a:extLst>
                    <a:ext uri="{9D8B030D-6E8A-4147-A177-3AD203B41FA5}">
                      <a16:colId xmlns:a16="http://schemas.microsoft.com/office/drawing/2014/main" val="1922197881"/>
                    </a:ext>
                  </a:extLst>
                </a:gridCol>
                <a:gridCol w="2377276">
                  <a:extLst>
                    <a:ext uri="{9D8B030D-6E8A-4147-A177-3AD203B41FA5}">
                      <a16:colId xmlns:a16="http://schemas.microsoft.com/office/drawing/2014/main" val="80786830"/>
                    </a:ext>
                  </a:extLst>
                </a:gridCol>
                <a:gridCol w="2377276">
                  <a:extLst>
                    <a:ext uri="{9D8B030D-6E8A-4147-A177-3AD203B41FA5}">
                      <a16:colId xmlns:a16="http://schemas.microsoft.com/office/drawing/2014/main" val="2619282006"/>
                    </a:ext>
                  </a:extLst>
                </a:gridCol>
                <a:gridCol w="2393067">
                  <a:extLst>
                    <a:ext uri="{9D8B030D-6E8A-4147-A177-3AD203B41FA5}">
                      <a16:colId xmlns:a16="http://schemas.microsoft.com/office/drawing/2014/main" val="636980130"/>
                    </a:ext>
                  </a:extLst>
                </a:gridCol>
                <a:gridCol w="2377276">
                  <a:extLst>
                    <a:ext uri="{9D8B030D-6E8A-4147-A177-3AD203B41FA5}">
                      <a16:colId xmlns:a16="http://schemas.microsoft.com/office/drawing/2014/main" val="3575713417"/>
                    </a:ext>
                  </a:extLst>
                </a:gridCol>
              </a:tblGrid>
              <a:tr h="902371">
                <a:tc>
                  <a:txBody>
                    <a:bodyPr/>
                    <a:lstStyle/>
                    <a:p>
                      <a:pPr algn="ctr">
                        <a:buNone/>
                      </a:pPr>
                      <a:r>
                        <a:rPr lang="en-US" sz="1300" b="1" cap="all" spc="60">
                          <a:solidFill>
                            <a:schemeClr val="tx1"/>
                          </a:solidFill>
                        </a:rPr>
                        <a:t>Likert</a:t>
                      </a:r>
                    </a:p>
                  </a:txBody>
                  <a:tcPr marL="143995" marR="143995" marT="143995" marB="143995" anchor="ctr">
                    <a:lnL w="12700" cmpd="sng">
                      <a:noFill/>
                    </a:lnL>
                    <a:lnR w="12700" cmpd="sng">
                      <a:noFill/>
                    </a:lnR>
                    <a:lnT w="12700" cmpd="sng">
                      <a:noFill/>
                    </a:lnT>
                    <a:lnB w="38100" cmpd="sng">
                      <a:noFill/>
                    </a:lnB>
                    <a:noFill/>
                  </a:tcPr>
                </a:tc>
                <a:tc>
                  <a:txBody>
                    <a:bodyPr/>
                    <a:lstStyle/>
                    <a:p>
                      <a:pPr algn="ctr">
                        <a:buNone/>
                      </a:pPr>
                      <a:r>
                        <a:rPr lang="en-US" sz="1300" b="1" cap="all" spc="60" dirty="0">
                          <a:solidFill>
                            <a:schemeClr val="tx1"/>
                          </a:solidFill>
                        </a:rPr>
                        <a:t>Implied P</a:t>
                      </a:r>
                    </a:p>
                    <a:p>
                      <a:pPr algn="ctr">
                        <a:buNone/>
                      </a:pPr>
                      <a:r>
                        <a:rPr lang="en-US" sz="1300" b="0" cap="all" spc="60" dirty="0">
                          <a:solidFill>
                            <a:schemeClr val="tx1"/>
                          </a:solidFill>
                        </a:rPr>
                        <a:t>(Ground Truth correct)</a:t>
                      </a:r>
                    </a:p>
                  </a:txBody>
                  <a:tcPr marL="143995" marR="143995" marT="143995" marB="143995" anchor="ctr">
                    <a:lnL w="12700" cmpd="sng">
                      <a:noFill/>
                    </a:lnL>
                    <a:lnR w="12700" cmpd="sng">
                      <a:noFill/>
                    </a:lnR>
                    <a:lnT w="12700" cmpd="sng">
                      <a:noFill/>
                    </a:lnT>
                    <a:lnB w="38100" cmpd="sng">
                      <a:noFill/>
                    </a:lnB>
                    <a:noFill/>
                  </a:tcPr>
                </a:tc>
                <a:tc>
                  <a:txBody>
                    <a:bodyPr/>
                    <a:lstStyle/>
                    <a:p>
                      <a:pPr algn="ctr">
                        <a:buNone/>
                      </a:pPr>
                      <a:r>
                        <a:rPr lang="en-US" sz="1300" b="1" cap="all" spc="60" dirty="0">
                          <a:solidFill>
                            <a:schemeClr val="tx1"/>
                          </a:solidFill>
                        </a:rPr>
                        <a:t>Implied P</a:t>
                      </a:r>
                    </a:p>
                    <a:p>
                      <a:pPr algn="ctr">
                        <a:buNone/>
                      </a:pPr>
                      <a:r>
                        <a:rPr lang="en-US" sz="1300" b="0" cap="all" spc="60" dirty="0">
                          <a:solidFill>
                            <a:schemeClr val="tx1"/>
                          </a:solidFill>
                        </a:rPr>
                        <a:t>(Ground truth incorrect)</a:t>
                      </a:r>
                    </a:p>
                  </a:txBody>
                  <a:tcPr marL="143995" marR="143995" marT="143995" marB="143995" anchor="ctr">
                    <a:lnL w="12700" cmpd="sng">
                      <a:noFill/>
                    </a:lnL>
                    <a:lnR w="12700" cmpd="sng">
                      <a:noFill/>
                    </a:lnR>
                    <a:lnT w="12700" cmpd="sng">
                      <a:noFill/>
                    </a:lnT>
                    <a:lnB w="38100" cmpd="sng">
                      <a:noFill/>
                    </a:lnB>
                    <a:noFill/>
                  </a:tcPr>
                </a:tc>
                <a:tc>
                  <a:txBody>
                    <a:bodyPr/>
                    <a:lstStyle/>
                    <a:p>
                      <a:pPr algn="ctr">
                        <a:buNone/>
                      </a:pPr>
                      <a:r>
                        <a:rPr lang="en-US" sz="1300" b="1" cap="all" spc="60" dirty="0">
                          <a:solidFill>
                            <a:schemeClr val="tx1"/>
                          </a:solidFill>
                        </a:rPr>
                        <a:t>Log-loss if Correct (bits)</a:t>
                      </a:r>
                    </a:p>
                  </a:txBody>
                  <a:tcPr marL="143995" marR="143995" marT="143995" marB="143995" anchor="ctr">
                    <a:lnL w="12700" cmpd="sng">
                      <a:noFill/>
                    </a:lnL>
                    <a:lnR w="12700" cmpd="sng">
                      <a:noFill/>
                    </a:lnR>
                    <a:lnT w="12700" cmpd="sng">
                      <a:noFill/>
                    </a:lnT>
                    <a:lnB w="38100" cmpd="sng">
                      <a:noFill/>
                    </a:lnB>
                    <a:noFill/>
                  </a:tcPr>
                </a:tc>
                <a:tc>
                  <a:txBody>
                    <a:bodyPr/>
                    <a:lstStyle/>
                    <a:p>
                      <a:pPr algn="ctr">
                        <a:buNone/>
                      </a:pPr>
                      <a:r>
                        <a:rPr lang="en-US" sz="1300" b="1" cap="all" spc="60" dirty="0">
                          <a:solidFill>
                            <a:schemeClr val="tx1"/>
                          </a:solidFill>
                        </a:rPr>
                        <a:t>Log-loss if INCORRECT (bits)</a:t>
                      </a:r>
                    </a:p>
                  </a:txBody>
                  <a:tcPr marL="143995" marR="143995" marT="143995" marB="143995" anchor="ctr">
                    <a:lnL w="12700" cmpd="sng">
                      <a:noFill/>
                    </a:lnL>
                    <a:lnR w="12700" cmpd="sng">
                      <a:noFill/>
                    </a:lnR>
                    <a:lnT w="12700" cmpd="sng">
                      <a:noFill/>
                    </a:lnT>
                    <a:lnB w="38100" cmpd="sng">
                      <a:noFill/>
                    </a:lnB>
                    <a:noFill/>
                  </a:tcPr>
                </a:tc>
                <a:extLst>
                  <a:ext uri="{0D108BD9-81ED-4DB2-BD59-A6C34878D82A}">
                    <a16:rowId xmlns:a16="http://schemas.microsoft.com/office/drawing/2014/main" val="914916271"/>
                  </a:ext>
                </a:extLst>
              </a:tr>
              <a:tr h="438386">
                <a:tc>
                  <a:txBody>
                    <a:bodyPr/>
                    <a:lstStyle/>
                    <a:p>
                      <a:pPr algn="ctr">
                        <a:buNone/>
                      </a:pPr>
                      <a:r>
                        <a:rPr lang="en-US" sz="1700" cap="none" spc="0">
                          <a:solidFill>
                            <a:schemeClr val="tx1"/>
                          </a:solidFill>
                        </a:rPr>
                        <a:t>1</a:t>
                      </a:r>
                    </a:p>
                  </a:txBody>
                  <a:tcPr marL="95997" marR="95997" marT="47998" marB="95997"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ctr">
                        <a:buNone/>
                      </a:pPr>
                      <a:r>
                        <a:rPr lang="en-US" sz="1700" cap="none" spc="0">
                          <a:solidFill>
                            <a:schemeClr val="tx1"/>
                          </a:solidFill>
                        </a:rPr>
                        <a:t>0.50</a:t>
                      </a:r>
                    </a:p>
                  </a:txBody>
                  <a:tcPr marL="95997" marR="95997" marT="47998" marB="95997"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ctr">
                        <a:buNone/>
                      </a:pPr>
                      <a:r>
                        <a:rPr lang="en-US" sz="1700" cap="none" spc="0">
                          <a:solidFill>
                            <a:schemeClr val="tx1"/>
                          </a:solidFill>
                        </a:rPr>
                        <a:t>0.50</a:t>
                      </a:r>
                    </a:p>
                  </a:txBody>
                  <a:tcPr marL="95997" marR="95997" marT="47998" marB="95997"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ctr">
                        <a:buNone/>
                      </a:pPr>
                      <a:r>
                        <a:rPr lang="en-US" sz="1700" cap="none" spc="0" dirty="0">
                          <a:solidFill>
                            <a:schemeClr val="tx1"/>
                          </a:solidFill>
                        </a:rPr>
                        <a:t>1.000</a:t>
                      </a:r>
                    </a:p>
                  </a:txBody>
                  <a:tcPr marL="95997" marR="95997" marT="47998" marB="95997" anchor="ctr">
                    <a:lnL w="12700" cmpd="sng">
                      <a:noFill/>
                      <a:prstDash val="solid"/>
                    </a:lnL>
                    <a:lnR w="12700" cmpd="sng">
                      <a:noFill/>
                      <a:prstDash val="solid"/>
                    </a:lnR>
                    <a:lnT w="38100" cmpd="sng">
                      <a:noFill/>
                    </a:lnT>
                    <a:lnB w="12700" cmpd="sng">
                      <a:noFill/>
                      <a:prstDash val="solid"/>
                    </a:lnB>
                    <a:solidFill>
                      <a:srgbClr val="F7F7F7"/>
                    </a:solidFill>
                  </a:tcPr>
                </a:tc>
                <a:tc>
                  <a:txBody>
                    <a:bodyPr/>
                    <a:lstStyle/>
                    <a:p>
                      <a:pPr algn="ctr">
                        <a:buNone/>
                      </a:pPr>
                      <a:r>
                        <a:rPr lang="en-US" sz="1700" cap="none" spc="0">
                          <a:solidFill>
                            <a:schemeClr val="tx1"/>
                          </a:solidFill>
                        </a:rPr>
                        <a:t>1.000</a:t>
                      </a:r>
                    </a:p>
                  </a:txBody>
                  <a:tcPr marL="95997" marR="95997" marT="47998" marB="95997" anchor="ctr">
                    <a:lnL w="12700" cmpd="sng">
                      <a:noFill/>
                      <a:prstDash val="solid"/>
                    </a:lnL>
                    <a:lnR w="12700" cmpd="sng">
                      <a:noFill/>
                      <a:prstDash val="solid"/>
                    </a:lnR>
                    <a:lnT w="38100" cmpd="sng">
                      <a:noFill/>
                    </a:lnT>
                    <a:lnB w="12700" cmpd="sng">
                      <a:noFill/>
                      <a:prstDash val="solid"/>
                    </a:lnB>
                    <a:solidFill>
                      <a:srgbClr val="F7F7F7"/>
                    </a:solidFill>
                  </a:tcPr>
                </a:tc>
                <a:extLst>
                  <a:ext uri="{0D108BD9-81ED-4DB2-BD59-A6C34878D82A}">
                    <a16:rowId xmlns:a16="http://schemas.microsoft.com/office/drawing/2014/main" val="3982157284"/>
                  </a:ext>
                </a:extLst>
              </a:tr>
              <a:tr h="438386">
                <a:tc>
                  <a:txBody>
                    <a:bodyPr/>
                    <a:lstStyle/>
                    <a:p>
                      <a:pPr algn="ctr">
                        <a:buNone/>
                      </a:pPr>
                      <a:r>
                        <a:rPr lang="en-US" sz="1700" cap="none" spc="0">
                          <a:solidFill>
                            <a:schemeClr val="tx1"/>
                          </a:solidFill>
                        </a:rPr>
                        <a:t>2</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buNone/>
                      </a:pPr>
                      <a:r>
                        <a:rPr lang="en-US" sz="1700" cap="none" spc="0">
                          <a:solidFill>
                            <a:schemeClr val="tx1"/>
                          </a:solidFill>
                        </a:rPr>
                        <a:t>0.35</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buNone/>
                      </a:pPr>
                      <a:r>
                        <a:rPr lang="en-US" sz="1700" cap="none" spc="0">
                          <a:solidFill>
                            <a:schemeClr val="tx1"/>
                          </a:solidFill>
                        </a:rPr>
                        <a:t>0.65</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buNone/>
                      </a:pPr>
                      <a:r>
                        <a:rPr lang="en-US" sz="1700" cap="none" spc="0">
                          <a:solidFill>
                            <a:schemeClr val="tx1"/>
                          </a:solidFill>
                        </a:rPr>
                        <a:t>0.621</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buNone/>
                      </a:pPr>
                      <a:r>
                        <a:rPr lang="en-US" sz="1700" cap="none" spc="0">
                          <a:solidFill>
                            <a:schemeClr val="tx1"/>
                          </a:solidFill>
                        </a:rPr>
                        <a:t>1.515</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77561083"/>
                  </a:ext>
                </a:extLst>
              </a:tr>
              <a:tr h="438386">
                <a:tc>
                  <a:txBody>
                    <a:bodyPr/>
                    <a:lstStyle/>
                    <a:p>
                      <a:pPr algn="ctr">
                        <a:buNone/>
                      </a:pPr>
                      <a:r>
                        <a:rPr lang="en-US" sz="1700" cap="none" spc="0">
                          <a:solidFill>
                            <a:schemeClr val="tx1"/>
                          </a:solidFill>
                        </a:rPr>
                        <a:t>3</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buNone/>
                      </a:pPr>
                      <a:r>
                        <a:rPr lang="en-US" sz="1700" cap="none" spc="0">
                          <a:solidFill>
                            <a:schemeClr val="tx1"/>
                          </a:solidFill>
                        </a:rPr>
                        <a:t>0.20</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buNone/>
                      </a:pPr>
                      <a:r>
                        <a:rPr lang="en-US" sz="1700" cap="none" spc="0">
                          <a:solidFill>
                            <a:schemeClr val="tx1"/>
                          </a:solidFill>
                        </a:rPr>
                        <a:t>0.80</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buNone/>
                      </a:pPr>
                      <a:r>
                        <a:rPr lang="en-US" sz="1700" cap="none" spc="0" dirty="0">
                          <a:solidFill>
                            <a:schemeClr val="tx1"/>
                          </a:solidFill>
                        </a:rPr>
                        <a:t>0.322</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lgn="ctr">
                        <a:buNone/>
                      </a:pPr>
                      <a:r>
                        <a:rPr lang="en-US" sz="1700" cap="none" spc="0">
                          <a:solidFill>
                            <a:schemeClr val="tx1"/>
                          </a:solidFill>
                        </a:rPr>
                        <a:t>2.322</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542762131"/>
                  </a:ext>
                </a:extLst>
              </a:tr>
              <a:tr h="438386">
                <a:tc>
                  <a:txBody>
                    <a:bodyPr/>
                    <a:lstStyle/>
                    <a:p>
                      <a:pPr algn="ctr">
                        <a:buNone/>
                      </a:pPr>
                      <a:r>
                        <a:rPr lang="en-US" sz="1700" cap="none" spc="0">
                          <a:solidFill>
                            <a:schemeClr val="tx1"/>
                          </a:solidFill>
                        </a:rPr>
                        <a:t>4</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buNone/>
                      </a:pPr>
                      <a:r>
                        <a:rPr lang="en-US" sz="1700" cap="none" spc="0">
                          <a:solidFill>
                            <a:schemeClr val="tx1"/>
                          </a:solidFill>
                        </a:rPr>
                        <a:t>0.10</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buNone/>
                      </a:pPr>
                      <a:r>
                        <a:rPr lang="en-US" sz="1700" cap="none" spc="0">
                          <a:solidFill>
                            <a:schemeClr val="tx1"/>
                          </a:solidFill>
                        </a:rPr>
                        <a:t>0.90</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buNone/>
                      </a:pPr>
                      <a:r>
                        <a:rPr lang="en-US" sz="1700" cap="none" spc="0">
                          <a:solidFill>
                            <a:schemeClr val="tx1"/>
                          </a:solidFill>
                        </a:rPr>
                        <a:t>0.152</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algn="ctr">
                        <a:buNone/>
                      </a:pPr>
                      <a:r>
                        <a:rPr lang="en-US" sz="1700" cap="none" spc="0">
                          <a:solidFill>
                            <a:schemeClr val="tx1"/>
                          </a:solidFill>
                        </a:rPr>
                        <a:t>3.322</a:t>
                      </a:r>
                    </a:p>
                  </a:txBody>
                  <a:tcPr marL="95997" marR="95997" marT="47998" marB="95997" anchor="ctr">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3118326655"/>
                  </a:ext>
                </a:extLst>
              </a:tr>
              <a:tr h="438386">
                <a:tc>
                  <a:txBody>
                    <a:bodyPr/>
                    <a:lstStyle/>
                    <a:p>
                      <a:pPr algn="ctr">
                        <a:buNone/>
                      </a:pPr>
                      <a:r>
                        <a:rPr lang="en-US" sz="1700" cap="none" spc="0">
                          <a:solidFill>
                            <a:schemeClr val="tx1"/>
                          </a:solidFill>
                        </a:rPr>
                        <a:t>5</a:t>
                      </a:r>
                    </a:p>
                  </a:txBody>
                  <a:tcPr marL="95997" marR="95997" marT="47998" marB="95997"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lgn="ctr">
                        <a:buNone/>
                      </a:pPr>
                      <a:r>
                        <a:rPr lang="en-US" sz="1700" cap="none" spc="0" dirty="0">
                          <a:solidFill>
                            <a:schemeClr val="tx1"/>
                          </a:solidFill>
                        </a:rPr>
                        <a:t>0.03</a:t>
                      </a:r>
                    </a:p>
                  </a:txBody>
                  <a:tcPr marL="95997" marR="95997" marT="47998" marB="95997"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lgn="ctr">
                        <a:buNone/>
                      </a:pPr>
                      <a:r>
                        <a:rPr lang="en-US" sz="1700" cap="none" spc="0">
                          <a:solidFill>
                            <a:schemeClr val="tx1"/>
                          </a:solidFill>
                        </a:rPr>
                        <a:t>0.97</a:t>
                      </a:r>
                    </a:p>
                  </a:txBody>
                  <a:tcPr marL="95997" marR="95997" marT="47998" marB="95997"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lgn="ctr">
                        <a:buNone/>
                      </a:pPr>
                      <a:r>
                        <a:rPr lang="en-US" sz="1700" cap="none" spc="0">
                          <a:solidFill>
                            <a:schemeClr val="tx1"/>
                          </a:solidFill>
                        </a:rPr>
                        <a:t>0.044</a:t>
                      </a:r>
                    </a:p>
                  </a:txBody>
                  <a:tcPr marL="95997" marR="95997" marT="47998" marB="95997"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lgn="ctr">
                        <a:buNone/>
                      </a:pPr>
                      <a:r>
                        <a:rPr lang="en-US" sz="1700" cap="none" spc="0" dirty="0">
                          <a:solidFill>
                            <a:schemeClr val="tx1"/>
                          </a:solidFill>
                        </a:rPr>
                        <a:t>5.059</a:t>
                      </a:r>
                    </a:p>
                  </a:txBody>
                  <a:tcPr marL="95997" marR="95997" marT="47998" marB="95997"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val="569801507"/>
                  </a:ext>
                </a:extLst>
              </a:tr>
            </a:tbl>
          </a:graphicData>
        </a:graphic>
      </p:graphicFrame>
      <p:sp>
        <p:nvSpPr>
          <p:cNvPr id="5" name="Title 1">
            <a:extLst>
              <a:ext uri="{FF2B5EF4-FFF2-40B4-BE49-F238E27FC236}">
                <a16:creationId xmlns:a16="http://schemas.microsoft.com/office/drawing/2014/main" id="{9CA7F443-00FA-8073-6A18-B5A1CC074CC4}"/>
              </a:ext>
            </a:extLst>
          </p:cNvPr>
          <p:cNvSpPr txBox="1">
            <a:spLocks/>
          </p:cNvSpPr>
          <p:nvPr/>
        </p:nvSpPr>
        <p:spPr>
          <a:xfrm>
            <a:off x="761998" y="5250491"/>
            <a:ext cx="11037067" cy="1414714"/>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But log-loss can also be calculated from actual probabilities in the case posterior distribution. This is the</a:t>
            </a:r>
            <a:r>
              <a:rPr lang="en-US" sz="4000" i="1" dirty="0"/>
              <a:t> objective </a:t>
            </a:r>
            <a:r>
              <a:rPr lang="en-US" sz="4000" dirty="0"/>
              <a:t>surprisal state based on information gathered. It also allows us to estimate the aleatoric limit…</a:t>
            </a:r>
          </a:p>
        </p:txBody>
      </p:sp>
    </p:spTree>
    <p:extLst>
      <p:ext uri="{BB962C8B-B14F-4D97-AF65-F5344CB8AC3E}">
        <p14:creationId xmlns:p14="http://schemas.microsoft.com/office/powerpoint/2010/main" val="2043215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4C9BC-D027-58B2-AF19-8B250F258859}"/>
              </a:ext>
            </a:extLst>
          </p:cNvPr>
          <p:cNvSpPr>
            <a:spLocks noGrp="1"/>
          </p:cNvSpPr>
          <p:nvPr>
            <p:ph type="title"/>
          </p:nvPr>
        </p:nvSpPr>
        <p:spPr/>
        <p:txBody>
          <a:bodyPr/>
          <a:lstStyle/>
          <a:p>
            <a:r>
              <a:rPr lang="en-US" dirty="0"/>
              <a:t>Learner phenotypes</a:t>
            </a:r>
          </a:p>
        </p:txBody>
      </p:sp>
      <p:graphicFrame>
        <p:nvGraphicFramePr>
          <p:cNvPr id="4" name="Content Placeholder 3">
            <a:extLst>
              <a:ext uri="{FF2B5EF4-FFF2-40B4-BE49-F238E27FC236}">
                <a16:creationId xmlns:a16="http://schemas.microsoft.com/office/drawing/2014/main" id="{040177F2-C6B3-0E35-A275-5026BCCC7741}"/>
              </a:ext>
            </a:extLst>
          </p:cNvPr>
          <p:cNvGraphicFramePr>
            <a:graphicFrameLocks noGrp="1"/>
          </p:cNvGraphicFramePr>
          <p:nvPr>
            <p:ph idx="1"/>
            <p:extLst>
              <p:ext uri="{D42A27DB-BD31-4B8C-83A1-F6EECF244321}">
                <p14:modId xmlns:p14="http://schemas.microsoft.com/office/powerpoint/2010/main" val="2446614134"/>
              </p:ext>
            </p:extLst>
          </p:nvPr>
        </p:nvGraphicFramePr>
        <p:xfrm>
          <a:off x="838200" y="1825625"/>
          <a:ext cx="10515596" cy="222504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4158342612"/>
                    </a:ext>
                  </a:extLst>
                </a:gridCol>
                <a:gridCol w="1502228">
                  <a:extLst>
                    <a:ext uri="{9D8B030D-6E8A-4147-A177-3AD203B41FA5}">
                      <a16:colId xmlns:a16="http://schemas.microsoft.com/office/drawing/2014/main" val="2525117065"/>
                    </a:ext>
                  </a:extLst>
                </a:gridCol>
                <a:gridCol w="1502228">
                  <a:extLst>
                    <a:ext uri="{9D8B030D-6E8A-4147-A177-3AD203B41FA5}">
                      <a16:colId xmlns:a16="http://schemas.microsoft.com/office/drawing/2014/main" val="3556161921"/>
                    </a:ext>
                  </a:extLst>
                </a:gridCol>
                <a:gridCol w="1502228">
                  <a:extLst>
                    <a:ext uri="{9D8B030D-6E8A-4147-A177-3AD203B41FA5}">
                      <a16:colId xmlns:a16="http://schemas.microsoft.com/office/drawing/2014/main" val="2055648130"/>
                    </a:ext>
                  </a:extLst>
                </a:gridCol>
                <a:gridCol w="1502228">
                  <a:extLst>
                    <a:ext uri="{9D8B030D-6E8A-4147-A177-3AD203B41FA5}">
                      <a16:colId xmlns:a16="http://schemas.microsoft.com/office/drawing/2014/main" val="1056122587"/>
                    </a:ext>
                  </a:extLst>
                </a:gridCol>
                <a:gridCol w="1502228">
                  <a:extLst>
                    <a:ext uri="{9D8B030D-6E8A-4147-A177-3AD203B41FA5}">
                      <a16:colId xmlns:a16="http://schemas.microsoft.com/office/drawing/2014/main" val="3862878977"/>
                    </a:ext>
                  </a:extLst>
                </a:gridCol>
                <a:gridCol w="1502228">
                  <a:extLst>
                    <a:ext uri="{9D8B030D-6E8A-4147-A177-3AD203B41FA5}">
                      <a16:colId xmlns:a16="http://schemas.microsoft.com/office/drawing/2014/main" val="1668849355"/>
                    </a:ext>
                  </a:extLst>
                </a:gridCol>
              </a:tblGrid>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57278292"/>
                  </a:ext>
                </a:extLst>
              </a:tr>
              <a:tr h="370840">
                <a:tc>
                  <a:txBody>
                    <a:bodyPr/>
                    <a:lstStyle/>
                    <a:p>
                      <a:r>
                        <a:rPr lang="en-US" dirty="0" err="1"/>
                        <a:t>Overconfidn</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56941733"/>
                  </a:ext>
                </a:extLst>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2864725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113503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2925888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10973208"/>
                  </a:ext>
                </a:extLst>
              </a:tr>
            </a:tbl>
          </a:graphicData>
        </a:graphic>
      </p:graphicFrame>
    </p:spTree>
    <p:extLst>
      <p:ext uri="{BB962C8B-B14F-4D97-AF65-F5344CB8AC3E}">
        <p14:creationId xmlns:p14="http://schemas.microsoft.com/office/powerpoint/2010/main" val="207503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0918E-C0D2-5120-6470-063B582D0C30}"/>
              </a:ext>
            </a:extLst>
          </p:cNvPr>
          <p:cNvSpPr>
            <a:spLocks noGrp="1"/>
          </p:cNvSpPr>
          <p:nvPr>
            <p:ph type="title"/>
          </p:nvPr>
        </p:nvSpPr>
        <p:spPr>
          <a:xfrm>
            <a:off x="372522" y="192917"/>
            <a:ext cx="4882233" cy="726403"/>
          </a:xfrm>
        </p:spPr>
        <p:txBody>
          <a:bodyPr>
            <a:noAutofit/>
          </a:bodyPr>
          <a:lstStyle/>
          <a:p>
            <a:r>
              <a:rPr lang="en-US" sz="3200" dirty="0"/>
              <a:t>Acute dizziness study</a:t>
            </a:r>
            <a:br>
              <a:rPr lang="en-US" sz="3200" dirty="0"/>
            </a:br>
            <a:r>
              <a:rPr lang="en-US" sz="1400" dirty="0">
                <a:solidFill>
                  <a:schemeClr val="bg1">
                    <a:lumMod val="50000"/>
                  </a:schemeClr>
                </a:solidFill>
              </a:rPr>
              <a:t>(160 UNMC M4s)</a:t>
            </a:r>
            <a:endParaRPr lang="en-US" sz="3200" dirty="0">
              <a:solidFill>
                <a:schemeClr val="bg1">
                  <a:lumMod val="50000"/>
                </a:schemeClr>
              </a:solidFill>
            </a:endParaRPr>
          </a:p>
        </p:txBody>
      </p:sp>
      <p:sp>
        <p:nvSpPr>
          <p:cNvPr id="3" name="Content Placeholder 2">
            <a:extLst>
              <a:ext uri="{FF2B5EF4-FFF2-40B4-BE49-F238E27FC236}">
                <a16:creationId xmlns:a16="http://schemas.microsoft.com/office/drawing/2014/main" id="{D5F42B34-41F2-D5BA-7576-5735502EBDA6}"/>
              </a:ext>
            </a:extLst>
          </p:cNvPr>
          <p:cNvSpPr>
            <a:spLocks noGrp="1"/>
          </p:cNvSpPr>
          <p:nvPr>
            <p:ph idx="1"/>
          </p:nvPr>
        </p:nvSpPr>
        <p:spPr>
          <a:xfrm>
            <a:off x="38747" y="4257386"/>
            <a:ext cx="5004099" cy="2256147"/>
          </a:xfrm>
        </p:spPr>
        <p:txBody>
          <a:bodyPr>
            <a:normAutofit fontScale="92500" lnSpcReduction="10000"/>
          </a:bodyPr>
          <a:lstStyle/>
          <a:p>
            <a:r>
              <a:rPr lang="en-US" sz="1700" b="1" dirty="0"/>
              <a:t>Hypotheses:</a:t>
            </a:r>
          </a:p>
          <a:p>
            <a:pPr lvl="1"/>
            <a:r>
              <a:rPr lang="en-US" sz="1100" dirty="0"/>
              <a:t>Diagnostic accuracy will be greater in the </a:t>
            </a:r>
            <a:r>
              <a:rPr lang="en-US" sz="1100" dirty="0">
                <a:solidFill>
                  <a:srgbClr val="0070C0"/>
                </a:solidFill>
              </a:rPr>
              <a:t>low entropy </a:t>
            </a:r>
            <a:r>
              <a:rPr lang="en-US" sz="1100" dirty="0"/>
              <a:t>group</a:t>
            </a:r>
          </a:p>
          <a:p>
            <a:pPr lvl="1"/>
            <a:r>
              <a:rPr lang="en-US" sz="1100" dirty="0"/>
              <a:t>Higher measured entropy removal will be correlated with higher diagnostic accuracy and more appropriate uncertainty management across sub-groups (SCTs)</a:t>
            </a:r>
          </a:p>
          <a:p>
            <a:pPr lvl="1"/>
            <a:r>
              <a:rPr lang="en-US" sz="1100" dirty="0"/>
              <a:t>Higher diagnostic calibration will be correlated with more appropriate uncertainty management (SCTs)</a:t>
            </a:r>
          </a:p>
          <a:p>
            <a:pPr lvl="1"/>
            <a:r>
              <a:rPr lang="en-US" sz="1100" dirty="0"/>
              <a:t>Low diagnostic calibration phenotypes will be correlated with lower entropy removal per question asked</a:t>
            </a:r>
          </a:p>
          <a:p>
            <a:pPr lvl="1"/>
            <a:r>
              <a:rPr lang="en-US" sz="1100" i="1" dirty="0">
                <a:solidFill>
                  <a:srgbClr val="FF0000"/>
                </a:solidFill>
              </a:rPr>
              <a:t>High entropy</a:t>
            </a:r>
            <a:r>
              <a:rPr lang="en-US" sz="1100" dirty="0"/>
              <a:t> group will ask more clarifying questions to better define the character and have more “angst” about the leading cause (if calibrated)</a:t>
            </a:r>
          </a:p>
          <a:p>
            <a:pPr lvl="1"/>
            <a:r>
              <a:rPr lang="en-US" sz="1100" i="1" dirty="0">
                <a:solidFill>
                  <a:srgbClr val="0070C0"/>
                </a:solidFill>
              </a:rPr>
              <a:t>Low entropy</a:t>
            </a:r>
            <a:r>
              <a:rPr lang="en-US" sz="1100" i="1" dirty="0"/>
              <a:t> </a:t>
            </a:r>
            <a:r>
              <a:rPr lang="en-US" sz="1100" dirty="0"/>
              <a:t>group will ask less questions about timing and triggers and have less “angst” about the leading cause (if calibrated)</a:t>
            </a:r>
          </a:p>
          <a:p>
            <a:pPr lvl="1"/>
            <a:endParaRPr lang="en-US" sz="1200" dirty="0"/>
          </a:p>
        </p:txBody>
      </p:sp>
      <p:sp>
        <p:nvSpPr>
          <p:cNvPr id="4" name="TextBox 3">
            <a:extLst>
              <a:ext uri="{FF2B5EF4-FFF2-40B4-BE49-F238E27FC236}">
                <a16:creationId xmlns:a16="http://schemas.microsoft.com/office/drawing/2014/main" id="{501596DE-FB9B-97EF-EE13-FB5AAF6D0EAB}"/>
              </a:ext>
            </a:extLst>
          </p:cNvPr>
          <p:cNvSpPr txBox="1"/>
          <p:nvPr/>
        </p:nvSpPr>
        <p:spPr>
          <a:xfrm>
            <a:off x="7312960" y="90543"/>
            <a:ext cx="4882233" cy="307777"/>
          </a:xfrm>
          <a:prstGeom prst="rect">
            <a:avLst/>
          </a:prstGeom>
          <a:noFill/>
        </p:spPr>
        <p:txBody>
          <a:bodyPr wrap="square" rtlCol="0">
            <a:spAutoFit/>
          </a:bodyPr>
          <a:lstStyle/>
          <a:p>
            <a:r>
              <a:rPr lang="en-US" sz="1400" dirty="0"/>
              <a:t>160 acutely dizzy sim patients (Chatbot as patient)</a:t>
            </a:r>
          </a:p>
        </p:txBody>
      </p:sp>
      <p:grpSp>
        <p:nvGrpSpPr>
          <p:cNvPr id="15" name="Group 14">
            <a:extLst>
              <a:ext uri="{FF2B5EF4-FFF2-40B4-BE49-F238E27FC236}">
                <a16:creationId xmlns:a16="http://schemas.microsoft.com/office/drawing/2014/main" id="{4A81508E-8246-2466-5D44-5DA70DCE1565}"/>
              </a:ext>
            </a:extLst>
          </p:cNvPr>
          <p:cNvGrpSpPr/>
          <p:nvPr/>
        </p:nvGrpSpPr>
        <p:grpSpPr>
          <a:xfrm>
            <a:off x="8523512" y="444131"/>
            <a:ext cx="968831" cy="506461"/>
            <a:chOff x="8000998" y="831548"/>
            <a:chExt cx="968831" cy="244445"/>
          </a:xfrm>
        </p:grpSpPr>
        <p:cxnSp>
          <p:nvCxnSpPr>
            <p:cNvPr id="6" name="Straight Arrow Connector 5">
              <a:extLst>
                <a:ext uri="{FF2B5EF4-FFF2-40B4-BE49-F238E27FC236}">
                  <a16:creationId xmlns:a16="http://schemas.microsoft.com/office/drawing/2014/main" id="{9DB72392-BD97-8F8A-FE39-215C9928240D}"/>
                </a:ext>
              </a:extLst>
            </p:cNvPr>
            <p:cNvCxnSpPr/>
            <p:nvPr/>
          </p:nvCxnSpPr>
          <p:spPr>
            <a:xfrm flipH="1">
              <a:off x="8000998" y="836508"/>
              <a:ext cx="478971" cy="2394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BA975753-EDDD-F29B-104B-56AE9990A587}"/>
                </a:ext>
              </a:extLst>
            </p:cNvPr>
            <p:cNvCxnSpPr>
              <a:cxnSpLocks/>
            </p:cNvCxnSpPr>
            <p:nvPr/>
          </p:nvCxnSpPr>
          <p:spPr>
            <a:xfrm>
              <a:off x="8479971" y="831548"/>
              <a:ext cx="489858" cy="2243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6" name="TextBox 15">
            <a:extLst>
              <a:ext uri="{FF2B5EF4-FFF2-40B4-BE49-F238E27FC236}">
                <a16:creationId xmlns:a16="http://schemas.microsoft.com/office/drawing/2014/main" id="{30C44342-7B1C-5E47-2F55-AC2C0F9F6AEF}"/>
              </a:ext>
            </a:extLst>
          </p:cNvPr>
          <p:cNvSpPr txBox="1"/>
          <p:nvPr/>
        </p:nvSpPr>
        <p:spPr>
          <a:xfrm>
            <a:off x="6204690" y="1077355"/>
            <a:ext cx="2578372" cy="523220"/>
          </a:xfrm>
          <a:prstGeom prst="rect">
            <a:avLst/>
          </a:prstGeom>
          <a:noFill/>
        </p:spPr>
        <p:txBody>
          <a:bodyPr wrap="square" rtlCol="0">
            <a:spAutoFit/>
          </a:bodyPr>
          <a:lstStyle/>
          <a:p>
            <a:pPr algn="ctr"/>
            <a:r>
              <a:rPr lang="en-US" sz="1600" dirty="0"/>
              <a:t>80 with semantic </a:t>
            </a:r>
            <a:r>
              <a:rPr lang="en-US" sz="1600" i="1" dirty="0">
                <a:solidFill>
                  <a:srgbClr val="FF0000"/>
                </a:solidFill>
              </a:rPr>
              <a:t>noise</a:t>
            </a:r>
          </a:p>
          <a:p>
            <a:pPr algn="ctr"/>
            <a:r>
              <a:rPr lang="en-US" sz="1200" dirty="0"/>
              <a:t>(</a:t>
            </a:r>
            <a:r>
              <a:rPr lang="en-US" sz="1200" dirty="0">
                <a:solidFill>
                  <a:srgbClr val="FF0000"/>
                </a:solidFill>
              </a:rPr>
              <a:t>high entropy </a:t>
            </a:r>
            <a:r>
              <a:rPr lang="en-US" sz="1200" dirty="0"/>
              <a:t>group)</a:t>
            </a:r>
          </a:p>
        </p:txBody>
      </p:sp>
      <p:sp>
        <p:nvSpPr>
          <p:cNvPr id="17" name="TextBox 16">
            <a:extLst>
              <a:ext uri="{FF2B5EF4-FFF2-40B4-BE49-F238E27FC236}">
                <a16:creationId xmlns:a16="http://schemas.microsoft.com/office/drawing/2014/main" id="{41FA5DB9-870F-FF81-28FF-EF248D3B61DD}"/>
              </a:ext>
            </a:extLst>
          </p:cNvPr>
          <p:cNvSpPr txBox="1"/>
          <p:nvPr/>
        </p:nvSpPr>
        <p:spPr>
          <a:xfrm>
            <a:off x="9295841" y="1105179"/>
            <a:ext cx="2601686" cy="523220"/>
          </a:xfrm>
          <a:prstGeom prst="rect">
            <a:avLst/>
          </a:prstGeom>
          <a:noFill/>
        </p:spPr>
        <p:txBody>
          <a:bodyPr wrap="square" rtlCol="0">
            <a:spAutoFit/>
          </a:bodyPr>
          <a:lstStyle/>
          <a:p>
            <a:pPr algn="ctr"/>
            <a:r>
              <a:rPr lang="en-US" sz="1600" dirty="0"/>
              <a:t>80 with semantic </a:t>
            </a:r>
            <a:r>
              <a:rPr lang="en-US" sz="1600" i="1" dirty="0">
                <a:solidFill>
                  <a:srgbClr val="0070C0"/>
                </a:solidFill>
              </a:rPr>
              <a:t>signal</a:t>
            </a:r>
          </a:p>
          <a:p>
            <a:pPr algn="ctr"/>
            <a:r>
              <a:rPr lang="en-US" sz="1200" dirty="0"/>
              <a:t>(</a:t>
            </a:r>
            <a:r>
              <a:rPr lang="en-US" sz="1200" dirty="0">
                <a:solidFill>
                  <a:srgbClr val="0070C0"/>
                </a:solidFill>
              </a:rPr>
              <a:t>low entropy </a:t>
            </a:r>
            <a:r>
              <a:rPr lang="en-US" sz="1200" dirty="0"/>
              <a:t>group)</a:t>
            </a:r>
          </a:p>
        </p:txBody>
      </p:sp>
      <p:sp>
        <p:nvSpPr>
          <p:cNvPr id="18" name="Rectangle: Rounded Corners 17">
            <a:extLst>
              <a:ext uri="{FF2B5EF4-FFF2-40B4-BE49-F238E27FC236}">
                <a16:creationId xmlns:a16="http://schemas.microsoft.com/office/drawing/2014/main" id="{9F4854F2-EDA1-A3AA-2AF0-3E5E1A201EC5}"/>
              </a:ext>
            </a:extLst>
          </p:cNvPr>
          <p:cNvSpPr/>
          <p:nvPr/>
        </p:nvSpPr>
        <p:spPr>
          <a:xfrm>
            <a:off x="5910939" y="1017135"/>
            <a:ext cx="3091545" cy="5159828"/>
          </a:xfrm>
          <a:prstGeom prst="roundRect">
            <a:avLst/>
          </a:prstGeom>
          <a:noFill/>
          <a:ln w="28575">
            <a:solidFill>
              <a:srgbClr val="FF3B3B"/>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5B02F7D5-B1E2-363C-1D18-E4875FA06373}"/>
              </a:ext>
            </a:extLst>
          </p:cNvPr>
          <p:cNvGrpSpPr/>
          <p:nvPr/>
        </p:nvGrpSpPr>
        <p:grpSpPr>
          <a:xfrm>
            <a:off x="6956934" y="1611373"/>
            <a:ext cx="968831" cy="244445"/>
            <a:chOff x="8000998" y="831548"/>
            <a:chExt cx="968831" cy="244445"/>
          </a:xfrm>
        </p:grpSpPr>
        <p:cxnSp>
          <p:nvCxnSpPr>
            <p:cNvPr id="20" name="Straight Arrow Connector 19">
              <a:extLst>
                <a:ext uri="{FF2B5EF4-FFF2-40B4-BE49-F238E27FC236}">
                  <a16:creationId xmlns:a16="http://schemas.microsoft.com/office/drawing/2014/main" id="{E030C08B-34C9-00B8-AEA0-D6CE36E276EA}"/>
                </a:ext>
              </a:extLst>
            </p:cNvPr>
            <p:cNvCxnSpPr/>
            <p:nvPr/>
          </p:nvCxnSpPr>
          <p:spPr>
            <a:xfrm flipH="1">
              <a:off x="8000998" y="836508"/>
              <a:ext cx="478971" cy="2394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357AD88-CE08-71FB-6B4F-F64F90F4F026}"/>
                </a:ext>
              </a:extLst>
            </p:cNvPr>
            <p:cNvCxnSpPr>
              <a:cxnSpLocks/>
            </p:cNvCxnSpPr>
            <p:nvPr/>
          </p:nvCxnSpPr>
          <p:spPr>
            <a:xfrm>
              <a:off x="8479971" y="831548"/>
              <a:ext cx="489858" cy="2243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6F193330-2034-7DD5-FB12-7425A914CEBA}"/>
              </a:ext>
            </a:extLst>
          </p:cNvPr>
          <p:cNvGrpSpPr/>
          <p:nvPr/>
        </p:nvGrpSpPr>
        <p:grpSpPr>
          <a:xfrm>
            <a:off x="10036629" y="1668000"/>
            <a:ext cx="968831" cy="244445"/>
            <a:chOff x="8000998" y="831548"/>
            <a:chExt cx="968831" cy="244445"/>
          </a:xfrm>
        </p:grpSpPr>
        <p:cxnSp>
          <p:nvCxnSpPr>
            <p:cNvPr id="23" name="Straight Arrow Connector 22">
              <a:extLst>
                <a:ext uri="{FF2B5EF4-FFF2-40B4-BE49-F238E27FC236}">
                  <a16:creationId xmlns:a16="http://schemas.microsoft.com/office/drawing/2014/main" id="{200CAEEE-0475-433C-D627-0DDE634FDA7C}"/>
                </a:ext>
              </a:extLst>
            </p:cNvPr>
            <p:cNvCxnSpPr/>
            <p:nvPr/>
          </p:nvCxnSpPr>
          <p:spPr>
            <a:xfrm flipH="1">
              <a:off x="8000998" y="836508"/>
              <a:ext cx="478971" cy="2394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17672C3-959D-3404-0483-10F08D51E293}"/>
                </a:ext>
              </a:extLst>
            </p:cNvPr>
            <p:cNvCxnSpPr>
              <a:cxnSpLocks/>
            </p:cNvCxnSpPr>
            <p:nvPr/>
          </p:nvCxnSpPr>
          <p:spPr>
            <a:xfrm>
              <a:off x="8479971" y="831548"/>
              <a:ext cx="489858" cy="2243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5" name="TextBox 24">
            <a:extLst>
              <a:ext uri="{FF2B5EF4-FFF2-40B4-BE49-F238E27FC236}">
                <a16:creationId xmlns:a16="http://schemas.microsoft.com/office/drawing/2014/main" id="{5F054F15-2AD7-E5B6-D5FD-52117F033513}"/>
              </a:ext>
            </a:extLst>
          </p:cNvPr>
          <p:cNvSpPr txBox="1"/>
          <p:nvPr/>
        </p:nvSpPr>
        <p:spPr>
          <a:xfrm>
            <a:off x="5970808" y="1859075"/>
            <a:ext cx="1191988" cy="738664"/>
          </a:xfrm>
          <a:prstGeom prst="rect">
            <a:avLst/>
          </a:prstGeom>
          <a:noFill/>
        </p:spPr>
        <p:txBody>
          <a:bodyPr wrap="square" rtlCol="0">
            <a:spAutoFit/>
          </a:bodyPr>
          <a:lstStyle/>
          <a:p>
            <a:pPr algn="ctr"/>
            <a:r>
              <a:rPr lang="en-US" sz="1400" dirty="0"/>
              <a:t>40 severe</a:t>
            </a:r>
          </a:p>
          <a:p>
            <a:pPr algn="ctr"/>
            <a:r>
              <a:rPr lang="en-US" sz="1400" dirty="0"/>
              <a:t>&gt; 24 hrs</a:t>
            </a:r>
          </a:p>
          <a:p>
            <a:pPr algn="ctr"/>
            <a:r>
              <a:rPr lang="en-US" sz="1400" dirty="0"/>
              <a:t>+ Red flags</a:t>
            </a:r>
          </a:p>
        </p:txBody>
      </p:sp>
      <p:sp>
        <p:nvSpPr>
          <p:cNvPr id="26" name="TextBox 25">
            <a:extLst>
              <a:ext uri="{FF2B5EF4-FFF2-40B4-BE49-F238E27FC236}">
                <a16:creationId xmlns:a16="http://schemas.microsoft.com/office/drawing/2014/main" id="{A6FDE9B2-B12D-CA49-224D-2A1A252E9A7E}"/>
              </a:ext>
            </a:extLst>
          </p:cNvPr>
          <p:cNvSpPr txBox="1"/>
          <p:nvPr/>
        </p:nvSpPr>
        <p:spPr>
          <a:xfrm>
            <a:off x="7532912" y="1825625"/>
            <a:ext cx="1453242" cy="738664"/>
          </a:xfrm>
          <a:prstGeom prst="rect">
            <a:avLst/>
          </a:prstGeom>
          <a:noFill/>
        </p:spPr>
        <p:txBody>
          <a:bodyPr wrap="square" rtlCol="0">
            <a:spAutoFit/>
          </a:bodyPr>
          <a:lstStyle/>
          <a:p>
            <a:pPr algn="ctr"/>
            <a:r>
              <a:rPr lang="en-US" sz="1400" dirty="0"/>
              <a:t>40 mild</a:t>
            </a:r>
          </a:p>
          <a:p>
            <a:pPr algn="ctr"/>
            <a:r>
              <a:rPr lang="en-US" sz="1400" dirty="0"/>
              <a:t>&lt; 60 minutes</a:t>
            </a:r>
          </a:p>
          <a:p>
            <a:pPr algn="ctr"/>
            <a:r>
              <a:rPr lang="en-US" sz="1400" dirty="0"/>
              <a:t>No red flags</a:t>
            </a:r>
          </a:p>
        </p:txBody>
      </p:sp>
      <p:grpSp>
        <p:nvGrpSpPr>
          <p:cNvPr id="54" name="Group 53">
            <a:extLst>
              <a:ext uri="{FF2B5EF4-FFF2-40B4-BE49-F238E27FC236}">
                <a16:creationId xmlns:a16="http://schemas.microsoft.com/office/drawing/2014/main" id="{780C7280-B58F-5065-9826-5050A05F2FBD}"/>
              </a:ext>
            </a:extLst>
          </p:cNvPr>
          <p:cNvGrpSpPr/>
          <p:nvPr/>
        </p:nvGrpSpPr>
        <p:grpSpPr>
          <a:xfrm>
            <a:off x="5960095" y="2567714"/>
            <a:ext cx="3171575" cy="2857469"/>
            <a:chOff x="5960095" y="2567714"/>
            <a:chExt cx="3171575" cy="2857469"/>
          </a:xfrm>
        </p:grpSpPr>
        <p:grpSp>
          <p:nvGrpSpPr>
            <p:cNvPr id="27" name="Group 26">
              <a:extLst>
                <a:ext uri="{FF2B5EF4-FFF2-40B4-BE49-F238E27FC236}">
                  <a16:creationId xmlns:a16="http://schemas.microsoft.com/office/drawing/2014/main" id="{DCD21540-253E-BADE-4F82-52D66C36B04F}"/>
                </a:ext>
              </a:extLst>
            </p:cNvPr>
            <p:cNvGrpSpPr/>
            <p:nvPr/>
          </p:nvGrpSpPr>
          <p:grpSpPr>
            <a:xfrm>
              <a:off x="6317089" y="2640362"/>
              <a:ext cx="397325" cy="409882"/>
              <a:chOff x="8000998" y="831548"/>
              <a:chExt cx="968831" cy="244445"/>
            </a:xfrm>
          </p:grpSpPr>
          <p:cxnSp>
            <p:nvCxnSpPr>
              <p:cNvPr id="28" name="Straight Arrow Connector 27">
                <a:extLst>
                  <a:ext uri="{FF2B5EF4-FFF2-40B4-BE49-F238E27FC236}">
                    <a16:creationId xmlns:a16="http://schemas.microsoft.com/office/drawing/2014/main" id="{165BC5E2-08A9-051B-F186-E5D437835696}"/>
                  </a:ext>
                </a:extLst>
              </p:cNvPr>
              <p:cNvCxnSpPr/>
              <p:nvPr/>
            </p:nvCxnSpPr>
            <p:spPr>
              <a:xfrm flipH="1">
                <a:off x="8000998" y="836508"/>
                <a:ext cx="478971" cy="2394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D7C9EB65-2BCE-B789-49FB-58A872388EF2}"/>
                  </a:ext>
                </a:extLst>
              </p:cNvPr>
              <p:cNvCxnSpPr>
                <a:cxnSpLocks/>
              </p:cNvCxnSpPr>
              <p:nvPr/>
            </p:nvCxnSpPr>
            <p:spPr>
              <a:xfrm>
                <a:off x="8479971" y="831548"/>
                <a:ext cx="489858" cy="2243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14D82CE-EDA9-6182-AA3B-625EE33FD789}"/>
                </a:ext>
              </a:extLst>
            </p:cNvPr>
            <p:cNvGrpSpPr/>
            <p:nvPr/>
          </p:nvGrpSpPr>
          <p:grpSpPr>
            <a:xfrm>
              <a:off x="7043297" y="2567714"/>
              <a:ext cx="1201026" cy="1433580"/>
              <a:chOff x="5779155" y="836508"/>
              <a:chExt cx="2928562" cy="854957"/>
            </a:xfrm>
          </p:grpSpPr>
          <p:cxnSp>
            <p:nvCxnSpPr>
              <p:cNvPr id="31" name="Straight Arrow Connector 30">
                <a:extLst>
                  <a:ext uri="{FF2B5EF4-FFF2-40B4-BE49-F238E27FC236}">
                    <a16:creationId xmlns:a16="http://schemas.microsoft.com/office/drawing/2014/main" id="{8DD52E64-826E-51B4-8BB7-517E3731B049}"/>
                  </a:ext>
                </a:extLst>
              </p:cNvPr>
              <p:cNvCxnSpPr>
                <a:cxnSpLocks/>
              </p:cNvCxnSpPr>
              <p:nvPr/>
            </p:nvCxnSpPr>
            <p:spPr>
              <a:xfrm flipH="1">
                <a:off x="5779155" y="836508"/>
                <a:ext cx="2700815" cy="8549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204D735-DD08-F69A-8C56-47FB4525AB8B}"/>
                  </a:ext>
                </a:extLst>
              </p:cNvPr>
              <p:cNvCxnSpPr>
                <a:cxnSpLocks/>
                <a:endCxn id="35" idx="0"/>
              </p:cNvCxnSpPr>
              <p:nvPr/>
            </p:nvCxnSpPr>
            <p:spPr>
              <a:xfrm>
                <a:off x="8466141" y="851907"/>
                <a:ext cx="241576" cy="5511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3" name="TextBox 32">
              <a:extLst>
                <a:ext uri="{FF2B5EF4-FFF2-40B4-BE49-F238E27FC236}">
                  <a16:creationId xmlns:a16="http://schemas.microsoft.com/office/drawing/2014/main" id="{84E19094-C790-6C2C-574D-04909124CE61}"/>
                </a:ext>
              </a:extLst>
            </p:cNvPr>
            <p:cNvSpPr txBox="1"/>
            <p:nvPr/>
          </p:nvSpPr>
          <p:spPr>
            <a:xfrm>
              <a:off x="5960095" y="3007917"/>
              <a:ext cx="655864" cy="461665"/>
            </a:xfrm>
            <a:prstGeom prst="rect">
              <a:avLst/>
            </a:prstGeom>
            <a:noFill/>
          </p:spPr>
          <p:txBody>
            <a:bodyPr wrap="square" rtlCol="0">
              <a:spAutoFit/>
            </a:bodyPr>
            <a:lstStyle/>
            <a:p>
              <a:r>
                <a:rPr lang="en-US" sz="1200" dirty="0"/>
                <a:t>CVA</a:t>
              </a:r>
            </a:p>
            <a:p>
              <a:r>
                <a:rPr lang="en-US" sz="1200" dirty="0">
                  <a:solidFill>
                    <a:schemeClr val="bg1">
                      <a:lumMod val="50000"/>
                    </a:schemeClr>
                  </a:solidFill>
                </a:rPr>
                <a:t>N = 20</a:t>
              </a:r>
            </a:p>
          </p:txBody>
        </p:sp>
        <p:sp>
          <p:nvSpPr>
            <p:cNvPr id="34" name="TextBox 33">
              <a:extLst>
                <a:ext uri="{FF2B5EF4-FFF2-40B4-BE49-F238E27FC236}">
                  <a16:creationId xmlns:a16="http://schemas.microsoft.com/office/drawing/2014/main" id="{937D904E-B345-7FA8-ED98-2A00E1ED8257}"/>
                </a:ext>
              </a:extLst>
            </p:cNvPr>
            <p:cNvSpPr txBox="1"/>
            <p:nvPr/>
          </p:nvSpPr>
          <p:spPr>
            <a:xfrm>
              <a:off x="6435476" y="3007917"/>
              <a:ext cx="960176" cy="646331"/>
            </a:xfrm>
            <a:prstGeom prst="rect">
              <a:avLst/>
            </a:prstGeom>
            <a:noFill/>
          </p:spPr>
          <p:txBody>
            <a:bodyPr wrap="square" rtlCol="0">
              <a:spAutoFit/>
            </a:bodyPr>
            <a:lstStyle/>
            <a:p>
              <a:pPr algn="ctr"/>
              <a:r>
                <a:rPr lang="en-US" sz="1200" dirty="0"/>
                <a:t>Vestibular neuritis</a:t>
              </a:r>
            </a:p>
            <a:p>
              <a:pPr algn="ctr"/>
              <a:r>
                <a:rPr lang="en-US" sz="1200" dirty="0">
                  <a:solidFill>
                    <a:schemeClr val="bg1">
                      <a:lumMod val="50000"/>
                    </a:schemeClr>
                  </a:solidFill>
                </a:rPr>
                <a:t>N = 20</a:t>
              </a:r>
            </a:p>
          </p:txBody>
        </p:sp>
        <p:sp>
          <p:nvSpPr>
            <p:cNvPr id="35" name="TextBox 34">
              <a:extLst>
                <a:ext uri="{FF2B5EF4-FFF2-40B4-BE49-F238E27FC236}">
                  <a16:creationId xmlns:a16="http://schemas.microsoft.com/office/drawing/2014/main" id="{53511482-6536-78C4-2348-C4D5799F9D7C}"/>
                </a:ext>
              </a:extLst>
            </p:cNvPr>
            <p:cNvSpPr txBox="1"/>
            <p:nvPr/>
          </p:nvSpPr>
          <p:spPr>
            <a:xfrm>
              <a:off x="7647125" y="3517713"/>
              <a:ext cx="1194396" cy="1000274"/>
            </a:xfrm>
            <a:prstGeom prst="rect">
              <a:avLst/>
            </a:prstGeom>
            <a:noFill/>
          </p:spPr>
          <p:txBody>
            <a:bodyPr wrap="square" rtlCol="0">
              <a:spAutoFit/>
            </a:bodyPr>
            <a:lstStyle/>
            <a:p>
              <a:pPr algn="ctr"/>
              <a:r>
                <a:rPr lang="en-US" sz="1200" dirty="0"/>
                <a:t>Orthostatics</a:t>
              </a:r>
            </a:p>
            <a:p>
              <a:pPr algn="ctr"/>
              <a:r>
                <a:rPr lang="en-US" sz="1200" dirty="0"/>
                <a:t>mildly negative</a:t>
              </a:r>
            </a:p>
            <a:p>
              <a:pPr algn="ctr"/>
              <a:r>
                <a:rPr lang="en-US" sz="1200" dirty="0"/>
                <a:t>(equivocal)</a:t>
              </a:r>
            </a:p>
            <a:p>
              <a:pPr algn="ctr"/>
              <a:endParaRPr lang="en-US" sz="1100" dirty="0"/>
            </a:p>
            <a:p>
              <a:pPr algn="ctr"/>
              <a:r>
                <a:rPr lang="en-US" sz="1200" dirty="0"/>
                <a:t>no recent n/v/d</a:t>
              </a:r>
            </a:p>
          </p:txBody>
        </p:sp>
        <p:sp>
          <p:nvSpPr>
            <p:cNvPr id="38" name="TextBox 37">
              <a:extLst>
                <a:ext uri="{FF2B5EF4-FFF2-40B4-BE49-F238E27FC236}">
                  <a16:creationId xmlns:a16="http://schemas.microsoft.com/office/drawing/2014/main" id="{1A7FB6A0-F8D6-F181-F15B-1E82D6153F46}"/>
                </a:ext>
              </a:extLst>
            </p:cNvPr>
            <p:cNvSpPr txBox="1"/>
            <p:nvPr/>
          </p:nvSpPr>
          <p:spPr>
            <a:xfrm>
              <a:off x="6227115" y="4040188"/>
              <a:ext cx="1300682" cy="1384995"/>
            </a:xfrm>
            <a:prstGeom prst="rect">
              <a:avLst/>
            </a:prstGeom>
            <a:noFill/>
          </p:spPr>
          <p:txBody>
            <a:bodyPr wrap="square" rtlCol="0">
              <a:spAutoFit/>
            </a:bodyPr>
            <a:lstStyle/>
            <a:p>
              <a:pPr algn="ctr"/>
              <a:r>
                <a:rPr lang="en-US" sz="1200" dirty="0"/>
                <a:t>Orthostatics</a:t>
              </a:r>
            </a:p>
            <a:p>
              <a:pPr algn="ctr"/>
              <a:r>
                <a:rPr lang="en-US" sz="1200" dirty="0"/>
                <a:t>mildly positive</a:t>
              </a:r>
            </a:p>
            <a:p>
              <a:pPr algn="ctr"/>
              <a:r>
                <a:rPr lang="en-US" sz="1200" dirty="0"/>
                <a:t>(equivocal)</a:t>
              </a:r>
            </a:p>
            <a:p>
              <a:pPr algn="ctr"/>
              <a:r>
                <a:rPr lang="en-US" sz="1200" dirty="0">
                  <a:solidFill>
                    <a:schemeClr val="bg1">
                      <a:lumMod val="50000"/>
                    </a:schemeClr>
                  </a:solidFill>
                </a:rPr>
                <a:t>N = 15</a:t>
              </a:r>
            </a:p>
            <a:p>
              <a:pPr algn="ctr"/>
              <a:endParaRPr lang="en-US" sz="1200" dirty="0"/>
            </a:p>
            <a:p>
              <a:pPr algn="ctr"/>
              <a:r>
                <a:rPr lang="en-US" sz="1200" dirty="0"/>
                <a:t>New recent BP medication + PD</a:t>
              </a:r>
            </a:p>
          </p:txBody>
        </p:sp>
        <p:grpSp>
          <p:nvGrpSpPr>
            <p:cNvPr id="45" name="Group 44">
              <a:extLst>
                <a:ext uri="{FF2B5EF4-FFF2-40B4-BE49-F238E27FC236}">
                  <a16:creationId xmlns:a16="http://schemas.microsoft.com/office/drawing/2014/main" id="{CDBFCDF1-AA6C-EF6A-F263-D352F44675FC}"/>
                </a:ext>
              </a:extLst>
            </p:cNvPr>
            <p:cNvGrpSpPr/>
            <p:nvPr/>
          </p:nvGrpSpPr>
          <p:grpSpPr>
            <a:xfrm>
              <a:off x="7937208" y="4531920"/>
              <a:ext cx="586304" cy="333221"/>
              <a:chOff x="7828596" y="4555348"/>
              <a:chExt cx="586304" cy="333221"/>
            </a:xfrm>
          </p:grpSpPr>
          <p:cxnSp>
            <p:nvCxnSpPr>
              <p:cNvPr id="41" name="Straight Arrow Connector 40">
                <a:extLst>
                  <a:ext uri="{FF2B5EF4-FFF2-40B4-BE49-F238E27FC236}">
                    <a16:creationId xmlns:a16="http://schemas.microsoft.com/office/drawing/2014/main" id="{7659F378-8E45-8A22-A0C3-D022B41800B8}"/>
                  </a:ext>
                </a:extLst>
              </p:cNvPr>
              <p:cNvCxnSpPr>
                <a:cxnSpLocks/>
                <a:endCxn id="46" idx="0"/>
              </p:cNvCxnSpPr>
              <p:nvPr/>
            </p:nvCxnSpPr>
            <p:spPr>
              <a:xfrm flipH="1">
                <a:off x="7828596" y="4555348"/>
                <a:ext cx="327931" cy="333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05D16A3D-894E-87F1-5798-600D681D6E12}"/>
                  </a:ext>
                </a:extLst>
              </p:cNvPr>
              <p:cNvCxnSpPr>
                <a:cxnSpLocks/>
              </p:cNvCxnSpPr>
              <p:nvPr/>
            </p:nvCxnSpPr>
            <p:spPr>
              <a:xfrm>
                <a:off x="8156528" y="4571904"/>
                <a:ext cx="258372" cy="3122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46" name="TextBox 45">
              <a:extLst>
                <a:ext uri="{FF2B5EF4-FFF2-40B4-BE49-F238E27FC236}">
                  <a16:creationId xmlns:a16="http://schemas.microsoft.com/office/drawing/2014/main" id="{0266A8D4-4413-BD06-15F9-E7899854EE40}"/>
                </a:ext>
              </a:extLst>
            </p:cNvPr>
            <p:cNvSpPr txBox="1"/>
            <p:nvPr/>
          </p:nvSpPr>
          <p:spPr>
            <a:xfrm>
              <a:off x="7609276" y="4865141"/>
              <a:ext cx="655864" cy="461665"/>
            </a:xfrm>
            <a:prstGeom prst="rect">
              <a:avLst/>
            </a:prstGeom>
            <a:noFill/>
          </p:spPr>
          <p:txBody>
            <a:bodyPr wrap="square" rtlCol="0">
              <a:spAutoFit/>
            </a:bodyPr>
            <a:lstStyle/>
            <a:p>
              <a:r>
                <a:rPr lang="en-US" sz="1200" dirty="0"/>
                <a:t>BPPV</a:t>
              </a:r>
            </a:p>
            <a:p>
              <a:r>
                <a:rPr lang="en-US" sz="1200" dirty="0">
                  <a:solidFill>
                    <a:schemeClr val="bg1">
                      <a:lumMod val="50000"/>
                    </a:schemeClr>
                  </a:solidFill>
                </a:rPr>
                <a:t>N = 15</a:t>
              </a:r>
            </a:p>
          </p:txBody>
        </p:sp>
        <p:sp>
          <p:nvSpPr>
            <p:cNvPr id="47" name="TextBox 46">
              <a:extLst>
                <a:ext uri="{FF2B5EF4-FFF2-40B4-BE49-F238E27FC236}">
                  <a16:creationId xmlns:a16="http://schemas.microsoft.com/office/drawing/2014/main" id="{6A4C9093-7DDF-5ECB-6DD6-9FD709C26670}"/>
                </a:ext>
              </a:extLst>
            </p:cNvPr>
            <p:cNvSpPr txBox="1"/>
            <p:nvPr/>
          </p:nvSpPr>
          <p:spPr>
            <a:xfrm>
              <a:off x="8225363" y="4860759"/>
              <a:ext cx="906307" cy="461665"/>
            </a:xfrm>
            <a:prstGeom prst="rect">
              <a:avLst/>
            </a:prstGeom>
            <a:noFill/>
          </p:spPr>
          <p:txBody>
            <a:bodyPr wrap="square" rtlCol="0">
              <a:spAutoFit/>
            </a:bodyPr>
            <a:lstStyle/>
            <a:p>
              <a:r>
                <a:rPr lang="en-US" sz="1200" dirty="0"/>
                <a:t>Meniere’s</a:t>
              </a:r>
            </a:p>
            <a:p>
              <a:r>
                <a:rPr lang="en-US" sz="1200" dirty="0">
                  <a:solidFill>
                    <a:schemeClr val="bg1">
                      <a:lumMod val="50000"/>
                    </a:schemeClr>
                  </a:solidFill>
                </a:rPr>
                <a:t>N = 10</a:t>
              </a:r>
            </a:p>
          </p:txBody>
        </p:sp>
      </p:grpSp>
      <p:sp>
        <p:nvSpPr>
          <p:cNvPr id="49" name="Rectangle: Rounded Corners 48">
            <a:extLst>
              <a:ext uri="{FF2B5EF4-FFF2-40B4-BE49-F238E27FC236}">
                <a16:creationId xmlns:a16="http://schemas.microsoft.com/office/drawing/2014/main" id="{C048DB2C-E146-AEA6-5B7E-0E9BB79BDBB3}"/>
              </a:ext>
            </a:extLst>
          </p:cNvPr>
          <p:cNvSpPr/>
          <p:nvPr/>
        </p:nvSpPr>
        <p:spPr>
          <a:xfrm>
            <a:off x="9059953" y="1027906"/>
            <a:ext cx="3091545" cy="5159828"/>
          </a:xfrm>
          <a:prstGeom prst="roundRect">
            <a:avLst/>
          </a:prstGeom>
          <a:noFill/>
          <a:ln w="0">
            <a:solidFill>
              <a:srgbClr val="00206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7E92E3F1-3B14-B2CD-67D2-EE5E7E48FC3E}"/>
              </a:ext>
            </a:extLst>
          </p:cNvPr>
          <p:cNvSpPr txBox="1"/>
          <p:nvPr/>
        </p:nvSpPr>
        <p:spPr>
          <a:xfrm>
            <a:off x="6084722" y="403795"/>
            <a:ext cx="2644740" cy="553998"/>
          </a:xfrm>
          <a:prstGeom prst="rect">
            <a:avLst/>
          </a:prstGeom>
          <a:noFill/>
        </p:spPr>
        <p:txBody>
          <a:bodyPr wrap="square" rtlCol="0">
            <a:spAutoFit/>
          </a:bodyPr>
          <a:lstStyle/>
          <a:p>
            <a:r>
              <a:rPr lang="en-US" sz="1000" dirty="0"/>
              <a:t>Chatbot says “woozy” rotating with “off kilter” and “dizzy” : </a:t>
            </a:r>
            <a:r>
              <a:rPr lang="en-US" sz="1000" dirty="0">
                <a:solidFill>
                  <a:srgbClr val="FF0000"/>
                </a:solidFill>
              </a:rPr>
              <a:t>ambiguous</a:t>
            </a:r>
            <a:r>
              <a:rPr lang="en-US" sz="1000" dirty="0"/>
              <a:t>, unreliable character of dizziness (“maybe” motion)</a:t>
            </a:r>
          </a:p>
        </p:txBody>
      </p:sp>
      <p:sp>
        <p:nvSpPr>
          <p:cNvPr id="51" name="TextBox 50">
            <a:extLst>
              <a:ext uri="{FF2B5EF4-FFF2-40B4-BE49-F238E27FC236}">
                <a16:creationId xmlns:a16="http://schemas.microsoft.com/office/drawing/2014/main" id="{ADE048FD-91E9-C23D-4632-E9E22B39C178}"/>
              </a:ext>
            </a:extLst>
          </p:cNvPr>
          <p:cNvSpPr txBox="1"/>
          <p:nvPr/>
        </p:nvSpPr>
        <p:spPr>
          <a:xfrm>
            <a:off x="9559429" y="435251"/>
            <a:ext cx="2644740" cy="553998"/>
          </a:xfrm>
          <a:prstGeom prst="rect">
            <a:avLst/>
          </a:prstGeom>
          <a:noFill/>
        </p:spPr>
        <p:txBody>
          <a:bodyPr wrap="square" rtlCol="0">
            <a:spAutoFit/>
          </a:bodyPr>
          <a:lstStyle/>
          <a:p>
            <a:r>
              <a:rPr lang="en-US" sz="1000" dirty="0"/>
              <a:t>Chatbot reports sensation of spinning, motion sickness, vertigo OR orthostasis : </a:t>
            </a:r>
            <a:r>
              <a:rPr lang="en-US" sz="1000" dirty="0">
                <a:solidFill>
                  <a:srgbClr val="0070C0"/>
                </a:solidFill>
              </a:rPr>
              <a:t>unambiguous</a:t>
            </a:r>
            <a:r>
              <a:rPr lang="en-US" sz="1000" dirty="0">
                <a:solidFill>
                  <a:srgbClr val="4C9BD3"/>
                </a:solidFill>
              </a:rPr>
              <a:t> </a:t>
            </a:r>
            <a:r>
              <a:rPr lang="en-US" sz="1000" dirty="0"/>
              <a:t>character of dizziness</a:t>
            </a:r>
          </a:p>
        </p:txBody>
      </p:sp>
      <p:sp>
        <p:nvSpPr>
          <p:cNvPr id="52" name="TextBox 51">
            <a:extLst>
              <a:ext uri="{FF2B5EF4-FFF2-40B4-BE49-F238E27FC236}">
                <a16:creationId xmlns:a16="http://schemas.microsoft.com/office/drawing/2014/main" id="{9C3413B5-ACE4-A4EB-D395-537CED39A895}"/>
              </a:ext>
            </a:extLst>
          </p:cNvPr>
          <p:cNvSpPr txBox="1"/>
          <p:nvPr/>
        </p:nvSpPr>
        <p:spPr>
          <a:xfrm>
            <a:off x="9226053" y="1912445"/>
            <a:ext cx="1191988" cy="738664"/>
          </a:xfrm>
          <a:prstGeom prst="rect">
            <a:avLst/>
          </a:prstGeom>
          <a:noFill/>
        </p:spPr>
        <p:txBody>
          <a:bodyPr wrap="square" rtlCol="0">
            <a:spAutoFit/>
          </a:bodyPr>
          <a:lstStyle/>
          <a:p>
            <a:pPr algn="ctr"/>
            <a:r>
              <a:rPr lang="en-US" sz="1400" dirty="0"/>
              <a:t>40 severe</a:t>
            </a:r>
          </a:p>
          <a:p>
            <a:pPr algn="ctr"/>
            <a:r>
              <a:rPr lang="en-US" sz="1400" dirty="0"/>
              <a:t>&gt; 24 hrs</a:t>
            </a:r>
          </a:p>
          <a:p>
            <a:pPr algn="ctr"/>
            <a:r>
              <a:rPr lang="en-US" sz="1400" dirty="0"/>
              <a:t> +Red flags</a:t>
            </a:r>
          </a:p>
        </p:txBody>
      </p:sp>
      <p:sp>
        <p:nvSpPr>
          <p:cNvPr id="53" name="TextBox 52">
            <a:extLst>
              <a:ext uri="{FF2B5EF4-FFF2-40B4-BE49-F238E27FC236}">
                <a16:creationId xmlns:a16="http://schemas.microsoft.com/office/drawing/2014/main" id="{6168BB6B-C65F-9D38-EB71-4C1FB82F9E87}"/>
              </a:ext>
            </a:extLst>
          </p:cNvPr>
          <p:cNvSpPr txBox="1"/>
          <p:nvPr/>
        </p:nvSpPr>
        <p:spPr>
          <a:xfrm>
            <a:off x="10605725" y="1912445"/>
            <a:ext cx="1453242" cy="738664"/>
          </a:xfrm>
          <a:prstGeom prst="rect">
            <a:avLst/>
          </a:prstGeom>
          <a:noFill/>
        </p:spPr>
        <p:txBody>
          <a:bodyPr wrap="square" rtlCol="0">
            <a:spAutoFit/>
          </a:bodyPr>
          <a:lstStyle/>
          <a:p>
            <a:pPr algn="ctr"/>
            <a:r>
              <a:rPr lang="en-US" sz="1400" dirty="0"/>
              <a:t>40 mild</a:t>
            </a:r>
          </a:p>
          <a:p>
            <a:pPr algn="ctr"/>
            <a:r>
              <a:rPr lang="en-US" sz="1400" dirty="0"/>
              <a:t>&lt; 60 minutes</a:t>
            </a:r>
          </a:p>
          <a:p>
            <a:pPr algn="ctr"/>
            <a:r>
              <a:rPr lang="en-US" sz="1400" dirty="0"/>
              <a:t>No red flags</a:t>
            </a:r>
          </a:p>
        </p:txBody>
      </p:sp>
      <p:grpSp>
        <p:nvGrpSpPr>
          <p:cNvPr id="55" name="Group 54">
            <a:extLst>
              <a:ext uri="{FF2B5EF4-FFF2-40B4-BE49-F238E27FC236}">
                <a16:creationId xmlns:a16="http://schemas.microsoft.com/office/drawing/2014/main" id="{2BDB6204-8FE4-B1E5-09F0-11D6156146DD}"/>
              </a:ext>
            </a:extLst>
          </p:cNvPr>
          <p:cNvGrpSpPr/>
          <p:nvPr/>
        </p:nvGrpSpPr>
        <p:grpSpPr>
          <a:xfrm>
            <a:off x="9166183" y="2648679"/>
            <a:ext cx="3115460" cy="2804230"/>
            <a:chOff x="6016210" y="2559397"/>
            <a:chExt cx="3115460" cy="2804230"/>
          </a:xfrm>
        </p:grpSpPr>
        <p:grpSp>
          <p:nvGrpSpPr>
            <p:cNvPr id="56" name="Group 55">
              <a:extLst>
                <a:ext uri="{FF2B5EF4-FFF2-40B4-BE49-F238E27FC236}">
                  <a16:creationId xmlns:a16="http://schemas.microsoft.com/office/drawing/2014/main" id="{42F49E9E-E73B-7CE7-557E-6C91046010EB}"/>
                </a:ext>
              </a:extLst>
            </p:cNvPr>
            <p:cNvGrpSpPr/>
            <p:nvPr/>
          </p:nvGrpSpPr>
          <p:grpSpPr>
            <a:xfrm>
              <a:off x="6358678" y="2607400"/>
              <a:ext cx="397325" cy="409880"/>
              <a:chOff x="8102408" y="811891"/>
              <a:chExt cx="968831" cy="244444"/>
            </a:xfrm>
          </p:grpSpPr>
          <p:cxnSp>
            <p:nvCxnSpPr>
              <p:cNvPr id="69" name="Straight Arrow Connector 68">
                <a:extLst>
                  <a:ext uri="{FF2B5EF4-FFF2-40B4-BE49-F238E27FC236}">
                    <a16:creationId xmlns:a16="http://schemas.microsoft.com/office/drawing/2014/main" id="{9421332A-7753-4006-F212-34A5478B9A44}"/>
                  </a:ext>
                </a:extLst>
              </p:cNvPr>
              <p:cNvCxnSpPr/>
              <p:nvPr/>
            </p:nvCxnSpPr>
            <p:spPr>
              <a:xfrm flipH="1">
                <a:off x="8102408" y="816850"/>
                <a:ext cx="478972" cy="2394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6507DCAF-3F5E-39E0-1E14-86A7B65406A4}"/>
                  </a:ext>
                </a:extLst>
              </p:cNvPr>
              <p:cNvCxnSpPr>
                <a:cxnSpLocks/>
              </p:cNvCxnSpPr>
              <p:nvPr/>
            </p:nvCxnSpPr>
            <p:spPr>
              <a:xfrm>
                <a:off x="8581380" y="811891"/>
                <a:ext cx="489859" cy="2243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57" name="Group 56">
              <a:extLst>
                <a:ext uri="{FF2B5EF4-FFF2-40B4-BE49-F238E27FC236}">
                  <a16:creationId xmlns:a16="http://schemas.microsoft.com/office/drawing/2014/main" id="{1071B100-A131-CDC6-6CFA-3C60CC4990D8}"/>
                </a:ext>
              </a:extLst>
            </p:cNvPr>
            <p:cNvGrpSpPr/>
            <p:nvPr/>
          </p:nvGrpSpPr>
          <p:grpSpPr>
            <a:xfrm>
              <a:off x="7043297" y="2559397"/>
              <a:ext cx="1163177" cy="1441897"/>
              <a:chOff x="5779155" y="831548"/>
              <a:chExt cx="2836272" cy="859917"/>
            </a:xfrm>
          </p:grpSpPr>
          <p:cxnSp>
            <p:nvCxnSpPr>
              <p:cNvPr id="67" name="Straight Arrow Connector 66">
                <a:extLst>
                  <a:ext uri="{FF2B5EF4-FFF2-40B4-BE49-F238E27FC236}">
                    <a16:creationId xmlns:a16="http://schemas.microsoft.com/office/drawing/2014/main" id="{C99B0402-F692-1F5F-75F2-B88F3B76B47E}"/>
                  </a:ext>
                </a:extLst>
              </p:cNvPr>
              <p:cNvCxnSpPr>
                <a:cxnSpLocks/>
              </p:cNvCxnSpPr>
              <p:nvPr/>
            </p:nvCxnSpPr>
            <p:spPr>
              <a:xfrm flipH="1">
                <a:off x="5779155" y="836508"/>
                <a:ext cx="2700815" cy="8549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AA8ABEE1-17D3-CE79-278C-7241265DBAD6}"/>
                  </a:ext>
                </a:extLst>
              </p:cNvPr>
              <p:cNvCxnSpPr>
                <a:cxnSpLocks/>
                <a:endCxn id="60" idx="0"/>
              </p:cNvCxnSpPr>
              <p:nvPr/>
            </p:nvCxnSpPr>
            <p:spPr>
              <a:xfrm>
                <a:off x="8479970" y="831548"/>
                <a:ext cx="135457" cy="481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58" name="TextBox 57">
              <a:extLst>
                <a:ext uri="{FF2B5EF4-FFF2-40B4-BE49-F238E27FC236}">
                  <a16:creationId xmlns:a16="http://schemas.microsoft.com/office/drawing/2014/main" id="{954DC07A-06B1-BA79-4ADC-0929761A6B15}"/>
                </a:ext>
              </a:extLst>
            </p:cNvPr>
            <p:cNvSpPr txBox="1"/>
            <p:nvPr/>
          </p:nvSpPr>
          <p:spPr>
            <a:xfrm>
              <a:off x="6016210" y="2995818"/>
              <a:ext cx="655864" cy="461665"/>
            </a:xfrm>
            <a:prstGeom prst="rect">
              <a:avLst/>
            </a:prstGeom>
            <a:noFill/>
          </p:spPr>
          <p:txBody>
            <a:bodyPr wrap="square" rtlCol="0">
              <a:spAutoFit/>
            </a:bodyPr>
            <a:lstStyle/>
            <a:p>
              <a:r>
                <a:rPr lang="en-US" sz="1200" dirty="0"/>
                <a:t>CVA</a:t>
              </a:r>
            </a:p>
            <a:p>
              <a:r>
                <a:rPr lang="en-US" sz="1200" dirty="0">
                  <a:solidFill>
                    <a:schemeClr val="bg1">
                      <a:lumMod val="50000"/>
                    </a:schemeClr>
                  </a:solidFill>
                </a:rPr>
                <a:t>N = 20</a:t>
              </a:r>
            </a:p>
          </p:txBody>
        </p:sp>
        <p:sp>
          <p:nvSpPr>
            <p:cNvPr id="59" name="TextBox 58">
              <a:extLst>
                <a:ext uri="{FF2B5EF4-FFF2-40B4-BE49-F238E27FC236}">
                  <a16:creationId xmlns:a16="http://schemas.microsoft.com/office/drawing/2014/main" id="{45D021CF-7B04-76F8-8738-6605BBF6B2A5}"/>
                </a:ext>
              </a:extLst>
            </p:cNvPr>
            <p:cNvSpPr txBox="1"/>
            <p:nvPr/>
          </p:nvSpPr>
          <p:spPr>
            <a:xfrm>
              <a:off x="6441147" y="2975195"/>
              <a:ext cx="960176" cy="646331"/>
            </a:xfrm>
            <a:prstGeom prst="rect">
              <a:avLst/>
            </a:prstGeom>
            <a:noFill/>
          </p:spPr>
          <p:txBody>
            <a:bodyPr wrap="square" rtlCol="0">
              <a:spAutoFit/>
            </a:bodyPr>
            <a:lstStyle/>
            <a:p>
              <a:pPr algn="ctr"/>
              <a:r>
                <a:rPr lang="en-US" sz="1200" dirty="0"/>
                <a:t>Vestibular neuritis</a:t>
              </a:r>
            </a:p>
            <a:p>
              <a:pPr algn="ctr"/>
              <a:r>
                <a:rPr lang="en-US" sz="1200" dirty="0">
                  <a:solidFill>
                    <a:schemeClr val="bg1">
                      <a:lumMod val="50000"/>
                    </a:schemeClr>
                  </a:solidFill>
                </a:rPr>
                <a:t>N = 20</a:t>
              </a:r>
            </a:p>
          </p:txBody>
        </p:sp>
        <p:sp>
          <p:nvSpPr>
            <p:cNvPr id="60" name="TextBox 59">
              <a:extLst>
                <a:ext uri="{FF2B5EF4-FFF2-40B4-BE49-F238E27FC236}">
                  <a16:creationId xmlns:a16="http://schemas.microsoft.com/office/drawing/2014/main" id="{F928FD0F-3B0B-450B-1B36-DF0A26CEA33B}"/>
                </a:ext>
              </a:extLst>
            </p:cNvPr>
            <p:cNvSpPr txBox="1"/>
            <p:nvPr/>
          </p:nvSpPr>
          <p:spPr>
            <a:xfrm>
              <a:off x="7609276" y="3366216"/>
              <a:ext cx="1194396" cy="923330"/>
            </a:xfrm>
            <a:prstGeom prst="rect">
              <a:avLst/>
            </a:prstGeom>
            <a:noFill/>
          </p:spPr>
          <p:txBody>
            <a:bodyPr wrap="square" rtlCol="0">
              <a:spAutoFit/>
            </a:bodyPr>
            <a:lstStyle/>
            <a:p>
              <a:pPr algn="ctr"/>
              <a:r>
                <a:rPr lang="en-US" sz="1200" dirty="0"/>
                <a:t>Orthostatics</a:t>
              </a:r>
            </a:p>
            <a:p>
              <a:pPr algn="ctr"/>
              <a:r>
                <a:rPr lang="en-US" sz="1200" dirty="0"/>
                <a:t>unequivocally negative</a:t>
              </a:r>
            </a:p>
            <a:p>
              <a:pPr algn="ctr"/>
              <a:endParaRPr lang="en-US" sz="600" dirty="0"/>
            </a:p>
            <a:p>
              <a:pPr algn="ctr"/>
              <a:r>
                <a:rPr lang="en-US" sz="1200" dirty="0"/>
                <a:t>no recent n/v/d</a:t>
              </a:r>
            </a:p>
          </p:txBody>
        </p:sp>
        <p:sp>
          <p:nvSpPr>
            <p:cNvPr id="61" name="TextBox 60">
              <a:extLst>
                <a:ext uri="{FF2B5EF4-FFF2-40B4-BE49-F238E27FC236}">
                  <a16:creationId xmlns:a16="http://schemas.microsoft.com/office/drawing/2014/main" id="{EE048951-9A56-F63A-C668-949C1FDF2035}"/>
                </a:ext>
              </a:extLst>
            </p:cNvPr>
            <p:cNvSpPr txBox="1"/>
            <p:nvPr/>
          </p:nvSpPr>
          <p:spPr>
            <a:xfrm>
              <a:off x="6227115" y="4040188"/>
              <a:ext cx="1300682" cy="1323439"/>
            </a:xfrm>
            <a:prstGeom prst="rect">
              <a:avLst/>
            </a:prstGeom>
            <a:noFill/>
          </p:spPr>
          <p:txBody>
            <a:bodyPr wrap="square" rtlCol="0">
              <a:spAutoFit/>
            </a:bodyPr>
            <a:lstStyle/>
            <a:p>
              <a:pPr algn="ctr"/>
              <a:r>
                <a:rPr lang="en-US" sz="1200" dirty="0"/>
                <a:t>Orthostatics</a:t>
              </a:r>
            </a:p>
            <a:p>
              <a:pPr algn="ctr"/>
              <a:r>
                <a:rPr lang="en-US" sz="1200" dirty="0"/>
                <a:t>unequivocally positive</a:t>
              </a:r>
            </a:p>
            <a:p>
              <a:pPr algn="ctr"/>
              <a:r>
                <a:rPr lang="en-US" sz="1200" dirty="0">
                  <a:solidFill>
                    <a:schemeClr val="bg1">
                      <a:lumMod val="50000"/>
                    </a:schemeClr>
                  </a:solidFill>
                </a:rPr>
                <a:t>N = 15</a:t>
              </a:r>
            </a:p>
            <a:p>
              <a:pPr algn="ctr"/>
              <a:endParaRPr lang="en-US" sz="400" dirty="0"/>
            </a:p>
            <a:p>
              <a:pPr algn="ctr"/>
              <a:endParaRPr lang="en-US" sz="400" dirty="0"/>
            </a:p>
            <a:p>
              <a:pPr algn="ctr"/>
              <a:r>
                <a:rPr lang="en-US" sz="1200" dirty="0"/>
                <a:t>New recent BP medication + PD</a:t>
              </a:r>
            </a:p>
          </p:txBody>
        </p:sp>
        <p:grpSp>
          <p:nvGrpSpPr>
            <p:cNvPr id="62" name="Group 61">
              <a:extLst>
                <a:ext uri="{FF2B5EF4-FFF2-40B4-BE49-F238E27FC236}">
                  <a16:creationId xmlns:a16="http://schemas.microsoft.com/office/drawing/2014/main" id="{82D115CF-B4E4-52B7-8AC9-43A8A1AE1494}"/>
                </a:ext>
              </a:extLst>
            </p:cNvPr>
            <p:cNvGrpSpPr/>
            <p:nvPr/>
          </p:nvGrpSpPr>
          <p:grpSpPr>
            <a:xfrm>
              <a:off x="8060871" y="4289546"/>
              <a:ext cx="462641" cy="571213"/>
              <a:chOff x="7952259" y="4312974"/>
              <a:chExt cx="462641" cy="571213"/>
            </a:xfrm>
          </p:grpSpPr>
          <p:cxnSp>
            <p:nvCxnSpPr>
              <p:cNvPr id="65" name="Straight Arrow Connector 64">
                <a:extLst>
                  <a:ext uri="{FF2B5EF4-FFF2-40B4-BE49-F238E27FC236}">
                    <a16:creationId xmlns:a16="http://schemas.microsoft.com/office/drawing/2014/main" id="{CBC39581-F787-C684-CE6A-3FD89CFBABBA}"/>
                  </a:ext>
                </a:extLst>
              </p:cNvPr>
              <p:cNvCxnSpPr>
                <a:cxnSpLocks/>
                <a:stCxn id="60" idx="2"/>
              </p:cNvCxnSpPr>
              <p:nvPr/>
            </p:nvCxnSpPr>
            <p:spPr>
              <a:xfrm flipH="1">
                <a:off x="7952259" y="4312974"/>
                <a:ext cx="145603" cy="5712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4EC0037A-2A46-CAC1-252D-B199CECE93A0}"/>
                  </a:ext>
                </a:extLst>
              </p:cNvPr>
              <p:cNvCxnSpPr>
                <a:cxnSpLocks/>
                <a:stCxn id="60" idx="2"/>
              </p:cNvCxnSpPr>
              <p:nvPr/>
            </p:nvCxnSpPr>
            <p:spPr>
              <a:xfrm>
                <a:off x="8097862" y="4312974"/>
                <a:ext cx="317038" cy="5712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63" name="TextBox 62">
              <a:extLst>
                <a:ext uri="{FF2B5EF4-FFF2-40B4-BE49-F238E27FC236}">
                  <a16:creationId xmlns:a16="http://schemas.microsoft.com/office/drawing/2014/main" id="{D84E67BC-2F51-0250-0E3B-8A205DCF2B89}"/>
                </a:ext>
              </a:extLst>
            </p:cNvPr>
            <p:cNvSpPr txBox="1"/>
            <p:nvPr/>
          </p:nvSpPr>
          <p:spPr>
            <a:xfrm>
              <a:off x="7609276" y="4865141"/>
              <a:ext cx="655864" cy="461665"/>
            </a:xfrm>
            <a:prstGeom prst="rect">
              <a:avLst/>
            </a:prstGeom>
            <a:noFill/>
          </p:spPr>
          <p:txBody>
            <a:bodyPr wrap="square" rtlCol="0">
              <a:spAutoFit/>
            </a:bodyPr>
            <a:lstStyle/>
            <a:p>
              <a:r>
                <a:rPr lang="en-US" sz="1200" dirty="0"/>
                <a:t>BPPV</a:t>
              </a:r>
            </a:p>
            <a:p>
              <a:r>
                <a:rPr lang="en-US" sz="1200" dirty="0">
                  <a:solidFill>
                    <a:schemeClr val="bg1">
                      <a:lumMod val="50000"/>
                    </a:schemeClr>
                  </a:solidFill>
                </a:rPr>
                <a:t>N = 15</a:t>
              </a:r>
            </a:p>
          </p:txBody>
        </p:sp>
        <p:sp>
          <p:nvSpPr>
            <p:cNvPr id="64" name="TextBox 63">
              <a:extLst>
                <a:ext uri="{FF2B5EF4-FFF2-40B4-BE49-F238E27FC236}">
                  <a16:creationId xmlns:a16="http://schemas.microsoft.com/office/drawing/2014/main" id="{93C8D4AA-D700-94B1-5164-88D2FE1E1B71}"/>
                </a:ext>
              </a:extLst>
            </p:cNvPr>
            <p:cNvSpPr txBox="1"/>
            <p:nvPr/>
          </p:nvSpPr>
          <p:spPr>
            <a:xfrm>
              <a:off x="8225363" y="4860759"/>
              <a:ext cx="906307" cy="461665"/>
            </a:xfrm>
            <a:prstGeom prst="rect">
              <a:avLst/>
            </a:prstGeom>
            <a:noFill/>
          </p:spPr>
          <p:txBody>
            <a:bodyPr wrap="square" rtlCol="0">
              <a:spAutoFit/>
            </a:bodyPr>
            <a:lstStyle/>
            <a:p>
              <a:r>
                <a:rPr lang="en-US" sz="1200" dirty="0"/>
                <a:t>Meniere’s</a:t>
              </a:r>
            </a:p>
            <a:p>
              <a:r>
                <a:rPr lang="en-US" sz="1200" dirty="0">
                  <a:solidFill>
                    <a:schemeClr val="bg1">
                      <a:lumMod val="50000"/>
                    </a:schemeClr>
                  </a:solidFill>
                </a:rPr>
                <a:t>N = 10</a:t>
              </a:r>
            </a:p>
          </p:txBody>
        </p:sp>
      </p:grpSp>
      <p:sp>
        <p:nvSpPr>
          <p:cNvPr id="5" name="Rectangle: Rounded Corners 4">
            <a:extLst>
              <a:ext uri="{FF2B5EF4-FFF2-40B4-BE49-F238E27FC236}">
                <a16:creationId xmlns:a16="http://schemas.microsoft.com/office/drawing/2014/main" id="{43DCA38A-8AF4-0B70-4796-B2A9E13E740C}"/>
              </a:ext>
            </a:extLst>
          </p:cNvPr>
          <p:cNvSpPr/>
          <p:nvPr/>
        </p:nvSpPr>
        <p:spPr>
          <a:xfrm>
            <a:off x="7527796" y="6237197"/>
            <a:ext cx="1458357" cy="552698"/>
          </a:xfrm>
          <a:prstGeom prst="roundRect">
            <a:avLst/>
          </a:prstGeom>
          <a:noFill/>
          <a:ln w="28575">
            <a:solidFill>
              <a:srgbClr val="FFA6A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98F1BD0-DE66-BA9D-7D48-BF41C75DC38F}"/>
              </a:ext>
            </a:extLst>
          </p:cNvPr>
          <p:cNvSpPr txBox="1"/>
          <p:nvPr/>
        </p:nvSpPr>
        <p:spPr>
          <a:xfrm>
            <a:off x="7478525" y="6322024"/>
            <a:ext cx="1543377" cy="415498"/>
          </a:xfrm>
          <a:prstGeom prst="rect">
            <a:avLst/>
          </a:prstGeom>
          <a:noFill/>
        </p:spPr>
        <p:txBody>
          <a:bodyPr wrap="square" rtlCol="0">
            <a:spAutoFit/>
          </a:bodyPr>
          <a:lstStyle/>
          <a:p>
            <a:pPr algn="ctr"/>
            <a:r>
              <a:rPr lang="en-US" sz="1050" b="1" dirty="0">
                <a:solidFill>
                  <a:srgbClr val="FF0000"/>
                </a:solidFill>
              </a:rPr>
              <a:t>SCT 1b: </a:t>
            </a:r>
            <a:r>
              <a:rPr lang="en-US" sz="1050" dirty="0"/>
              <a:t>orthostatic vs non-orthostatic</a:t>
            </a:r>
          </a:p>
        </p:txBody>
      </p:sp>
      <p:sp>
        <p:nvSpPr>
          <p:cNvPr id="10" name="TextBox 9">
            <a:extLst>
              <a:ext uri="{FF2B5EF4-FFF2-40B4-BE49-F238E27FC236}">
                <a16:creationId xmlns:a16="http://schemas.microsoft.com/office/drawing/2014/main" id="{A0D3D46D-FFFF-F5C1-69B0-101BA509121F}"/>
              </a:ext>
            </a:extLst>
          </p:cNvPr>
          <p:cNvSpPr txBox="1"/>
          <p:nvPr/>
        </p:nvSpPr>
        <p:spPr>
          <a:xfrm>
            <a:off x="5992695" y="6311274"/>
            <a:ext cx="1445261" cy="415498"/>
          </a:xfrm>
          <a:prstGeom prst="rect">
            <a:avLst/>
          </a:prstGeom>
          <a:noFill/>
        </p:spPr>
        <p:txBody>
          <a:bodyPr wrap="square" rtlCol="0">
            <a:spAutoFit/>
          </a:bodyPr>
          <a:lstStyle/>
          <a:p>
            <a:pPr algn="ctr"/>
            <a:r>
              <a:rPr lang="en-US" sz="1050" b="1" dirty="0">
                <a:solidFill>
                  <a:srgbClr val="FF0000"/>
                </a:solidFill>
              </a:rPr>
              <a:t>SCT1a: </a:t>
            </a:r>
            <a:r>
              <a:rPr lang="en-US" sz="1050" dirty="0"/>
              <a:t>central vs peripheral</a:t>
            </a:r>
          </a:p>
        </p:txBody>
      </p:sp>
      <p:sp>
        <p:nvSpPr>
          <p:cNvPr id="11" name="Rectangle: Rounded Corners 10">
            <a:extLst>
              <a:ext uri="{FF2B5EF4-FFF2-40B4-BE49-F238E27FC236}">
                <a16:creationId xmlns:a16="http://schemas.microsoft.com/office/drawing/2014/main" id="{B8904E5F-E088-8120-4609-D7E97E3AFFB1}"/>
              </a:ext>
            </a:extLst>
          </p:cNvPr>
          <p:cNvSpPr/>
          <p:nvPr/>
        </p:nvSpPr>
        <p:spPr>
          <a:xfrm>
            <a:off x="5995639" y="6227903"/>
            <a:ext cx="1458357" cy="561992"/>
          </a:xfrm>
          <a:prstGeom prst="roundRect">
            <a:avLst/>
          </a:prstGeom>
          <a:noFill/>
          <a:ln w="28575">
            <a:solidFill>
              <a:srgbClr val="FFA6A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874590E7-1D48-AC64-9034-CD53BC35646B}"/>
              </a:ext>
            </a:extLst>
          </p:cNvPr>
          <p:cNvSpPr/>
          <p:nvPr/>
        </p:nvSpPr>
        <p:spPr>
          <a:xfrm>
            <a:off x="5995640" y="3620849"/>
            <a:ext cx="917514" cy="357049"/>
          </a:xfrm>
          <a:prstGeom prst="roundRect">
            <a:avLst/>
          </a:prstGeom>
          <a:noFill/>
          <a:ln w="28575">
            <a:solidFill>
              <a:srgbClr val="FF0000">
                <a:alpha val="35000"/>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5E9D0CC-7FC2-748F-C961-74064A6ACA5E}"/>
              </a:ext>
            </a:extLst>
          </p:cNvPr>
          <p:cNvSpPr txBox="1"/>
          <p:nvPr/>
        </p:nvSpPr>
        <p:spPr>
          <a:xfrm>
            <a:off x="5996834" y="3651626"/>
            <a:ext cx="910728" cy="307777"/>
          </a:xfrm>
          <a:prstGeom prst="rect">
            <a:avLst/>
          </a:prstGeom>
          <a:noFill/>
        </p:spPr>
        <p:txBody>
          <a:bodyPr wrap="square" rtlCol="0">
            <a:spAutoFit/>
          </a:bodyPr>
          <a:lstStyle/>
          <a:p>
            <a:pPr algn="ctr"/>
            <a:r>
              <a:rPr lang="en-US" sz="1400" b="1" dirty="0">
                <a:solidFill>
                  <a:srgbClr val="FF0000"/>
                </a:solidFill>
              </a:rPr>
              <a:t>SCT 1a</a:t>
            </a:r>
          </a:p>
        </p:txBody>
      </p:sp>
      <p:sp>
        <p:nvSpPr>
          <p:cNvPr id="14" name="Content Placeholder 2">
            <a:extLst>
              <a:ext uri="{FF2B5EF4-FFF2-40B4-BE49-F238E27FC236}">
                <a16:creationId xmlns:a16="http://schemas.microsoft.com/office/drawing/2014/main" id="{E78DCB9A-D77B-1EAC-3899-4F8271853DD8}"/>
              </a:ext>
            </a:extLst>
          </p:cNvPr>
          <p:cNvSpPr txBox="1">
            <a:spLocks/>
          </p:cNvSpPr>
          <p:nvPr/>
        </p:nvSpPr>
        <p:spPr>
          <a:xfrm>
            <a:off x="40502" y="1064636"/>
            <a:ext cx="5664386" cy="3215097"/>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700" b="1" dirty="0"/>
              <a:t>Reasoning traces:</a:t>
            </a:r>
          </a:p>
          <a:p>
            <a:pPr lvl="1"/>
            <a:r>
              <a:rPr lang="en-US" sz="1500" dirty="0"/>
              <a:t>Appropriate management </a:t>
            </a:r>
          </a:p>
          <a:p>
            <a:pPr lvl="2"/>
            <a:r>
              <a:rPr lang="en-US" sz="1100" dirty="0"/>
              <a:t>Can’t miss (“What’s lethal?”) : identifying red flag key features vs not</a:t>
            </a:r>
          </a:p>
          <a:p>
            <a:pPr lvl="2"/>
            <a:r>
              <a:rPr lang="en-US" sz="1100" dirty="0"/>
              <a:t>Entropy reduction correlated with appropriate actions</a:t>
            </a:r>
          </a:p>
          <a:p>
            <a:pPr lvl="3"/>
            <a:r>
              <a:rPr lang="en-US" sz="1100" dirty="0"/>
              <a:t>Unambiguous central gp should order MRI (SCT1a)</a:t>
            </a:r>
          </a:p>
          <a:p>
            <a:pPr lvl="3"/>
            <a:r>
              <a:rPr lang="en-US" sz="1100" dirty="0"/>
              <a:t>Unambiguous peripheral vertigo gp should </a:t>
            </a:r>
            <a:r>
              <a:rPr lang="en-US" sz="1100" i="1" dirty="0"/>
              <a:t>not</a:t>
            </a:r>
            <a:r>
              <a:rPr lang="en-US" sz="1100" dirty="0"/>
              <a:t> order MRI (SCT2a)</a:t>
            </a:r>
          </a:p>
          <a:p>
            <a:pPr lvl="2"/>
            <a:r>
              <a:rPr lang="en-US" sz="1100" dirty="0"/>
              <a:t>No one should be doing Dix-Hallpike in central sub-group (SCT1a, SCT2a)</a:t>
            </a:r>
          </a:p>
          <a:p>
            <a:pPr lvl="2"/>
            <a:r>
              <a:rPr lang="en-US" sz="1100" dirty="0"/>
              <a:t>No one should be doing HINTS testing in peripheral sub-group (SCT1b, SCT2b)</a:t>
            </a:r>
          </a:p>
          <a:p>
            <a:pPr lvl="1"/>
            <a:r>
              <a:rPr lang="en-US" sz="1500" dirty="0"/>
              <a:t>Script concordance tests</a:t>
            </a:r>
          </a:p>
          <a:p>
            <a:pPr lvl="2"/>
            <a:r>
              <a:rPr lang="en-US" sz="1100" dirty="0"/>
              <a:t>Ambiguous central gp should perform HINTS testing or order MRI (SCT1a)</a:t>
            </a:r>
          </a:p>
          <a:p>
            <a:pPr lvl="2"/>
            <a:r>
              <a:rPr lang="en-US" sz="1100" dirty="0"/>
              <a:t>Ambiguous peripheral gp should perform Dix-Hallpike &amp; orthostatics (SCT 1b)</a:t>
            </a:r>
          </a:p>
          <a:p>
            <a:pPr lvl="2"/>
            <a:r>
              <a:rPr lang="en-US" sz="1100" dirty="0"/>
              <a:t>Ambiguous orthostatic gp should order neurovest. rehab (SCT1b)</a:t>
            </a:r>
          </a:p>
          <a:p>
            <a:pPr lvl="2"/>
            <a:r>
              <a:rPr lang="en-US" sz="1100" dirty="0"/>
              <a:t>Unambiguous orthostatic gp should </a:t>
            </a:r>
            <a:r>
              <a:rPr lang="en-US" sz="1100" i="1" dirty="0"/>
              <a:t>not</a:t>
            </a:r>
            <a:r>
              <a:rPr lang="en-US" sz="1100" dirty="0"/>
              <a:t> order neurovest. rehab (SCT2b)</a:t>
            </a:r>
          </a:p>
          <a:p>
            <a:pPr lvl="2"/>
            <a:r>
              <a:rPr lang="en-US" sz="1100" dirty="0"/>
              <a:t>Unambiguous BPPV and Meniere’s gp should order neurovest. rehab (SCT2b)</a:t>
            </a:r>
          </a:p>
          <a:p>
            <a:r>
              <a:rPr lang="en-US" sz="1700" b="1" dirty="0"/>
              <a:t>Diagnostic Calibration</a:t>
            </a:r>
          </a:p>
          <a:p>
            <a:pPr lvl="2"/>
            <a:r>
              <a:rPr lang="en-US" sz="1100" dirty="0"/>
              <a:t>Subjective: survey of “surprise”</a:t>
            </a:r>
          </a:p>
          <a:p>
            <a:pPr lvl="2"/>
            <a:r>
              <a:rPr lang="en-US" sz="1100" dirty="0"/>
              <a:t>Objective: entropy removal in dx interview, log-loss, diagnostic accuracy</a:t>
            </a:r>
          </a:p>
        </p:txBody>
      </p:sp>
      <p:sp>
        <p:nvSpPr>
          <p:cNvPr id="36" name="TextBox 35">
            <a:extLst>
              <a:ext uri="{FF2B5EF4-FFF2-40B4-BE49-F238E27FC236}">
                <a16:creationId xmlns:a16="http://schemas.microsoft.com/office/drawing/2014/main" id="{B397D3B4-FACC-F0DB-83C5-6940E4A04E4C}"/>
              </a:ext>
            </a:extLst>
          </p:cNvPr>
          <p:cNvSpPr txBox="1"/>
          <p:nvPr/>
        </p:nvSpPr>
        <p:spPr>
          <a:xfrm>
            <a:off x="6506932" y="1577509"/>
            <a:ext cx="655864" cy="246221"/>
          </a:xfrm>
          <a:prstGeom prst="rect">
            <a:avLst/>
          </a:prstGeom>
          <a:noFill/>
        </p:spPr>
        <p:txBody>
          <a:bodyPr wrap="square" rtlCol="0">
            <a:spAutoFit/>
          </a:bodyPr>
          <a:lstStyle/>
          <a:p>
            <a:r>
              <a:rPr lang="en-US" sz="1000" dirty="0"/>
              <a:t>central</a:t>
            </a:r>
          </a:p>
        </p:txBody>
      </p:sp>
      <p:sp>
        <p:nvSpPr>
          <p:cNvPr id="37" name="TextBox 36">
            <a:extLst>
              <a:ext uri="{FF2B5EF4-FFF2-40B4-BE49-F238E27FC236}">
                <a16:creationId xmlns:a16="http://schemas.microsoft.com/office/drawing/2014/main" id="{70586227-24B5-F387-0812-5B1B07E2AE7F}"/>
              </a:ext>
            </a:extLst>
          </p:cNvPr>
          <p:cNvSpPr txBox="1"/>
          <p:nvPr/>
        </p:nvSpPr>
        <p:spPr>
          <a:xfrm>
            <a:off x="7800096" y="1575022"/>
            <a:ext cx="982967" cy="246221"/>
          </a:xfrm>
          <a:prstGeom prst="rect">
            <a:avLst/>
          </a:prstGeom>
          <a:noFill/>
        </p:spPr>
        <p:txBody>
          <a:bodyPr wrap="square" rtlCol="0">
            <a:spAutoFit/>
          </a:bodyPr>
          <a:lstStyle/>
          <a:p>
            <a:r>
              <a:rPr lang="en-US" sz="1000" dirty="0"/>
              <a:t>peripheral</a:t>
            </a:r>
          </a:p>
        </p:txBody>
      </p:sp>
      <p:sp>
        <p:nvSpPr>
          <p:cNvPr id="39" name="TextBox 38">
            <a:extLst>
              <a:ext uri="{FF2B5EF4-FFF2-40B4-BE49-F238E27FC236}">
                <a16:creationId xmlns:a16="http://schemas.microsoft.com/office/drawing/2014/main" id="{B431DF00-5AFA-4F3F-2E8A-C1238F5018AF}"/>
              </a:ext>
            </a:extLst>
          </p:cNvPr>
          <p:cNvSpPr txBox="1"/>
          <p:nvPr/>
        </p:nvSpPr>
        <p:spPr>
          <a:xfrm>
            <a:off x="9639784" y="1591508"/>
            <a:ext cx="655864" cy="246221"/>
          </a:xfrm>
          <a:prstGeom prst="rect">
            <a:avLst/>
          </a:prstGeom>
          <a:noFill/>
        </p:spPr>
        <p:txBody>
          <a:bodyPr wrap="square" rtlCol="0">
            <a:spAutoFit/>
          </a:bodyPr>
          <a:lstStyle/>
          <a:p>
            <a:r>
              <a:rPr lang="en-US" sz="1000" dirty="0"/>
              <a:t>central</a:t>
            </a:r>
          </a:p>
        </p:txBody>
      </p:sp>
      <p:sp>
        <p:nvSpPr>
          <p:cNvPr id="40" name="TextBox 39">
            <a:extLst>
              <a:ext uri="{FF2B5EF4-FFF2-40B4-BE49-F238E27FC236}">
                <a16:creationId xmlns:a16="http://schemas.microsoft.com/office/drawing/2014/main" id="{7CC52DB8-0C17-6243-7053-1661DB33A84D}"/>
              </a:ext>
            </a:extLst>
          </p:cNvPr>
          <p:cNvSpPr txBox="1"/>
          <p:nvPr/>
        </p:nvSpPr>
        <p:spPr>
          <a:xfrm>
            <a:off x="10831063" y="1591507"/>
            <a:ext cx="982967" cy="246221"/>
          </a:xfrm>
          <a:prstGeom prst="rect">
            <a:avLst/>
          </a:prstGeom>
          <a:noFill/>
        </p:spPr>
        <p:txBody>
          <a:bodyPr wrap="square" rtlCol="0">
            <a:spAutoFit/>
          </a:bodyPr>
          <a:lstStyle/>
          <a:p>
            <a:r>
              <a:rPr lang="en-US" sz="1000" dirty="0"/>
              <a:t>peripheral</a:t>
            </a:r>
          </a:p>
        </p:txBody>
      </p:sp>
      <p:sp>
        <p:nvSpPr>
          <p:cNvPr id="42" name="Rectangle: Rounded Corners 41">
            <a:extLst>
              <a:ext uri="{FF2B5EF4-FFF2-40B4-BE49-F238E27FC236}">
                <a16:creationId xmlns:a16="http://schemas.microsoft.com/office/drawing/2014/main" id="{743F5CE2-383A-5049-6375-0A7FCFBC75C0}"/>
              </a:ext>
            </a:extLst>
          </p:cNvPr>
          <p:cNvSpPr/>
          <p:nvPr/>
        </p:nvSpPr>
        <p:spPr>
          <a:xfrm>
            <a:off x="6348114" y="5679363"/>
            <a:ext cx="2260823" cy="357049"/>
          </a:xfrm>
          <a:prstGeom prst="roundRect">
            <a:avLst/>
          </a:prstGeom>
          <a:noFill/>
          <a:ln w="28575">
            <a:solidFill>
              <a:srgbClr val="FF0000">
                <a:alpha val="35000"/>
              </a:srgb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SCT 1b: </a:t>
            </a:r>
          </a:p>
        </p:txBody>
      </p:sp>
      <p:sp>
        <p:nvSpPr>
          <p:cNvPr id="44" name="TextBox 43">
            <a:extLst>
              <a:ext uri="{FF2B5EF4-FFF2-40B4-BE49-F238E27FC236}">
                <a16:creationId xmlns:a16="http://schemas.microsoft.com/office/drawing/2014/main" id="{0FA41DDB-7DD8-0F5F-0962-3413892F24E4}"/>
              </a:ext>
            </a:extLst>
          </p:cNvPr>
          <p:cNvSpPr txBox="1"/>
          <p:nvPr/>
        </p:nvSpPr>
        <p:spPr>
          <a:xfrm>
            <a:off x="6980541" y="5723548"/>
            <a:ext cx="910728" cy="307777"/>
          </a:xfrm>
          <a:prstGeom prst="rect">
            <a:avLst/>
          </a:prstGeom>
          <a:noFill/>
        </p:spPr>
        <p:txBody>
          <a:bodyPr wrap="square" rtlCol="0">
            <a:spAutoFit/>
          </a:bodyPr>
          <a:lstStyle/>
          <a:p>
            <a:pPr algn="ctr"/>
            <a:r>
              <a:rPr lang="en-US" sz="1400" b="1" dirty="0">
                <a:solidFill>
                  <a:srgbClr val="FF0000"/>
                </a:solidFill>
              </a:rPr>
              <a:t>SCT 1b</a:t>
            </a:r>
          </a:p>
        </p:txBody>
      </p:sp>
      <p:grpSp>
        <p:nvGrpSpPr>
          <p:cNvPr id="99" name="Group 98">
            <a:extLst>
              <a:ext uri="{FF2B5EF4-FFF2-40B4-BE49-F238E27FC236}">
                <a16:creationId xmlns:a16="http://schemas.microsoft.com/office/drawing/2014/main" id="{D36FDD4C-6A36-292C-04C5-5AA150746530}"/>
              </a:ext>
            </a:extLst>
          </p:cNvPr>
          <p:cNvGrpSpPr/>
          <p:nvPr/>
        </p:nvGrpSpPr>
        <p:grpSpPr>
          <a:xfrm>
            <a:off x="8987908" y="6220287"/>
            <a:ext cx="1629158" cy="569607"/>
            <a:chOff x="8987908" y="6220287"/>
            <a:chExt cx="1629158" cy="569607"/>
          </a:xfrm>
        </p:grpSpPr>
        <p:sp>
          <p:nvSpPr>
            <p:cNvPr id="8" name="Rectangle: Rounded Corners 7">
              <a:extLst>
                <a:ext uri="{FF2B5EF4-FFF2-40B4-BE49-F238E27FC236}">
                  <a16:creationId xmlns:a16="http://schemas.microsoft.com/office/drawing/2014/main" id="{C265EC7B-482B-1EB8-238C-FDF71604E84D}"/>
                </a:ext>
              </a:extLst>
            </p:cNvPr>
            <p:cNvSpPr/>
            <p:nvPr/>
          </p:nvSpPr>
          <p:spPr>
            <a:xfrm>
              <a:off x="9059953" y="6220287"/>
              <a:ext cx="1557113" cy="569607"/>
            </a:xfrm>
            <a:prstGeom prst="roundRect">
              <a:avLst/>
            </a:prstGeom>
            <a:noFill/>
            <a:ln w="0">
              <a:solidFill>
                <a:srgbClr val="00206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0DDCC904-31EB-6731-DD4B-44FE794E8EB5}"/>
                </a:ext>
              </a:extLst>
            </p:cNvPr>
            <p:cNvSpPr txBox="1"/>
            <p:nvPr/>
          </p:nvSpPr>
          <p:spPr>
            <a:xfrm>
              <a:off x="8987908" y="6316461"/>
              <a:ext cx="1617817" cy="415498"/>
            </a:xfrm>
            <a:prstGeom prst="rect">
              <a:avLst/>
            </a:prstGeom>
            <a:noFill/>
          </p:spPr>
          <p:txBody>
            <a:bodyPr wrap="square" rtlCol="0">
              <a:spAutoFit/>
            </a:bodyPr>
            <a:lstStyle/>
            <a:p>
              <a:pPr algn="ctr"/>
              <a:r>
                <a:rPr lang="en-US" sz="1050" b="1" dirty="0">
                  <a:solidFill>
                    <a:srgbClr val="4C9BD3"/>
                  </a:solidFill>
                </a:rPr>
                <a:t>SCT2a: </a:t>
              </a:r>
              <a:r>
                <a:rPr lang="en-US" sz="1050" dirty="0"/>
                <a:t>central vs peripheral</a:t>
              </a:r>
            </a:p>
          </p:txBody>
        </p:sp>
      </p:grpSp>
      <p:sp>
        <p:nvSpPr>
          <p:cNvPr id="74" name="Rectangle: Rounded Corners 73">
            <a:extLst>
              <a:ext uri="{FF2B5EF4-FFF2-40B4-BE49-F238E27FC236}">
                <a16:creationId xmlns:a16="http://schemas.microsoft.com/office/drawing/2014/main" id="{C3BA7259-EFC5-EC9A-A6D2-15D48C8653E1}"/>
              </a:ext>
            </a:extLst>
          </p:cNvPr>
          <p:cNvSpPr/>
          <p:nvPr/>
        </p:nvSpPr>
        <p:spPr>
          <a:xfrm>
            <a:off x="10652815" y="6200486"/>
            <a:ext cx="1498684" cy="569607"/>
          </a:xfrm>
          <a:prstGeom prst="roundRect">
            <a:avLst/>
          </a:prstGeom>
          <a:noFill/>
          <a:ln w="0">
            <a:solidFill>
              <a:srgbClr val="00206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C2485061-CE1B-6584-6773-09E32259F30F}"/>
              </a:ext>
            </a:extLst>
          </p:cNvPr>
          <p:cNvSpPr txBox="1"/>
          <p:nvPr/>
        </p:nvSpPr>
        <p:spPr>
          <a:xfrm>
            <a:off x="10605725" y="6305218"/>
            <a:ext cx="1472615" cy="415498"/>
          </a:xfrm>
          <a:prstGeom prst="rect">
            <a:avLst/>
          </a:prstGeom>
          <a:noFill/>
        </p:spPr>
        <p:txBody>
          <a:bodyPr wrap="square" rtlCol="0">
            <a:spAutoFit/>
          </a:bodyPr>
          <a:lstStyle/>
          <a:p>
            <a:pPr algn="ctr"/>
            <a:r>
              <a:rPr lang="en-US" sz="1050" b="1" dirty="0">
                <a:solidFill>
                  <a:srgbClr val="4C9BD3"/>
                </a:solidFill>
              </a:rPr>
              <a:t>SCT2b: </a:t>
            </a:r>
            <a:r>
              <a:rPr lang="en-US" sz="1050" dirty="0"/>
              <a:t>orthostatic vs non-orthostatic</a:t>
            </a:r>
          </a:p>
        </p:txBody>
      </p:sp>
      <p:sp>
        <p:nvSpPr>
          <p:cNvPr id="76" name="Left Brace 75">
            <a:extLst>
              <a:ext uri="{FF2B5EF4-FFF2-40B4-BE49-F238E27FC236}">
                <a16:creationId xmlns:a16="http://schemas.microsoft.com/office/drawing/2014/main" id="{0A56AC25-B6F9-6DA5-C8CD-EEB91A9EE6CE}"/>
              </a:ext>
            </a:extLst>
          </p:cNvPr>
          <p:cNvSpPr/>
          <p:nvPr/>
        </p:nvSpPr>
        <p:spPr>
          <a:xfrm>
            <a:off x="5601934" y="6237197"/>
            <a:ext cx="301173" cy="543741"/>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7" name="TextBox 76">
            <a:extLst>
              <a:ext uri="{FF2B5EF4-FFF2-40B4-BE49-F238E27FC236}">
                <a16:creationId xmlns:a16="http://schemas.microsoft.com/office/drawing/2014/main" id="{6AB9FCD5-0273-1963-5B62-B807794CB1CB}"/>
              </a:ext>
            </a:extLst>
          </p:cNvPr>
          <p:cNvSpPr txBox="1"/>
          <p:nvPr/>
        </p:nvSpPr>
        <p:spPr>
          <a:xfrm>
            <a:off x="4385751" y="6342290"/>
            <a:ext cx="1320994" cy="369332"/>
          </a:xfrm>
          <a:prstGeom prst="rect">
            <a:avLst/>
          </a:prstGeom>
          <a:noFill/>
        </p:spPr>
        <p:txBody>
          <a:bodyPr wrap="square" rtlCol="0">
            <a:spAutoFit/>
          </a:bodyPr>
          <a:lstStyle/>
          <a:p>
            <a:pPr algn="ctr"/>
            <a:r>
              <a:rPr lang="en-US" sz="900" dirty="0"/>
              <a:t>Entropy ddx removal schema calculations</a:t>
            </a:r>
          </a:p>
        </p:txBody>
      </p:sp>
      <p:grpSp>
        <p:nvGrpSpPr>
          <p:cNvPr id="100" name="Group 99">
            <a:extLst>
              <a:ext uri="{FF2B5EF4-FFF2-40B4-BE49-F238E27FC236}">
                <a16:creationId xmlns:a16="http://schemas.microsoft.com/office/drawing/2014/main" id="{384CFEB1-B7BF-65D9-194F-6538A743AD03}"/>
              </a:ext>
            </a:extLst>
          </p:cNvPr>
          <p:cNvGrpSpPr/>
          <p:nvPr/>
        </p:nvGrpSpPr>
        <p:grpSpPr>
          <a:xfrm>
            <a:off x="9170218" y="3675492"/>
            <a:ext cx="1010528" cy="364696"/>
            <a:chOff x="9288319" y="6285660"/>
            <a:chExt cx="1317406" cy="364696"/>
          </a:xfrm>
        </p:grpSpPr>
        <p:sp>
          <p:nvSpPr>
            <p:cNvPr id="101" name="Rectangle: Rounded Corners 100">
              <a:extLst>
                <a:ext uri="{FF2B5EF4-FFF2-40B4-BE49-F238E27FC236}">
                  <a16:creationId xmlns:a16="http://schemas.microsoft.com/office/drawing/2014/main" id="{2449F504-48D2-F3FF-5CE1-8AE58B107E97}"/>
                </a:ext>
              </a:extLst>
            </p:cNvPr>
            <p:cNvSpPr/>
            <p:nvPr/>
          </p:nvSpPr>
          <p:spPr>
            <a:xfrm>
              <a:off x="9435720" y="6285660"/>
              <a:ext cx="982123" cy="364696"/>
            </a:xfrm>
            <a:prstGeom prst="roundRect">
              <a:avLst/>
            </a:prstGeom>
            <a:noFill/>
            <a:ln w="0">
              <a:solidFill>
                <a:srgbClr val="00206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9531D63C-5C62-1E13-24EC-58B43BA2E263}"/>
                </a:ext>
              </a:extLst>
            </p:cNvPr>
            <p:cNvSpPr txBox="1"/>
            <p:nvPr/>
          </p:nvSpPr>
          <p:spPr>
            <a:xfrm>
              <a:off x="9288319" y="6316461"/>
              <a:ext cx="1317406" cy="307777"/>
            </a:xfrm>
            <a:prstGeom prst="rect">
              <a:avLst/>
            </a:prstGeom>
            <a:noFill/>
          </p:spPr>
          <p:txBody>
            <a:bodyPr wrap="square" rtlCol="0">
              <a:spAutoFit/>
            </a:bodyPr>
            <a:lstStyle/>
            <a:p>
              <a:pPr algn="ctr"/>
              <a:r>
                <a:rPr lang="en-US" sz="1400" b="1" dirty="0">
                  <a:solidFill>
                    <a:srgbClr val="4C9BD3"/>
                  </a:solidFill>
                </a:rPr>
                <a:t>SCT2a</a:t>
              </a:r>
              <a:endParaRPr lang="en-US" sz="1600" dirty="0"/>
            </a:p>
          </p:txBody>
        </p:sp>
      </p:grpSp>
      <p:grpSp>
        <p:nvGrpSpPr>
          <p:cNvPr id="104" name="Group 103">
            <a:extLst>
              <a:ext uri="{FF2B5EF4-FFF2-40B4-BE49-F238E27FC236}">
                <a16:creationId xmlns:a16="http://schemas.microsoft.com/office/drawing/2014/main" id="{14E6F96C-B0DA-8B73-9707-44B1A8EE9565}"/>
              </a:ext>
            </a:extLst>
          </p:cNvPr>
          <p:cNvGrpSpPr/>
          <p:nvPr/>
        </p:nvGrpSpPr>
        <p:grpSpPr>
          <a:xfrm>
            <a:off x="9062621" y="5675279"/>
            <a:ext cx="3230298" cy="364696"/>
            <a:chOff x="9288319" y="6285660"/>
            <a:chExt cx="1317406" cy="364696"/>
          </a:xfrm>
        </p:grpSpPr>
        <p:sp>
          <p:nvSpPr>
            <p:cNvPr id="105" name="Rectangle: Rounded Corners 104">
              <a:extLst>
                <a:ext uri="{FF2B5EF4-FFF2-40B4-BE49-F238E27FC236}">
                  <a16:creationId xmlns:a16="http://schemas.microsoft.com/office/drawing/2014/main" id="{13DFFFC7-2581-3610-7BEB-073BDD9E01EC}"/>
                </a:ext>
              </a:extLst>
            </p:cNvPr>
            <p:cNvSpPr/>
            <p:nvPr/>
          </p:nvSpPr>
          <p:spPr>
            <a:xfrm>
              <a:off x="9435720" y="6285660"/>
              <a:ext cx="982123" cy="364696"/>
            </a:xfrm>
            <a:prstGeom prst="roundRect">
              <a:avLst/>
            </a:prstGeom>
            <a:noFill/>
            <a:ln w="0">
              <a:solidFill>
                <a:srgbClr val="00206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1585AC9B-1AC3-8FB4-4F46-2F50DA43DF57}"/>
                </a:ext>
              </a:extLst>
            </p:cNvPr>
            <p:cNvSpPr txBox="1"/>
            <p:nvPr/>
          </p:nvSpPr>
          <p:spPr>
            <a:xfrm>
              <a:off x="9288319" y="6316461"/>
              <a:ext cx="1317406" cy="307777"/>
            </a:xfrm>
            <a:prstGeom prst="rect">
              <a:avLst/>
            </a:prstGeom>
            <a:noFill/>
          </p:spPr>
          <p:txBody>
            <a:bodyPr wrap="square" rtlCol="0">
              <a:spAutoFit/>
            </a:bodyPr>
            <a:lstStyle/>
            <a:p>
              <a:pPr algn="ctr"/>
              <a:r>
                <a:rPr lang="en-US" sz="1400" b="1" dirty="0">
                  <a:solidFill>
                    <a:srgbClr val="4C9BD3"/>
                  </a:solidFill>
                </a:rPr>
                <a:t>SCT2b</a:t>
              </a:r>
              <a:endParaRPr lang="en-US" sz="1600" dirty="0"/>
            </a:p>
          </p:txBody>
        </p:sp>
      </p:grpSp>
    </p:spTree>
    <p:extLst>
      <p:ext uri="{BB962C8B-B14F-4D97-AF65-F5344CB8AC3E}">
        <p14:creationId xmlns:p14="http://schemas.microsoft.com/office/powerpoint/2010/main" val="1861394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6EB43-1EF1-51D8-45F1-222A44A84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ACA6F-FAE6-A00C-B101-6677D1365CE4}"/>
              </a:ext>
            </a:extLst>
          </p:cNvPr>
          <p:cNvSpPr>
            <a:spLocks noGrp="1"/>
          </p:cNvSpPr>
          <p:nvPr>
            <p:ph type="title"/>
          </p:nvPr>
        </p:nvSpPr>
        <p:spPr>
          <a:xfrm>
            <a:off x="534315" y="303966"/>
            <a:ext cx="10044023" cy="877729"/>
          </a:xfrm>
        </p:spPr>
        <p:txBody>
          <a:bodyPr anchor="ctr">
            <a:noAutofit/>
          </a:bodyPr>
          <a:lstStyle/>
          <a:p>
            <a:r>
              <a:rPr lang="en-US" sz="2400" b="1" dirty="0"/>
              <a:t>Log-loss calculation of the </a:t>
            </a:r>
            <a:r>
              <a:rPr lang="en-US" sz="2400" b="1" dirty="0" err="1"/>
              <a:t>P</a:t>
            </a:r>
            <a:r>
              <a:rPr lang="en-US" sz="2400" b="1" baseline="-25000" dirty="0" err="1"/>
              <a:t>oracle</a:t>
            </a:r>
            <a:r>
              <a:rPr lang="en-US" sz="2400" b="1" dirty="0"/>
              <a:t> distribution </a:t>
            </a:r>
            <a:r>
              <a:rPr lang="en-US" sz="2400" dirty="0"/>
              <a:t>is an approximation of “how much surprise” is beneath the case entropy epistemic floor – an estimate of the aleatoric uncertainty. </a:t>
            </a:r>
          </a:p>
        </p:txBody>
      </p:sp>
      <p:pic>
        <p:nvPicPr>
          <p:cNvPr id="3" name="Content Placeholder 4">
            <a:extLst>
              <a:ext uri="{FF2B5EF4-FFF2-40B4-BE49-F238E27FC236}">
                <a16:creationId xmlns:a16="http://schemas.microsoft.com/office/drawing/2014/main" id="{0DEE599F-7713-C911-8F2C-B9E814B69A2B}"/>
              </a:ext>
            </a:extLst>
          </p:cNvPr>
          <p:cNvPicPr>
            <a:picLocks noGrp="1" noChangeAspect="1"/>
          </p:cNvPicPr>
          <p:nvPr>
            <p:ph idx="1"/>
          </p:nvPr>
        </p:nvPicPr>
        <p:blipFill>
          <a:blip r:embed="rId3"/>
          <a:stretch>
            <a:fillRect/>
          </a:stretch>
        </p:blipFill>
        <p:spPr>
          <a:xfrm>
            <a:off x="422482" y="1621685"/>
            <a:ext cx="7564747" cy="3156811"/>
          </a:xfrm>
          <a:prstGeom prst="rect">
            <a:avLst/>
          </a:prstGeom>
        </p:spPr>
      </p:pic>
      <p:pic>
        <p:nvPicPr>
          <p:cNvPr id="5" name="Picture 4">
            <a:extLst>
              <a:ext uri="{FF2B5EF4-FFF2-40B4-BE49-F238E27FC236}">
                <a16:creationId xmlns:a16="http://schemas.microsoft.com/office/drawing/2014/main" id="{1A78FCF7-667B-81FF-2B2B-B1976D489212}"/>
              </a:ext>
            </a:extLst>
          </p:cNvPr>
          <p:cNvPicPr>
            <a:picLocks noChangeAspect="1"/>
          </p:cNvPicPr>
          <p:nvPr/>
        </p:nvPicPr>
        <p:blipFill>
          <a:blip r:embed="rId4"/>
          <a:stretch>
            <a:fillRect/>
          </a:stretch>
        </p:blipFill>
        <p:spPr>
          <a:xfrm>
            <a:off x="8749418" y="1053851"/>
            <a:ext cx="3009445" cy="3899100"/>
          </a:xfrm>
          <a:prstGeom prst="rect">
            <a:avLst/>
          </a:prstGeom>
        </p:spPr>
      </p:pic>
      <p:pic>
        <p:nvPicPr>
          <p:cNvPr id="11" name="Picture 10">
            <a:extLst>
              <a:ext uri="{FF2B5EF4-FFF2-40B4-BE49-F238E27FC236}">
                <a16:creationId xmlns:a16="http://schemas.microsoft.com/office/drawing/2014/main" id="{E07F59D7-2EB0-F6E9-42A6-260144AB89B2}"/>
              </a:ext>
            </a:extLst>
          </p:cNvPr>
          <p:cNvPicPr>
            <a:picLocks noChangeAspect="1"/>
          </p:cNvPicPr>
          <p:nvPr/>
        </p:nvPicPr>
        <p:blipFill>
          <a:blip r:embed="rId5"/>
          <a:stretch>
            <a:fillRect/>
          </a:stretch>
        </p:blipFill>
        <p:spPr>
          <a:xfrm>
            <a:off x="6294000" y="4364188"/>
            <a:ext cx="2857647" cy="2057506"/>
          </a:xfrm>
          <a:prstGeom prst="rect">
            <a:avLst/>
          </a:prstGeom>
        </p:spPr>
      </p:pic>
    </p:spTree>
    <p:extLst>
      <p:ext uri="{BB962C8B-B14F-4D97-AF65-F5344CB8AC3E}">
        <p14:creationId xmlns:p14="http://schemas.microsoft.com/office/powerpoint/2010/main" val="875952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1E698-8D88-15E4-B030-BBABD42B8AB1}"/>
              </a:ext>
            </a:extLst>
          </p:cNvPr>
          <p:cNvSpPr>
            <a:spLocks noGrp="1"/>
          </p:cNvSpPr>
          <p:nvPr>
            <p:ph type="title"/>
          </p:nvPr>
        </p:nvSpPr>
        <p:spPr/>
        <p:txBody>
          <a:bodyPr/>
          <a:lstStyle/>
          <a:p>
            <a:r>
              <a:rPr lang="en-US" dirty="0"/>
              <a:t>Summary of 3 measurable types of log-loss:</a:t>
            </a:r>
          </a:p>
        </p:txBody>
      </p:sp>
      <p:pic>
        <p:nvPicPr>
          <p:cNvPr id="7" name="Picture 6">
            <a:extLst>
              <a:ext uri="{FF2B5EF4-FFF2-40B4-BE49-F238E27FC236}">
                <a16:creationId xmlns:a16="http://schemas.microsoft.com/office/drawing/2014/main" id="{A732C909-E415-D1F1-0E41-DE0FA562314E}"/>
              </a:ext>
            </a:extLst>
          </p:cNvPr>
          <p:cNvPicPr>
            <a:picLocks noChangeAspect="1"/>
          </p:cNvPicPr>
          <p:nvPr/>
        </p:nvPicPr>
        <p:blipFill>
          <a:blip r:embed="rId2"/>
          <a:stretch>
            <a:fillRect/>
          </a:stretch>
        </p:blipFill>
        <p:spPr>
          <a:xfrm>
            <a:off x="1355992" y="1690688"/>
            <a:ext cx="9319352" cy="4430160"/>
          </a:xfrm>
          <a:prstGeom prst="rect">
            <a:avLst/>
          </a:prstGeom>
        </p:spPr>
      </p:pic>
      <p:sp>
        <p:nvSpPr>
          <p:cNvPr id="10" name="TextBox 9">
            <a:extLst>
              <a:ext uri="{FF2B5EF4-FFF2-40B4-BE49-F238E27FC236}">
                <a16:creationId xmlns:a16="http://schemas.microsoft.com/office/drawing/2014/main" id="{746EB063-8C65-3408-FBDE-D9A4189FAB4D}"/>
              </a:ext>
            </a:extLst>
          </p:cNvPr>
          <p:cNvSpPr txBox="1"/>
          <p:nvPr/>
        </p:nvSpPr>
        <p:spPr>
          <a:xfrm>
            <a:off x="10084565" y="2358362"/>
            <a:ext cx="1850834" cy="307777"/>
          </a:xfrm>
          <a:prstGeom prst="rect">
            <a:avLst/>
          </a:prstGeom>
          <a:noFill/>
        </p:spPr>
        <p:txBody>
          <a:bodyPr wrap="square" rtlCol="0">
            <a:spAutoFit/>
          </a:bodyPr>
          <a:lstStyle/>
          <a:p>
            <a:r>
              <a:rPr lang="en-US" sz="1400" b="1" dirty="0">
                <a:solidFill>
                  <a:srgbClr val="FF0000"/>
                </a:solidFill>
              </a:rPr>
              <a:t>(Aleatoric limit)</a:t>
            </a:r>
          </a:p>
        </p:txBody>
      </p:sp>
      <p:sp>
        <p:nvSpPr>
          <p:cNvPr id="11" name="TextBox 10">
            <a:extLst>
              <a:ext uri="{FF2B5EF4-FFF2-40B4-BE49-F238E27FC236}">
                <a16:creationId xmlns:a16="http://schemas.microsoft.com/office/drawing/2014/main" id="{746DAAFE-A8DD-6A06-4253-476B5CD6CE03}"/>
              </a:ext>
            </a:extLst>
          </p:cNvPr>
          <p:cNvSpPr txBox="1"/>
          <p:nvPr/>
        </p:nvSpPr>
        <p:spPr>
          <a:xfrm>
            <a:off x="10428383" y="2980464"/>
            <a:ext cx="1850834" cy="307777"/>
          </a:xfrm>
          <a:prstGeom prst="rect">
            <a:avLst/>
          </a:prstGeom>
          <a:noFill/>
        </p:spPr>
        <p:txBody>
          <a:bodyPr wrap="square" rtlCol="0">
            <a:spAutoFit/>
          </a:bodyPr>
          <a:lstStyle/>
          <a:p>
            <a:r>
              <a:rPr lang="en-US" sz="1400" b="1" dirty="0">
                <a:solidFill>
                  <a:srgbClr val="0070C0"/>
                </a:solidFill>
              </a:rPr>
              <a:t>(Objective learner)</a:t>
            </a:r>
          </a:p>
        </p:txBody>
      </p:sp>
      <p:sp>
        <p:nvSpPr>
          <p:cNvPr id="12" name="TextBox 11">
            <a:extLst>
              <a:ext uri="{FF2B5EF4-FFF2-40B4-BE49-F238E27FC236}">
                <a16:creationId xmlns:a16="http://schemas.microsoft.com/office/drawing/2014/main" id="{7F5F2AA6-A798-65B2-A225-339A1A724C3C}"/>
              </a:ext>
            </a:extLst>
          </p:cNvPr>
          <p:cNvSpPr txBox="1"/>
          <p:nvPr/>
        </p:nvSpPr>
        <p:spPr>
          <a:xfrm>
            <a:off x="9749927" y="3609115"/>
            <a:ext cx="1850834" cy="307777"/>
          </a:xfrm>
          <a:prstGeom prst="rect">
            <a:avLst/>
          </a:prstGeom>
          <a:noFill/>
        </p:spPr>
        <p:txBody>
          <a:bodyPr wrap="square" rtlCol="0">
            <a:spAutoFit/>
          </a:bodyPr>
          <a:lstStyle/>
          <a:p>
            <a:r>
              <a:rPr lang="en-US" sz="1400" b="1" dirty="0">
                <a:solidFill>
                  <a:srgbClr val="00B050"/>
                </a:solidFill>
              </a:rPr>
              <a:t>(Subjective learner)</a:t>
            </a:r>
          </a:p>
        </p:txBody>
      </p:sp>
    </p:spTree>
    <p:extLst>
      <p:ext uri="{BB962C8B-B14F-4D97-AF65-F5344CB8AC3E}">
        <p14:creationId xmlns:p14="http://schemas.microsoft.com/office/powerpoint/2010/main" val="1945637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3A60B-1954-813E-60F6-A575ECC54C0E}"/>
              </a:ext>
            </a:extLst>
          </p:cNvPr>
          <p:cNvSpPr>
            <a:spLocks noGrp="1"/>
          </p:cNvSpPr>
          <p:nvPr>
            <p:ph type="title"/>
          </p:nvPr>
        </p:nvSpPr>
        <p:spPr>
          <a:xfrm>
            <a:off x="838200" y="681037"/>
            <a:ext cx="9065964" cy="1325563"/>
          </a:xfrm>
        </p:spPr>
        <p:txBody>
          <a:bodyPr>
            <a:noAutofit/>
          </a:bodyPr>
          <a:lstStyle/>
          <a:p>
            <a:r>
              <a:rPr lang="en-US" sz="3200" b="1" dirty="0"/>
              <a:t>Methods: </a:t>
            </a:r>
            <a:r>
              <a:rPr lang="en-US" sz="3200" dirty="0"/>
              <a:t>Objective Residual Entropy as a Case-Specific Entropy Floor (Aleatoric Uncertainty)</a:t>
            </a:r>
            <a:br>
              <a:rPr lang="en-US" sz="3200" b="1" dirty="0"/>
            </a:br>
            <a:endParaRPr lang="en-US"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60D3EB-8945-35DA-7275-8C732A5CFD37}"/>
                  </a:ext>
                </a:extLst>
              </p:cNvPr>
              <p:cNvSpPr>
                <a:spLocks noGrp="1"/>
              </p:cNvSpPr>
              <p:nvPr>
                <p:ph idx="1"/>
              </p:nvPr>
            </p:nvSpPr>
            <p:spPr>
              <a:xfrm>
                <a:off x="626125" y="1962157"/>
                <a:ext cx="10939749" cy="4351338"/>
              </a:xfrm>
            </p:spPr>
            <p:txBody>
              <a:bodyPr>
                <a:normAutofit fontScale="77500" lnSpcReduction="20000"/>
              </a:bodyPr>
              <a:lstStyle/>
              <a:p>
                <a:pPr marL="0" indent="0">
                  <a:buNone/>
                </a:pPr>
                <a:r>
                  <a:rPr lang="en-US" dirty="0"/>
                  <a:t>To quantify both reducible and irreducible diagnostic uncertainty, we modeled diagnostic belief states as probability distributions over a fixed differential diagnosis using a curated likelihood ratio (LR) matrix of key clinical features. For each encounter, a learner-specific posterior distribution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𝑇</m:t>
                        </m:r>
                      </m:sub>
                    </m:sSub>
                    <m:d>
                      <m:dPr>
                        <m:ctrlPr>
                          <a:rPr lang="ar-AE" i="1">
                            <a:latin typeface="Cambria Math" panose="02040503050406030204" pitchFamily="18" charset="0"/>
                          </a:rPr>
                        </m:ctrlPr>
                      </m:dPr>
                      <m:e>
                        <m:r>
                          <a:rPr lang="ar-AE" i="1">
                            <a:latin typeface="Cambria Math" panose="02040503050406030204" pitchFamily="18" charset="0"/>
                          </a:rPr>
                          <m:t>𝑑</m:t>
                        </m:r>
                      </m:e>
                    </m:d>
                  </m:oMath>
                </a14:m>
                <a:r>
                  <a:rPr lang="en-US" dirty="0"/>
                  <a:t>was computed by sequential Bayesian updating from a case-specific prior using only those features explicitly elicited during the transcribed interview. Objective residual entropy was then calculated as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1">
                            <a:latin typeface="Cambria Math" panose="02040503050406030204" pitchFamily="18" charset="0"/>
                          </a:rPr>
                          <m:t>𝑇</m:t>
                        </m:r>
                      </m:sub>
                    </m:sSub>
                    <m:r>
                      <a:rPr lang="ar-AE">
                        <a:latin typeface="Cambria Math" panose="02040503050406030204" pitchFamily="18" charset="0"/>
                      </a:rPr>
                      <m:t>=−</m:t>
                    </m:r>
                    <m:nary>
                      <m:naryPr>
                        <m:chr m:val="∑"/>
                        <m:limLoc m:val="subSup"/>
                        <m:grow m:val="on"/>
                        <m:supHide m:val="on"/>
                        <m:ctrlPr>
                          <a:rPr lang="ar-AE" i="1">
                            <a:latin typeface="Cambria Math" panose="02040503050406030204" pitchFamily="18" charset="0"/>
                          </a:rPr>
                        </m:ctrlPr>
                      </m:naryPr>
                      <m:sub>
                        <m:r>
                          <a:rPr lang="ar-AE" i="1">
                            <a:latin typeface="Cambria Math" panose="02040503050406030204" pitchFamily="18" charset="0"/>
                          </a:rPr>
                          <m:t>𝑑</m:t>
                        </m:r>
                      </m:sub>
                      <m:sup/>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𝑇</m:t>
                            </m:r>
                          </m:sub>
                        </m:sSub>
                      </m:e>
                    </m:nary>
                    <m:d>
                      <m:dPr>
                        <m:ctrlPr>
                          <a:rPr lang="ar-AE" i="1">
                            <a:latin typeface="Cambria Math" panose="02040503050406030204" pitchFamily="18" charset="0"/>
                          </a:rPr>
                        </m:ctrlPr>
                      </m:dPr>
                      <m:e>
                        <m:r>
                          <a:rPr lang="ar-AE" i="1">
                            <a:latin typeface="Cambria Math" panose="02040503050406030204" pitchFamily="18" charset="0"/>
                          </a:rPr>
                          <m:t>𝑑</m:t>
                        </m:r>
                      </m:e>
                    </m:d>
                    <m:sSub>
                      <m:sSubPr>
                        <m:ctrlPr>
                          <a:rPr lang="ar-AE" i="1">
                            <a:latin typeface="Cambria Math" panose="02040503050406030204" pitchFamily="18" charset="0"/>
                          </a:rPr>
                        </m:ctrlPr>
                      </m:sSubPr>
                      <m:e>
                        <m:r>
                          <a:rPr lang="en-US" b="0" i="1" smtClean="0">
                            <a:latin typeface="Cambria Math" panose="02040503050406030204" pitchFamily="18" charset="0"/>
                          </a:rPr>
                          <m:t>𝑙𝑜𝑔</m:t>
                        </m:r>
                      </m:e>
                      <m:sub>
                        <m:r>
                          <a:rPr lang="ar-AE">
                            <a:latin typeface="Cambria Math" panose="02040503050406030204" pitchFamily="18" charset="0"/>
                          </a:rPr>
                          <m:t>2</m:t>
                        </m:r>
                      </m:sub>
                    </m:sSub>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𝑇</m:t>
                        </m:r>
                      </m:sub>
                    </m:sSub>
                    <m:d>
                      <m:dPr>
                        <m:ctrlPr>
                          <a:rPr lang="ar-AE" i="1">
                            <a:latin typeface="Cambria Math" panose="02040503050406030204" pitchFamily="18" charset="0"/>
                          </a:rPr>
                        </m:ctrlPr>
                      </m:dPr>
                      <m:e>
                        <m:r>
                          <a:rPr lang="ar-AE" i="1">
                            <a:latin typeface="Cambria Math" panose="02040503050406030204" pitchFamily="18" charset="0"/>
                          </a:rPr>
                          <m:t>𝑑</m:t>
                        </m:r>
                      </m:e>
                    </m:d>
                  </m:oMath>
                </a14:m>
                <a:r>
                  <a:rPr lang="ar-AE" dirty="0"/>
                  <a:t>, </a:t>
                </a:r>
                <a:r>
                  <a:rPr lang="en-US" dirty="0"/>
                  <a:t>representing the amount of uncertainty remaining after the learner’s information gathering. To estimate the irreducible uncertainty inherent to each case, we constructed an oracle posterior distribution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m:rPr>
                            <m:nor/>
                          </m:rPr>
                          <a:rPr lang="en-US" i="1"/>
                          <m:t>Oracle</m:t>
                        </m:r>
                      </m:sub>
                    </m:sSub>
                    <m:d>
                      <m:dPr>
                        <m:ctrlPr>
                          <a:rPr lang="ar-AE" i="1">
                            <a:latin typeface="Cambria Math" panose="02040503050406030204" pitchFamily="18" charset="0"/>
                          </a:rPr>
                        </m:ctrlPr>
                      </m:dPr>
                      <m:e>
                        <m:r>
                          <a:rPr lang="ar-AE" i="1">
                            <a:latin typeface="Cambria Math" panose="02040503050406030204" pitchFamily="18" charset="0"/>
                          </a:rPr>
                          <m:t>𝑑</m:t>
                        </m:r>
                      </m:e>
                    </m:d>
                  </m:oMath>
                </a14:m>
                <a:r>
                  <a:rPr lang="en-US" dirty="0"/>
                  <a:t>by applying the same LR update process using the full set of diagnostically available features known to be present or absent in the standardized case, independent of learner performance. The entropy of this oracle distribution,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m:rPr>
                            <m:sty m:val="p"/>
                          </m:rPr>
                          <a:rPr lang="en-US">
                            <a:latin typeface="Cambria Math" panose="02040503050406030204" pitchFamily="18" charset="0"/>
                          </a:rPr>
                          <m:t>min</m:t>
                        </m:r>
                      </m:sub>
                    </m:sSub>
                    <m:r>
                      <a:rPr lang="ar-AE">
                        <a:latin typeface="Cambria Math" panose="02040503050406030204" pitchFamily="18" charset="0"/>
                      </a:rPr>
                      <m:t>=−</m:t>
                    </m:r>
                    <m:nary>
                      <m:naryPr>
                        <m:chr m:val="∑"/>
                        <m:limLoc m:val="subSup"/>
                        <m:grow m:val="on"/>
                        <m:supHide m:val="on"/>
                        <m:ctrlPr>
                          <a:rPr lang="ar-AE" i="1">
                            <a:latin typeface="Cambria Math" panose="02040503050406030204" pitchFamily="18" charset="0"/>
                          </a:rPr>
                        </m:ctrlPr>
                      </m:naryPr>
                      <m:sub>
                        <m:r>
                          <a:rPr lang="ar-AE" i="1">
                            <a:latin typeface="Cambria Math" panose="02040503050406030204" pitchFamily="18" charset="0"/>
                          </a:rPr>
                          <m:t>𝑑</m:t>
                        </m:r>
                      </m:sub>
                      <m:sup/>
                      <m:e>
                        <m:sSub>
                          <m:sSubPr>
                            <m:ctrlPr>
                              <a:rPr lang="ar-AE" i="1">
                                <a:latin typeface="Cambria Math" panose="02040503050406030204" pitchFamily="18" charset="0"/>
                              </a:rPr>
                            </m:ctrlPr>
                          </m:sSubPr>
                          <m:e>
                            <m:r>
                              <a:rPr lang="ar-AE" i="1">
                                <a:latin typeface="Cambria Math" panose="02040503050406030204" pitchFamily="18" charset="0"/>
                              </a:rPr>
                              <m:t>𝑝</m:t>
                            </m:r>
                          </m:e>
                          <m:sub>
                            <m:r>
                              <m:rPr>
                                <m:nor/>
                              </m:rPr>
                              <a:rPr lang="en-US" i="1"/>
                              <m:t>Oracle</m:t>
                            </m:r>
                          </m:sub>
                        </m:sSub>
                      </m:e>
                    </m:nary>
                    <m:d>
                      <m:dPr>
                        <m:ctrlPr>
                          <a:rPr lang="ar-AE" i="1">
                            <a:latin typeface="Cambria Math" panose="02040503050406030204" pitchFamily="18" charset="0"/>
                          </a:rPr>
                        </m:ctrlPr>
                      </m:dPr>
                      <m:e>
                        <m:r>
                          <a:rPr lang="ar-AE" i="1">
                            <a:latin typeface="Cambria Math" panose="02040503050406030204" pitchFamily="18" charset="0"/>
                          </a:rPr>
                          <m:t>𝑑</m:t>
                        </m:r>
                      </m:e>
                    </m:d>
                    <m:sSub>
                      <m:sSubPr>
                        <m:ctrlPr>
                          <a:rPr lang="ar-AE" i="1">
                            <a:latin typeface="Cambria Math" panose="02040503050406030204" pitchFamily="18" charset="0"/>
                          </a:rPr>
                        </m:ctrlPr>
                      </m:sSubPr>
                      <m:e>
                        <m:r>
                          <a:rPr lang="en-US" b="0" i="1" smtClean="0">
                            <a:latin typeface="Cambria Math" panose="02040503050406030204" pitchFamily="18" charset="0"/>
                          </a:rPr>
                          <m:t>𝑙𝑜𝑔</m:t>
                        </m:r>
                      </m:e>
                      <m:sub>
                        <m:r>
                          <a:rPr lang="ar-AE">
                            <a:latin typeface="Cambria Math" panose="02040503050406030204" pitchFamily="18" charset="0"/>
                          </a:rPr>
                          <m:t>2</m:t>
                        </m:r>
                      </m:sub>
                    </m:sSub>
                    <m:sSub>
                      <m:sSubPr>
                        <m:ctrlPr>
                          <a:rPr lang="ar-AE" i="1">
                            <a:latin typeface="Cambria Math" panose="02040503050406030204" pitchFamily="18" charset="0"/>
                          </a:rPr>
                        </m:ctrlPr>
                      </m:sSubPr>
                      <m:e>
                        <m:r>
                          <a:rPr lang="ar-AE" i="1">
                            <a:latin typeface="Cambria Math" panose="02040503050406030204" pitchFamily="18" charset="0"/>
                          </a:rPr>
                          <m:t>𝑝</m:t>
                        </m:r>
                      </m:e>
                      <m:sub>
                        <m:r>
                          <m:rPr>
                            <m:nor/>
                          </m:rPr>
                          <a:rPr lang="en-US" i="1"/>
                          <m:t>Oracle</m:t>
                        </m:r>
                      </m:sub>
                    </m:sSub>
                    <m:d>
                      <m:dPr>
                        <m:ctrlPr>
                          <a:rPr lang="ar-AE" i="1">
                            <a:latin typeface="Cambria Math" panose="02040503050406030204" pitchFamily="18" charset="0"/>
                          </a:rPr>
                        </m:ctrlPr>
                      </m:dPr>
                      <m:e>
                        <m:r>
                          <a:rPr lang="ar-AE" i="1">
                            <a:latin typeface="Cambria Math" panose="02040503050406030204" pitchFamily="18" charset="0"/>
                          </a:rPr>
                          <m:t>𝑑</m:t>
                        </m:r>
                      </m:e>
                    </m:d>
                  </m:oMath>
                </a14:m>
                <a:r>
                  <a:rPr lang="ar-AE" dirty="0"/>
                  <a:t>, </a:t>
                </a:r>
                <a:r>
                  <a:rPr lang="en-US" dirty="0"/>
                  <a:t>defines a case-specific entropy floor representing the minimum uncertainty achievable within the constraints of the feature model. Comparisons between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a:rPr lang="ar-AE" i="1">
                            <a:latin typeface="Cambria Math" panose="02040503050406030204" pitchFamily="18" charset="0"/>
                          </a:rPr>
                          <m:t>𝑇</m:t>
                        </m:r>
                      </m:sub>
                    </m:sSub>
                  </m:oMath>
                </a14:m>
                <a:r>
                  <a:rPr lang="en-US" dirty="0"/>
                  <a:t>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𝐻</m:t>
                        </m:r>
                      </m:e>
                      <m:sub>
                        <m:r>
                          <m:rPr>
                            <m:sty m:val="p"/>
                          </m:rPr>
                          <a:rPr lang="en-US">
                            <a:latin typeface="Cambria Math" panose="02040503050406030204" pitchFamily="18" charset="0"/>
                          </a:rPr>
                          <m:t>min</m:t>
                        </m:r>
                        <m:r>
                          <a:rPr lang="en-US" b="0" i="1" smtClean="0">
                            <a:latin typeface="Cambria Math" panose="02040503050406030204" pitchFamily="18" charset="0"/>
                          </a:rPr>
                          <m:t> </m:t>
                        </m:r>
                      </m:sub>
                    </m:sSub>
                  </m:oMath>
                </a14:m>
                <a:r>
                  <a:rPr lang="en-US" dirty="0"/>
                  <a:t>allow separation of learner-dependent information loss from irreducible case ambiguity and provide a principled basis for assessing reasoning efficiency, framing errors, and diagnostic calibration.</a:t>
                </a:r>
              </a:p>
            </p:txBody>
          </p:sp>
        </mc:Choice>
        <mc:Fallback xmlns="">
          <p:sp>
            <p:nvSpPr>
              <p:cNvPr id="3" name="Content Placeholder 2">
                <a:extLst>
                  <a:ext uri="{FF2B5EF4-FFF2-40B4-BE49-F238E27FC236}">
                    <a16:creationId xmlns:a16="http://schemas.microsoft.com/office/drawing/2014/main" id="{D160D3EB-8945-35DA-7275-8C732A5CFD37}"/>
                  </a:ext>
                </a:extLst>
              </p:cNvPr>
              <p:cNvSpPr>
                <a:spLocks noGrp="1" noRot="1" noChangeAspect="1" noMove="1" noResize="1" noEditPoints="1" noAdjustHandles="1" noChangeArrowheads="1" noChangeShapeType="1" noTextEdit="1"/>
              </p:cNvSpPr>
              <p:nvPr>
                <p:ph idx="1"/>
              </p:nvPr>
            </p:nvSpPr>
            <p:spPr>
              <a:xfrm>
                <a:off x="626125" y="1962157"/>
                <a:ext cx="10939749" cy="4351338"/>
              </a:xfrm>
              <a:blipFill>
                <a:blip r:embed="rId2"/>
                <a:stretch>
                  <a:fillRect l="-725" t="-2801" r="-78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47173EB-A6F0-E479-BBB6-E7DE8712F638}"/>
              </a:ext>
            </a:extLst>
          </p:cNvPr>
          <p:cNvPicPr>
            <a:picLocks noChangeAspect="1"/>
          </p:cNvPicPr>
          <p:nvPr/>
        </p:nvPicPr>
        <p:blipFill>
          <a:blip r:embed="rId3"/>
          <a:stretch>
            <a:fillRect/>
          </a:stretch>
        </p:blipFill>
        <p:spPr>
          <a:xfrm>
            <a:off x="9625631" y="544505"/>
            <a:ext cx="2006703" cy="273064"/>
          </a:xfrm>
          <a:prstGeom prst="rect">
            <a:avLst/>
          </a:prstGeom>
        </p:spPr>
      </p:pic>
      <p:pic>
        <p:nvPicPr>
          <p:cNvPr id="7" name="Picture 6">
            <a:extLst>
              <a:ext uri="{FF2B5EF4-FFF2-40B4-BE49-F238E27FC236}">
                <a16:creationId xmlns:a16="http://schemas.microsoft.com/office/drawing/2014/main" id="{EAB839C9-DFAE-921D-1BF3-4C3C746AF20F}"/>
              </a:ext>
            </a:extLst>
          </p:cNvPr>
          <p:cNvPicPr>
            <a:picLocks noChangeAspect="1"/>
          </p:cNvPicPr>
          <p:nvPr/>
        </p:nvPicPr>
        <p:blipFill>
          <a:blip r:embed="rId4"/>
          <a:stretch>
            <a:fillRect/>
          </a:stretch>
        </p:blipFill>
        <p:spPr>
          <a:xfrm>
            <a:off x="9330340" y="1105685"/>
            <a:ext cx="2597283" cy="215911"/>
          </a:xfrm>
          <a:prstGeom prst="rect">
            <a:avLst/>
          </a:prstGeom>
        </p:spPr>
      </p:pic>
    </p:spTree>
    <p:extLst>
      <p:ext uri="{BB962C8B-B14F-4D97-AF65-F5344CB8AC3E}">
        <p14:creationId xmlns:p14="http://schemas.microsoft.com/office/powerpoint/2010/main" val="3186368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596AA-1424-6011-A930-9CDAD0F4A488}"/>
              </a:ext>
            </a:extLst>
          </p:cNvPr>
          <p:cNvSpPr>
            <a:spLocks noGrp="1"/>
          </p:cNvSpPr>
          <p:nvPr>
            <p:ph type="title"/>
          </p:nvPr>
        </p:nvSpPr>
        <p:spPr>
          <a:xfrm>
            <a:off x="838200" y="365125"/>
            <a:ext cx="10515600" cy="777875"/>
          </a:xfrm>
        </p:spPr>
        <p:txBody>
          <a:bodyPr>
            <a:normAutofit/>
          </a:bodyPr>
          <a:lstStyle/>
          <a:p>
            <a:r>
              <a:rPr lang="en-US" sz="3600" dirty="0"/>
              <a:t>Diagnostic calibration</a:t>
            </a:r>
          </a:p>
        </p:txBody>
      </p:sp>
      <p:sp>
        <p:nvSpPr>
          <p:cNvPr id="3" name="Content Placeholder 2">
            <a:extLst>
              <a:ext uri="{FF2B5EF4-FFF2-40B4-BE49-F238E27FC236}">
                <a16:creationId xmlns:a16="http://schemas.microsoft.com/office/drawing/2014/main" id="{38C07510-6CA3-BA40-B021-1F9112FF26E8}"/>
              </a:ext>
            </a:extLst>
          </p:cNvPr>
          <p:cNvSpPr>
            <a:spLocks noGrp="1"/>
          </p:cNvSpPr>
          <p:nvPr>
            <p:ph idx="1"/>
          </p:nvPr>
        </p:nvSpPr>
        <p:spPr>
          <a:xfrm>
            <a:off x="500270" y="1143000"/>
            <a:ext cx="10515600" cy="4351338"/>
          </a:xfrm>
        </p:spPr>
        <p:txBody>
          <a:bodyPr>
            <a:normAutofit fontScale="62500" lnSpcReduction="20000"/>
          </a:bodyPr>
          <a:lstStyle/>
          <a:p>
            <a:r>
              <a:rPr lang="en-US" dirty="0"/>
              <a:t>The study aims to quantify learners’ diagnostic calibration—the alignment between diagnostic confidence and diagnostic accuracy—by measuring the subjective experience of </a:t>
            </a:r>
            <a:r>
              <a:rPr lang="en-US" i="1" dirty="0"/>
              <a:t>surprise</a:t>
            </a:r>
            <a:r>
              <a:rPr lang="en-US" dirty="0"/>
              <a:t> when the final OSCE diagnosis differs from the learner’s stated differential. Surprise is the experiential signal of violated expectations and maps naturally onto information-theoretic constructs such as entropy and information gain. Emotion research consistently classifies surprise as a high-arousal state that is best captured through subjective intensity ratings. Decades of work conceptualize surprise as an emotion syndrome with four sub-components: a cognitive appraisal of unexpectedness, an experiential feeling of surprise, brief behavioral disruptions in processing (e.g., response delay), and expressive features such as eyebrow raising or jaw drop. For this study, we focus on the cognitive–experiential subcomponent most relevant to learners’ metacognitive judgment of diagnostic uncertainty. </a:t>
            </a:r>
            <a:r>
              <a:rPr lang="en-US" dirty="0" err="1"/>
              <a:t>Reisenzein</a:t>
            </a:r>
            <a:r>
              <a:rPr lang="en-US" dirty="0"/>
              <a:t> (2000) provides a well-validated framework for measuring this domain and identifies self-reported surprise intensity as the most direct and valid indicator, commonly operationalized with a 0–10 numeric scale. Because these measures were developed outside health professions education and our setting involves heightened emotional load in a summative OSCE, we adapted the validated structure into a context-specific 1–5 Likert scale with anchored descriptors to enhance clarity, reduce respondent burden, and support usable interpretation in educational research. This approach is further supported by Mauss and Robinson’s (2009) review of emotion measurement, which concludes that self-report is the primary validated method for assessing emotional states when physiological or expressive channels cannot be collected. Thus, the adapted Likert scale represents a theoretically grounded, empirically justified, and operationally feasible instrument for measuring learners’ anticipated surprise as an index of diagnostic calibration.</a:t>
            </a:r>
          </a:p>
        </p:txBody>
      </p:sp>
    </p:spTree>
    <p:extLst>
      <p:ext uri="{BB962C8B-B14F-4D97-AF65-F5344CB8AC3E}">
        <p14:creationId xmlns:p14="http://schemas.microsoft.com/office/powerpoint/2010/main" val="2508431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60C17-D6C5-8AD2-8AFB-EF974EDE8572}"/>
              </a:ext>
            </a:extLst>
          </p:cNvPr>
          <p:cNvSpPr>
            <a:spLocks noGrp="1"/>
          </p:cNvSpPr>
          <p:nvPr>
            <p:ph type="title"/>
          </p:nvPr>
        </p:nvSpPr>
        <p:spPr/>
        <p:txBody>
          <a:bodyPr>
            <a:normAutofit/>
          </a:bodyPr>
          <a:lstStyle/>
          <a:p>
            <a:r>
              <a:rPr lang="en-US" sz="3600" dirty="0"/>
              <a:t>Operationalizing this framework for clinician educator coaching:</a:t>
            </a:r>
          </a:p>
        </p:txBody>
      </p:sp>
      <p:pic>
        <p:nvPicPr>
          <p:cNvPr id="5" name="Content Placeholder 4">
            <a:extLst>
              <a:ext uri="{FF2B5EF4-FFF2-40B4-BE49-F238E27FC236}">
                <a16:creationId xmlns:a16="http://schemas.microsoft.com/office/drawing/2014/main" id="{5140BB03-1B15-15B5-5BAA-421D4979B0DB}"/>
              </a:ext>
            </a:extLst>
          </p:cNvPr>
          <p:cNvPicPr>
            <a:picLocks noGrp="1" noChangeAspect="1"/>
          </p:cNvPicPr>
          <p:nvPr>
            <p:ph idx="1"/>
          </p:nvPr>
        </p:nvPicPr>
        <p:blipFill>
          <a:blip r:embed="rId2"/>
          <a:stretch>
            <a:fillRect/>
          </a:stretch>
        </p:blipFill>
        <p:spPr>
          <a:xfrm>
            <a:off x="968465" y="2021194"/>
            <a:ext cx="10255069" cy="3953615"/>
          </a:xfrm>
          <a:prstGeom prst="rect">
            <a:avLst/>
          </a:prstGeom>
        </p:spPr>
      </p:pic>
    </p:spTree>
    <p:extLst>
      <p:ext uri="{BB962C8B-B14F-4D97-AF65-F5344CB8AC3E}">
        <p14:creationId xmlns:p14="http://schemas.microsoft.com/office/powerpoint/2010/main" val="599328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F1EA275-BB91-B097-9308-72F4920866F3}"/>
              </a:ext>
            </a:extLst>
          </p:cNvPr>
          <p:cNvPicPr>
            <a:picLocks noChangeAspect="1"/>
          </p:cNvPicPr>
          <p:nvPr/>
        </p:nvPicPr>
        <p:blipFill>
          <a:blip r:embed="rId2"/>
          <a:stretch>
            <a:fillRect/>
          </a:stretch>
        </p:blipFill>
        <p:spPr>
          <a:xfrm>
            <a:off x="1961790" y="2611786"/>
            <a:ext cx="8268419" cy="3859835"/>
          </a:xfrm>
          <a:prstGeom prst="rect">
            <a:avLst/>
          </a:prstGeom>
        </p:spPr>
      </p:pic>
      <p:sp>
        <p:nvSpPr>
          <p:cNvPr id="9" name="TextBox 8">
            <a:extLst>
              <a:ext uri="{FF2B5EF4-FFF2-40B4-BE49-F238E27FC236}">
                <a16:creationId xmlns:a16="http://schemas.microsoft.com/office/drawing/2014/main" id="{8FFEDF71-8372-1F34-DA7C-1FBF01134AB0}"/>
              </a:ext>
            </a:extLst>
          </p:cNvPr>
          <p:cNvSpPr txBox="1"/>
          <p:nvPr/>
        </p:nvSpPr>
        <p:spPr>
          <a:xfrm>
            <a:off x="1035893" y="463497"/>
            <a:ext cx="10399616" cy="2369880"/>
          </a:xfrm>
          <a:prstGeom prst="rect">
            <a:avLst/>
          </a:prstGeom>
          <a:noFill/>
        </p:spPr>
        <p:txBody>
          <a:bodyPr wrap="square">
            <a:spAutoFit/>
          </a:bodyPr>
          <a:lstStyle/>
          <a:p>
            <a:r>
              <a:rPr lang="en-US" sz="1600" dirty="0"/>
              <a:t>It’s pedagogically useful to measure calibration in bits because we already think in these terms, “it’s twice as likely as that”</a:t>
            </a:r>
          </a:p>
          <a:p>
            <a:endParaRPr lang="en-US" sz="1600" dirty="0"/>
          </a:p>
          <a:p>
            <a:r>
              <a:rPr lang="en-US" sz="1600" dirty="0"/>
              <a:t>In other words, Bits let you talk about </a:t>
            </a:r>
            <a:r>
              <a:rPr lang="en-US" sz="1600" b="1" dirty="0"/>
              <a:t>confidence errors</a:t>
            </a:r>
            <a:r>
              <a:rPr lang="en-US" sz="1600" dirty="0"/>
              <a:t> in exactly the same language.</a:t>
            </a:r>
          </a:p>
          <a:p>
            <a:endParaRPr lang="en-US" sz="1600" dirty="0"/>
          </a:p>
          <a:p>
            <a:pPr lvl="1" eaLnBrk="0" fontAlgn="base" hangingPunct="0">
              <a:spcBef>
                <a:spcPct val="0"/>
              </a:spcBef>
              <a:spcAft>
                <a:spcPct val="0"/>
              </a:spcAft>
              <a:buFontTx/>
              <a:buChar char="•"/>
            </a:pPr>
            <a:r>
              <a:rPr lang="en-US" altLang="en-US" sz="1600" dirty="0"/>
              <a:t> A </a:t>
            </a:r>
            <a:r>
              <a:rPr lang="en-US" altLang="en-US" sz="1600" b="1" dirty="0"/>
              <a:t>1-bit</a:t>
            </a:r>
            <a:r>
              <a:rPr lang="en-US" altLang="en-US" sz="1600" dirty="0"/>
              <a:t> increase in surprisal corresponds to the event being </a:t>
            </a:r>
            <a:r>
              <a:rPr lang="en-US" altLang="en-US" sz="1600" b="1" dirty="0"/>
              <a:t>half as probable</a:t>
            </a:r>
            <a:r>
              <a:rPr lang="en-US" altLang="en-US" sz="1600" dirty="0"/>
              <a:t>.</a:t>
            </a:r>
          </a:p>
          <a:p>
            <a:pPr lvl="1" eaLnBrk="0" fontAlgn="base" hangingPunct="0">
              <a:spcBef>
                <a:spcPct val="0"/>
              </a:spcBef>
              <a:spcAft>
                <a:spcPct val="0"/>
              </a:spcAft>
              <a:buFontTx/>
              <a:buChar char="•"/>
            </a:pPr>
            <a:r>
              <a:rPr lang="en-US" altLang="en-US" sz="1600" dirty="0"/>
              <a:t> A </a:t>
            </a:r>
            <a:r>
              <a:rPr lang="en-US" altLang="en-US" sz="1600" b="1" dirty="0"/>
              <a:t>1-bit</a:t>
            </a:r>
            <a:r>
              <a:rPr lang="en-US" altLang="en-US" sz="1600" dirty="0"/>
              <a:t> decrease corresponds to the event being </a:t>
            </a:r>
            <a:r>
              <a:rPr lang="en-US" altLang="en-US" sz="1600" b="1" dirty="0"/>
              <a:t>twice as probable</a:t>
            </a:r>
            <a:r>
              <a:rPr lang="en-US" altLang="en-US" sz="1600" dirty="0"/>
              <a:t>.</a:t>
            </a:r>
          </a:p>
          <a:p>
            <a:endParaRPr lang="en-US" dirty="0"/>
          </a:p>
          <a:p>
            <a:endParaRPr lang="en-US" dirty="0"/>
          </a:p>
        </p:txBody>
      </p:sp>
    </p:spTree>
    <p:extLst>
      <p:ext uri="{BB962C8B-B14F-4D97-AF65-F5344CB8AC3E}">
        <p14:creationId xmlns:p14="http://schemas.microsoft.com/office/powerpoint/2010/main" val="3521945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A472D-AEBD-355E-37D6-FB2AE648A068}"/>
              </a:ext>
            </a:extLst>
          </p:cNvPr>
          <p:cNvSpPr>
            <a:spLocks noGrp="1"/>
          </p:cNvSpPr>
          <p:nvPr>
            <p:ph type="title"/>
          </p:nvPr>
        </p:nvSpPr>
        <p:spPr>
          <a:xfrm>
            <a:off x="484632" y="623593"/>
            <a:ext cx="10515600" cy="484505"/>
          </a:xfrm>
        </p:spPr>
        <p:txBody>
          <a:bodyPr>
            <a:noAutofit/>
          </a:bodyPr>
          <a:lstStyle/>
          <a:p>
            <a:r>
              <a:rPr lang="en-US" sz="2800" dirty="0"/>
              <a:t>Measuring calibration of individual clinicians</a:t>
            </a:r>
            <a:br>
              <a:rPr lang="en-US" sz="2800" dirty="0"/>
            </a:br>
            <a:endParaRPr lang="en-US" sz="2800" dirty="0"/>
          </a:p>
        </p:txBody>
      </p:sp>
      <p:graphicFrame>
        <p:nvGraphicFramePr>
          <p:cNvPr id="4" name="Content Placeholder 3">
            <a:extLst>
              <a:ext uri="{FF2B5EF4-FFF2-40B4-BE49-F238E27FC236}">
                <a16:creationId xmlns:a16="http://schemas.microsoft.com/office/drawing/2014/main" id="{6FDE99AE-9348-6350-0087-9C552B397749}"/>
              </a:ext>
            </a:extLst>
          </p:cNvPr>
          <p:cNvGraphicFramePr>
            <a:graphicFrameLocks noGrp="1"/>
          </p:cNvGraphicFramePr>
          <p:nvPr>
            <p:ph idx="1"/>
            <p:extLst>
              <p:ext uri="{D42A27DB-BD31-4B8C-83A1-F6EECF244321}">
                <p14:modId xmlns:p14="http://schemas.microsoft.com/office/powerpoint/2010/main" val="2327977401"/>
              </p:ext>
            </p:extLst>
          </p:nvPr>
        </p:nvGraphicFramePr>
        <p:xfrm>
          <a:off x="215725" y="2109151"/>
          <a:ext cx="11600530" cy="3418840"/>
        </p:xfrm>
        <a:graphic>
          <a:graphicData uri="http://schemas.openxmlformats.org/drawingml/2006/table">
            <a:tbl>
              <a:tblPr firstRow="1" bandRow="1">
                <a:tableStyleId>{5C22544A-7EE6-4342-B048-85BDC9FD1C3A}</a:tableStyleId>
              </a:tblPr>
              <a:tblGrid>
                <a:gridCol w="1072628">
                  <a:extLst>
                    <a:ext uri="{9D8B030D-6E8A-4147-A177-3AD203B41FA5}">
                      <a16:colId xmlns:a16="http://schemas.microsoft.com/office/drawing/2014/main" val="3790878326"/>
                    </a:ext>
                  </a:extLst>
                </a:gridCol>
                <a:gridCol w="2265531">
                  <a:extLst>
                    <a:ext uri="{9D8B030D-6E8A-4147-A177-3AD203B41FA5}">
                      <a16:colId xmlns:a16="http://schemas.microsoft.com/office/drawing/2014/main" val="1630547680"/>
                    </a:ext>
                  </a:extLst>
                </a:gridCol>
                <a:gridCol w="2439573">
                  <a:extLst>
                    <a:ext uri="{9D8B030D-6E8A-4147-A177-3AD203B41FA5}">
                      <a16:colId xmlns:a16="http://schemas.microsoft.com/office/drawing/2014/main" val="2663934194"/>
                    </a:ext>
                  </a:extLst>
                </a:gridCol>
                <a:gridCol w="1907612">
                  <a:extLst>
                    <a:ext uri="{9D8B030D-6E8A-4147-A177-3AD203B41FA5}">
                      <a16:colId xmlns:a16="http://schemas.microsoft.com/office/drawing/2014/main" val="1099157762"/>
                    </a:ext>
                  </a:extLst>
                </a:gridCol>
                <a:gridCol w="1542421">
                  <a:extLst>
                    <a:ext uri="{9D8B030D-6E8A-4147-A177-3AD203B41FA5}">
                      <a16:colId xmlns:a16="http://schemas.microsoft.com/office/drawing/2014/main" val="1751231699"/>
                    </a:ext>
                  </a:extLst>
                </a:gridCol>
                <a:gridCol w="2372765">
                  <a:extLst>
                    <a:ext uri="{9D8B030D-6E8A-4147-A177-3AD203B41FA5}">
                      <a16:colId xmlns:a16="http://schemas.microsoft.com/office/drawing/2014/main" val="2833120705"/>
                    </a:ext>
                  </a:extLst>
                </a:gridCol>
              </a:tblGrid>
              <a:tr h="370840">
                <a:tc>
                  <a:txBody>
                    <a:bodyPr/>
                    <a:lstStyle/>
                    <a:p>
                      <a:r>
                        <a:rPr lang="en-US" sz="1200" dirty="0"/>
                        <a:t>Epistemic Emotion</a:t>
                      </a:r>
                    </a:p>
                  </a:txBody>
                  <a:tcPr/>
                </a:tc>
                <a:tc>
                  <a:txBody>
                    <a:bodyPr/>
                    <a:lstStyle/>
                    <a:p>
                      <a:pPr algn="ctr"/>
                      <a:r>
                        <a:rPr lang="en-US" sz="1200" dirty="0"/>
                        <a:t>Imposter syndrome </a:t>
                      </a:r>
                    </a:p>
                    <a:p>
                      <a:pPr algn="ctr"/>
                      <a:r>
                        <a:rPr lang="en-US" sz="1200" b="0" dirty="0"/>
                        <a:t>(low confidence individual independent of context)</a:t>
                      </a:r>
                    </a:p>
                  </a:txBody>
                  <a:tcPr/>
                </a:tc>
                <a:tc>
                  <a:txBody>
                    <a:bodyPr/>
                    <a:lstStyle/>
                    <a:p>
                      <a:pPr algn="ctr"/>
                      <a:r>
                        <a:rPr lang="en-US" sz="1200" b="1" dirty="0"/>
                        <a:t>Relational driver of angst </a:t>
                      </a:r>
                    </a:p>
                    <a:p>
                      <a:pPr algn="ctr"/>
                      <a:r>
                        <a:rPr lang="en-US" sz="1200" b="0" dirty="0"/>
                        <a:t>(“this is my preceptor’s patient… I don’t want to screw up”)</a:t>
                      </a:r>
                    </a:p>
                  </a:txBody>
                  <a:tcPr/>
                </a:tc>
                <a:tc>
                  <a:txBody>
                    <a:bodyPr/>
                    <a:lstStyle/>
                    <a:p>
                      <a:pPr algn="ctr"/>
                      <a:r>
                        <a:rPr lang="en-US" sz="1200" dirty="0"/>
                        <a:t>Clinical stakes</a:t>
                      </a:r>
                    </a:p>
                    <a:p>
                      <a:pPr algn="ctr"/>
                      <a:r>
                        <a:rPr lang="en-US" sz="1200" b="0" dirty="0"/>
                        <a:t>(“life / death decisions”)</a:t>
                      </a:r>
                    </a:p>
                  </a:txBody>
                  <a:tcPr/>
                </a:tc>
                <a:tc>
                  <a:txBody>
                    <a:bodyPr/>
                    <a:lstStyle/>
                    <a:p>
                      <a:pPr algn="ctr"/>
                      <a:r>
                        <a:rPr lang="en-US" sz="1200" b="1" dirty="0"/>
                        <a:t>Impression management </a:t>
                      </a:r>
                    </a:p>
                    <a:p>
                      <a:pPr algn="ctr"/>
                      <a:r>
                        <a:rPr lang="en-US" sz="1200" b="0" dirty="0"/>
                        <a:t>(“gaming the test”)</a:t>
                      </a:r>
                    </a:p>
                  </a:txBody>
                  <a:tcPr/>
                </a:tc>
                <a:tc>
                  <a:txBody>
                    <a:bodyPr/>
                    <a:lstStyle/>
                    <a:p>
                      <a:pPr algn="ctr"/>
                      <a:r>
                        <a:rPr lang="en-US" sz="1200" dirty="0"/>
                        <a:t>Perceived </a:t>
                      </a:r>
                      <a:r>
                        <a:rPr lang="en-US" sz="1200" i="1" dirty="0"/>
                        <a:t>missed opportunities</a:t>
                      </a:r>
                      <a:r>
                        <a:rPr lang="en-US" sz="1200" dirty="0"/>
                        <a:t> to firm up the working dx </a:t>
                      </a:r>
                    </a:p>
                    <a:p>
                      <a:pPr algn="ctr"/>
                      <a:r>
                        <a:rPr lang="en-US" sz="1200" b="0" i="0" dirty="0"/>
                        <a:t>(“I should’ve asked about this…”)</a:t>
                      </a:r>
                    </a:p>
                  </a:txBody>
                  <a:tcPr/>
                </a:tc>
                <a:extLst>
                  <a:ext uri="{0D108BD9-81ED-4DB2-BD59-A6C34878D82A}">
                    <a16:rowId xmlns:a16="http://schemas.microsoft.com/office/drawing/2014/main" val="1385903298"/>
                  </a:ext>
                </a:extLst>
              </a:tr>
              <a:tr h="370840">
                <a:tc>
                  <a:txBody>
                    <a:bodyPr/>
                    <a:lstStyle/>
                    <a:p>
                      <a:r>
                        <a:rPr lang="en-US" sz="1200" dirty="0"/>
                        <a:t>Confidence</a:t>
                      </a:r>
                    </a:p>
                  </a:txBody>
                  <a:tcPr/>
                </a:tc>
                <a:tc>
                  <a:txBody>
                    <a:bodyPr/>
                    <a:lstStyle/>
                    <a:p>
                      <a:pPr algn="ctr"/>
                      <a:r>
                        <a:rPr lang="en-US" sz="1200" dirty="0"/>
                        <a:t>xxx</a:t>
                      </a:r>
                    </a:p>
                  </a:txBody>
                  <a:tcPr/>
                </a:tc>
                <a:tc>
                  <a:txBody>
                    <a:bodyPr/>
                    <a:lstStyle/>
                    <a:p>
                      <a:pPr algn="ctr"/>
                      <a:r>
                        <a:rPr lang="en-US" sz="1200" dirty="0"/>
                        <a:t>x</a:t>
                      </a:r>
                    </a:p>
                  </a:txBody>
                  <a:tcPr/>
                </a:tc>
                <a:tc>
                  <a:txBody>
                    <a:bodyPr/>
                    <a:lstStyle/>
                    <a:p>
                      <a:pPr algn="ctr"/>
                      <a:r>
                        <a:rPr lang="en-US" sz="1200" dirty="0"/>
                        <a:t>x</a:t>
                      </a:r>
                    </a:p>
                  </a:txBody>
                  <a:tcPr/>
                </a:tc>
                <a:tc>
                  <a:txBody>
                    <a:bodyPr/>
                    <a:lstStyle/>
                    <a:p>
                      <a:pPr algn="ctr"/>
                      <a:r>
                        <a:rPr lang="en-US" sz="1200" dirty="0"/>
                        <a:t>xxx</a:t>
                      </a:r>
                    </a:p>
                  </a:txBody>
                  <a:tcPr/>
                </a:tc>
                <a:tc>
                  <a:txBody>
                    <a:bodyPr/>
                    <a:lstStyle/>
                    <a:p>
                      <a:pPr algn="ctr"/>
                      <a:r>
                        <a:rPr lang="en-US" sz="1200" dirty="0"/>
                        <a:t>x</a:t>
                      </a:r>
                    </a:p>
                  </a:txBody>
                  <a:tcPr/>
                </a:tc>
                <a:extLst>
                  <a:ext uri="{0D108BD9-81ED-4DB2-BD59-A6C34878D82A}">
                    <a16:rowId xmlns:a16="http://schemas.microsoft.com/office/drawing/2014/main" val="2576793075"/>
                  </a:ext>
                </a:extLst>
              </a:tr>
              <a:tr h="370840">
                <a:tc>
                  <a:txBody>
                    <a:bodyPr/>
                    <a:lstStyle/>
                    <a:p>
                      <a:r>
                        <a:rPr lang="en-US" sz="1200" dirty="0"/>
                        <a:t>Certainty</a:t>
                      </a:r>
                    </a:p>
                  </a:txBody>
                  <a:tcPr/>
                </a:tc>
                <a:tc>
                  <a:txBody>
                    <a:bodyPr/>
                    <a:lstStyle/>
                    <a:p>
                      <a:pPr algn="ctr"/>
                      <a:r>
                        <a:rPr lang="en-US" sz="1200" dirty="0"/>
                        <a:t>xxx</a:t>
                      </a:r>
                    </a:p>
                  </a:txBody>
                  <a:tcPr/>
                </a:tc>
                <a:tc>
                  <a:txBody>
                    <a:bodyPr/>
                    <a:lstStyle/>
                    <a:p>
                      <a:pPr algn="ctr"/>
                      <a:r>
                        <a:rPr lang="en-US" sz="1200" dirty="0"/>
                        <a:t>x</a:t>
                      </a:r>
                    </a:p>
                  </a:txBody>
                  <a:tcPr/>
                </a:tc>
                <a:tc>
                  <a:txBody>
                    <a:bodyPr/>
                    <a:lstStyle/>
                    <a:p>
                      <a:pPr algn="ctr"/>
                      <a:r>
                        <a:rPr lang="en-US" sz="1200" dirty="0"/>
                        <a:t>x</a:t>
                      </a:r>
                    </a:p>
                  </a:txBody>
                  <a:tcPr/>
                </a:tc>
                <a:tc>
                  <a:txBody>
                    <a:bodyPr/>
                    <a:lstStyle/>
                    <a:p>
                      <a:pPr algn="ctr"/>
                      <a:r>
                        <a:rPr lang="en-US" sz="1200" dirty="0"/>
                        <a:t>xxx</a:t>
                      </a:r>
                    </a:p>
                  </a:txBody>
                  <a:tcPr/>
                </a:tc>
                <a:tc>
                  <a:txBody>
                    <a:bodyPr/>
                    <a:lstStyle/>
                    <a:p>
                      <a:pPr algn="ctr"/>
                      <a:r>
                        <a:rPr lang="en-US" sz="1200" dirty="0"/>
                        <a:t>x</a:t>
                      </a:r>
                    </a:p>
                  </a:txBody>
                  <a:tcPr/>
                </a:tc>
                <a:extLst>
                  <a:ext uri="{0D108BD9-81ED-4DB2-BD59-A6C34878D82A}">
                    <a16:rowId xmlns:a16="http://schemas.microsoft.com/office/drawing/2014/main" val="3150360770"/>
                  </a:ext>
                </a:extLst>
              </a:tr>
              <a:tr h="370840">
                <a:tc>
                  <a:txBody>
                    <a:bodyPr/>
                    <a:lstStyle/>
                    <a:p>
                      <a:r>
                        <a:rPr lang="en-US" sz="1200" dirty="0"/>
                        <a:t>Uncertainty</a:t>
                      </a:r>
                    </a:p>
                  </a:txBody>
                  <a:tcPr/>
                </a:tc>
                <a:tc>
                  <a:txBody>
                    <a:bodyPr/>
                    <a:lstStyle/>
                    <a:p>
                      <a:pPr algn="ctr"/>
                      <a:r>
                        <a:rPr lang="en-US" sz="1200" dirty="0"/>
                        <a:t>xxx</a:t>
                      </a:r>
                    </a:p>
                  </a:txBody>
                  <a:tcPr/>
                </a:tc>
                <a:tc>
                  <a:txBody>
                    <a:bodyPr/>
                    <a:lstStyle/>
                    <a:p>
                      <a:pPr algn="ctr"/>
                      <a:r>
                        <a:rPr lang="en-US" sz="1200" dirty="0"/>
                        <a:t>x</a:t>
                      </a:r>
                    </a:p>
                  </a:txBody>
                  <a:tcPr/>
                </a:tc>
                <a:tc>
                  <a:txBody>
                    <a:bodyPr/>
                    <a:lstStyle/>
                    <a:p>
                      <a:pPr algn="ctr"/>
                      <a:r>
                        <a:rPr lang="en-US" sz="1200" dirty="0"/>
                        <a:t>x</a:t>
                      </a:r>
                    </a:p>
                  </a:txBody>
                  <a:tcPr/>
                </a:tc>
                <a:tc>
                  <a:txBody>
                    <a:bodyPr/>
                    <a:lstStyle/>
                    <a:p>
                      <a:pPr algn="ctr"/>
                      <a:r>
                        <a:rPr lang="en-US" sz="1200" dirty="0"/>
                        <a:t>xxx</a:t>
                      </a:r>
                    </a:p>
                  </a:txBody>
                  <a:tcPr/>
                </a:tc>
                <a:tc>
                  <a:txBody>
                    <a:bodyPr/>
                    <a:lstStyle/>
                    <a:p>
                      <a:pPr algn="ctr"/>
                      <a:r>
                        <a:rPr lang="en-US" sz="1200" dirty="0"/>
                        <a:t>x</a:t>
                      </a:r>
                    </a:p>
                  </a:txBody>
                  <a:tcPr/>
                </a:tc>
                <a:extLst>
                  <a:ext uri="{0D108BD9-81ED-4DB2-BD59-A6C34878D82A}">
                    <a16:rowId xmlns:a16="http://schemas.microsoft.com/office/drawing/2014/main" val="1712727178"/>
                  </a:ext>
                </a:extLst>
              </a:tr>
              <a:tr h="370840">
                <a:tc>
                  <a:txBody>
                    <a:bodyPr/>
                    <a:lstStyle/>
                    <a:p>
                      <a:r>
                        <a:rPr lang="en-US" sz="1200" dirty="0"/>
                        <a:t>Angst</a:t>
                      </a:r>
                    </a:p>
                  </a:txBody>
                  <a:tcPr/>
                </a:tc>
                <a:tc>
                  <a:txBody>
                    <a:bodyPr/>
                    <a:lstStyle/>
                    <a:p>
                      <a:pPr algn="ctr"/>
                      <a:r>
                        <a:rPr lang="en-US" sz="1200" dirty="0"/>
                        <a:t>x</a:t>
                      </a:r>
                    </a:p>
                  </a:txBody>
                  <a:tcPr/>
                </a:tc>
                <a:tc>
                  <a:txBody>
                    <a:bodyPr/>
                    <a:lstStyle/>
                    <a:p>
                      <a:pPr algn="ctr"/>
                      <a:r>
                        <a:rPr lang="en-US" sz="1200" dirty="0"/>
                        <a:t>xxx</a:t>
                      </a:r>
                    </a:p>
                  </a:txBody>
                  <a:tcPr/>
                </a:tc>
                <a:tc>
                  <a:txBody>
                    <a:bodyPr/>
                    <a:lstStyle/>
                    <a:p>
                      <a:pPr algn="ctr"/>
                      <a:r>
                        <a:rPr lang="en-US" sz="1200" dirty="0"/>
                        <a:t>xxx</a:t>
                      </a:r>
                    </a:p>
                  </a:txBody>
                  <a:tcPr/>
                </a:tc>
                <a:tc>
                  <a:txBody>
                    <a:bodyPr/>
                    <a:lstStyle/>
                    <a:p>
                      <a:pPr algn="ctr"/>
                      <a:r>
                        <a:rPr lang="en-US" sz="1200" dirty="0"/>
                        <a:t>x</a:t>
                      </a:r>
                    </a:p>
                  </a:txBody>
                  <a:tcPr/>
                </a:tc>
                <a:tc>
                  <a:txBody>
                    <a:bodyPr/>
                    <a:lstStyle/>
                    <a:p>
                      <a:pPr algn="ctr"/>
                      <a:r>
                        <a:rPr lang="en-US" sz="1200" dirty="0"/>
                        <a:t>x</a:t>
                      </a:r>
                    </a:p>
                  </a:txBody>
                  <a:tcPr/>
                </a:tc>
                <a:extLst>
                  <a:ext uri="{0D108BD9-81ED-4DB2-BD59-A6C34878D82A}">
                    <a16:rowId xmlns:a16="http://schemas.microsoft.com/office/drawing/2014/main" val="3073838739"/>
                  </a:ext>
                </a:extLst>
              </a:tr>
              <a:tr h="370840">
                <a:tc>
                  <a:txBody>
                    <a:bodyPr/>
                    <a:lstStyle/>
                    <a:p>
                      <a:r>
                        <a:rPr lang="en-US" sz="1200" dirty="0"/>
                        <a:t>Unsettled</a:t>
                      </a:r>
                    </a:p>
                  </a:txBody>
                  <a:tcPr/>
                </a:tc>
                <a:tc>
                  <a:txBody>
                    <a:bodyPr/>
                    <a:lstStyle/>
                    <a:p>
                      <a:pPr algn="ctr"/>
                      <a:r>
                        <a:rPr lang="en-US" sz="1200" dirty="0"/>
                        <a:t>x</a:t>
                      </a:r>
                    </a:p>
                  </a:txBody>
                  <a:tcPr/>
                </a:tc>
                <a:tc>
                  <a:txBody>
                    <a:bodyPr/>
                    <a:lstStyle/>
                    <a:p>
                      <a:pPr algn="ctr"/>
                      <a:r>
                        <a:rPr lang="en-US" sz="1200" dirty="0"/>
                        <a:t>xxx</a:t>
                      </a:r>
                    </a:p>
                  </a:txBody>
                  <a:tcPr/>
                </a:tc>
                <a:tc>
                  <a:txBody>
                    <a:bodyPr/>
                    <a:lstStyle/>
                    <a:p>
                      <a:pPr algn="ctr"/>
                      <a:r>
                        <a:rPr lang="en-US" sz="1200" dirty="0"/>
                        <a:t>xxx</a:t>
                      </a:r>
                    </a:p>
                  </a:txBody>
                  <a:tcPr/>
                </a:tc>
                <a:tc>
                  <a:txBody>
                    <a:bodyPr/>
                    <a:lstStyle/>
                    <a:p>
                      <a:pPr algn="ctr"/>
                      <a:r>
                        <a:rPr lang="en-US" sz="1200" dirty="0"/>
                        <a:t>x</a:t>
                      </a:r>
                    </a:p>
                  </a:txBody>
                  <a:tcPr/>
                </a:tc>
                <a:tc>
                  <a:txBody>
                    <a:bodyPr/>
                    <a:lstStyle/>
                    <a:p>
                      <a:pPr algn="ctr"/>
                      <a:r>
                        <a:rPr lang="en-US" sz="1200" dirty="0"/>
                        <a:t>?</a:t>
                      </a:r>
                    </a:p>
                  </a:txBody>
                  <a:tcPr/>
                </a:tc>
                <a:extLst>
                  <a:ext uri="{0D108BD9-81ED-4DB2-BD59-A6C34878D82A}">
                    <a16:rowId xmlns:a16="http://schemas.microsoft.com/office/drawing/2014/main" val="4179782001"/>
                  </a:ext>
                </a:extLst>
              </a:tr>
              <a:tr h="370840">
                <a:tc>
                  <a:txBody>
                    <a:bodyPr/>
                    <a:lstStyle/>
                    <a:p>
                      <a:r>
                        <a:rPr lang="en-US" sz="1600" b="1" dirty="0">
                          <a:solidFill>
                            <a:schemeClr val="accent3">
                              <a:lumMod val="75000"/>
                            </a:schemeClr>
                          </a:solidFill>
                        </a:rPr>
                        <a:t>Surprise</a:t>
                      </a:r>
                    </a:p>
                  </a:txBody>
                  <a:tcPr/>
                </a:tc>
                <a:tc>
                  <a:txBody>
                    <a:bodyPr/>
                    <a:lstStyle/>
                    <a:p>
                      <a:pPr algn="ctr"/>
                      <a:r>
                        <a:rPr lang="en-US" sz="1600" b="1" dirty="0">
                          <a:solidFill>
                            <a:schemeClr val="accent3">
                              <a:lumMod val="75000"/>
                            </a:schemeClr>
                          </a:solidFill>
                        </a:rPr>
                        <a:t>?</a:t>
                      </a:r>
                    </a:p>
                  </a:txBody>
                  <a:tcPr/>
                </a:tc>
                <a:tc>
                  <a:txBody>
                    <a:bodyPr/>
                    <a:lstStyle/>
                    <a:p>
                      <a:pPr algn="ctr"/>
                      <a:r>
                        <a:rPr lang="en-US" sz="1600" b="1" dirty="0">
                          <a:solidFill>
                            <a:schemeClr val="accent3">
                              <a:lumMod val="75000"/>
                            </a:schemeClr>
                          </a:solidFill>
                        </a:rPr>
                        <a:t>?</a:t>
                      </a:r>
                    </a:p>
                  </a:txBody>
                  <a:tcPr/>
                </a:tc>
                <a:tc>
                  <a:txBody>
                    <a:bodyPr/>
                    <a:lstStyle/>
                    <a:p>
                      <a:pPr algn="ctr"/>
                      <a:r>
                        <a:rPr lang="en-US" sz="1600" b="1" dirty="0">
                          <a:solidFill>
                            <a:schemeClr val="accent3">
                              <a:lumMod val="75000"/>
                            </a:schemeClr>
                          </a:solidFill>
                        </a:rPr>
                        <a:t>?</a:t>
                      </a:r>
                    </a:p>
                  </a:txBody>
                  <a:tcPr/>
                </a:tc>
                <a:tc>
                  <a:txBody>
                    <a:bodyPr/>
                    <a:lstStyle/>
                    <a:p>
                      <a:pPr algn="ctr"/>
                      <a:r>
                        <a:rPr lang="en-US" sz="1600" b="1" dirty="0">
                          <a:solidFill>
                            <a:schemeClr val="accent3">
                              <a:lumMod val="75000"/>
                            </a:schemeClr>
                          </a:solidFill>
                        </a:rPr>
                        <a:t>?</a:t>
                      </a:r>
                    </a:p>
                  </a:txBody>
                  <a:tcPr/>
                </a:tc>
                <a:tc>
                  <a:txBody>
                    <a:bodyPr/>
                    <a:lstStyle/>
                    <a:p>
                      <a:pPr algn="ctr"/>
                      <a:r>
                        <a:rPr lang="en-US" sz="1600" b="1" dirty="0">
                          <a:solidFill>
                            <a:schemeClr val="accent3">
                              <a:lumMod val="75000"/>
                            </a:schemeClr>
                          </a:solidFill>
                        </a:rPr>
                        <a:t>?</a:t>
                      </a:r>
                    </a:p>
                  </a:txBody>
                  <a:tcPr/>
                </a:tc>
                <a:extLst>
                  <a:ext uri="{0D108BD9-81ED-4DB2-BD59-A6C34878D82A}">
                    <a16:rowId xmlns:a16="http://schemas.microsoft.com/office/drawing/2014/main" val="378800956"/>
                  </a:ext>
                </a:extLst>
              </a:tr>
              <a:tr h="370840">
                <a:tc>
                  <a:txBody>
                    <a:bodyPr/>
                    <a:lstStyle/>
                    <a:p>
                      <a:r>
                        <a:rPr lang="en-US" sz="1200" b="0" dirty="0">
                          <a:solidFill>
                            <a:srgbClr val="FF0000"/>
                          </a:solidFill>
                        </a:rPr>
                        <a:t>Regret</a:t>
                      </a:r>
                    </a:p>
                  </a:txBody>
                  <a:tcPr/>
                </a:tc>
                <a:tc>
                  <a:txBody>
                    <a:bodyPr/>
                    <a:lstStyle/>
                    <a:p>
                      <a:pPr algn="ctr"/>
                      <a:r>
                        <a:rPr lang="en-US" sz="1200" b="0" dirty="0">
                          <a:solidFill>
                            <a:srgbClr val="FF0000"/>
                          </a:solidFill>
                        </a:rPr>
                        <a:t>?</a:t>
                      </a:r>
                    </a:p>
                  </a:txBody>
                  <a:tcPr/>
                </a:tc>
                <a:tc>
                  <a:txBody>
                    <a:bodyPr/>
                    <a:lstStyle/>
                    <a:p>
                      <a:pPr algn="ctr"/>
                      <a:r>
                        <a:rPr lang="en-US" sz="1200" b="0" dirty="0">
                          <a:solidFill>
                            <a:srgbClr val="FF0000"/>
                          </a:solidFill>
                        </a:rPr>
                        <a:t>xxx</a:t>
                      </a:r>
                    </a:p>
                  </a:txBody>
                  <a:tcPr/>
                </a:tc>
                <a:tc>
                  <a:txBody>
                    <a:bodyPr/>
                    <a:lstStyle/>
                    <a:p>
                      <a:pPr algn="ctr"/>
                      <a:r>
                        <a:rPr lang="en-US" sz="1200" b="0" dirty="0">
                          <a:solidFill>
                            <a:srgbClr val="FF0000"/>
                          </a:solidFill>
                        </a:rPr>
                        <a:t>xxx</a:t>
                      </a:r>
                    </a:p>
                  </a:txBody>
                  <a:tcPr/>
                </a:tc>
                <a:tc>
                  <a:txBody>
                    <a:bodyPr/>
                    <a:lstStyle/>
                    <a:p>
                      <a:pPr algn="ctr"/>
                      <a:r>
                        <a:rPr lang="en-US" sz="1200" b="0" dirty="0">
                          <a:solidFill>
                            <a:srgbClr val="FF0000"/>
                          </a:solidFill>
                        </a:rPr>
                        <a:t>?</a:t>
                      </a:r>
                    </a:p>
                  </a:txBody>
                  <a:tcPr/>
                </a:tc>
                <a:tc>
                  <a:txBody>
                    <a:bodyPr/>
                    <a:lstStyle/>
                    <a:p>
                      <a:pPr algn="ctr"/>
                      <a:r>
                        <a:rPr lang="en-US" sz="1200" b="0" dirty="0">
                          <a:solidFill>
                            <a:srgbClr val="FF0000"/>
                          </a:solidFill>
                        </a:rPr>
                        <a:t>xxx</a:t>
                      </a:r>
                    </a:p>
                  </a:txBody>
                  <a:tcPr/>
                </a:tc>
                <a:extLst>
                  <a:ext uri="{0D108BD9-81ED-4DB2-BD59-A6C34878D82A}">
                    <a16:rowId xmlns:a16="http://schemas.microsoft.com/office/drawing/2014/main" val="934258983"/>
                  </a:ext>
                </a:extLst>
              </a:tr>
            </a:tbl>
          </a:graphicData>
        </a:graphic>
      </p:graphicFrame>
      <p:sp>
        <p:nvSpPr>
          <p:cNvPr id="5" name="TextBox 4">
            <a:extLst>
              <a:ext uri="{FF2B5EF4-FFF2-40B4-BE49-F238E27FC236}">
                <a16:creationId xmlns:a16="http://schemas.microsoft.com/office/drawing/2014/main" id="{ED3A94EF-87F5-E397-CE0C-B483BB422F2D}"/>
              </a:ext>
            </a:extLst>
          </p:cNvPr>
          <p:cNvSpPr txBox="1"/>
          <p:nvPr/>
        </p:nvSpPr>
        <p:spPr>
          <a:xfrm>
            <a:off x="484632" y="870184"/>
            <a:ext cx="11062717" cy="1077218"/>
          </a:xfrm>
          <a:prstGeom prst="rect">
            <a:avLst/>
          </a:prstGeom>
          <a:noFill/>
        </p:spPr>
        <p:txBody>
          <a:bodyPr wrap="square" rtlCol="0">
            <a:spAutoFit/>
          </a:bodyPr>
          <a:lstStyle/>
          <a:p>
            <a:r>
              <a:rPr lang="en-US" sz="1600" i="1" dirty="0"/>
              <a:t>Hypothesis: </a:t>
            </a:r>
            <a:r>
              <a:rPr lang="en-US" sz="1600" dirty="0"/>
              <a:t>Advanced diagnosticians will be more calibrated than novices</a:t>
            </a:r>
          </a:p>
          <a:p>
            <a:endParaRPr lang="en-US" sz="1600" dirty="0"/>
          </a:p>
          <a:p>
            <a:r>
              <a:rPr lang="en-US" sz="1600" b="1" i="1" dirty="0">
                <a:solidFill>
                  <a:schemeClr val="accent3"/>
                </a:solidFill>
              </a:rPr>
              <a:t>Challenge:</a:t>
            </a:r>
            <a:r>
              <a:rPr lang="en-US" sz="1600" b="1" dirty="0">
                <a:solidFill>
                  <a:schemeClr val="accent3"/>
                </a:solidFill>
              </a:rPr>
              <a:t> </a:t>
            </a:r>
            <a:r>
              <a:rPr lang="en-US" sz="1600" dirty="0"/>
              <a:t>Measuring the interviewer’s subjective level of certainty in their diagnostic refinement when there are multiple, off-target, contextual drivers of a learner’s emotional states</a:t>
            </a:r>
          </a:p>
        </p:txBody>
      </p:sp>
      <p:sp>
        <p:nvSpPr>
          <p:cNvPr id="6" name="TextBox 5">
            <a:extLst>
              <a:ext uri="{FF2B5EF4-FFF2-40B4-BE49-F238E27FC236}">
                <a16:creationId xmlns:a16="http://schemas.microsoft.com/office/drawing/2014/main" id="{731E4C5D-B003-8BC3-3ED8-4F872BB385C5}"/>
              </a:ext>
            </a:extLst>
          </p:cNvPr>
          <p:cNvSpPr txBox="1"/>
          <p:nvPr/>
        </p:nvSpPr>
        <p:spPr>
          <a:xfrm>
            <a:off x="309812" y="5695798"/>
            <a:ext cx="11805988" cy="954107"/>
          </a:xfrm>
          <a:prstGeom prst="rect">
            <a:avLst/>
          </a:prstGeom>
          <a:noFill/>
        </p:spPr>
        <p:txBody>
          <a:bodyPr wrap="square" rtlCol="0">
            <a:spAutoFit/>
          </a:bodyPr>
          <a:lstStyle/>
          <a:p>
            <a:r>
              <a:rPr lang="en-US" sz="1400" dirty="0"/>
              <a:t>Q1) How </a:t>
            </a:r>
            <a:r>
              <a:rPr lang="en-US" sz="1400" b="1" dirty="0">
                <a:solidFill>
                  <a:schemeClr val="accent3"/>
                </a:solidFill>
              </a:rPr>
              <a:t>surprised</a:t>
            </a:r>
            <a:r>
              <a:rPr lang="en-US" sz="1400" dirty="0"/>
              <a:t> would you be if the final diagnosis ended up being something other than what you’ve listed on the differential diagnosis?</a:t>
            </a:r>
          </a:p>
          <a:p>
            <a:r>
              <a:rPr lang="en-US" sz="1400" strike="sngStrike" dirty="0"/>
              <a:t>Q2) How much will you be </a:t>
            </a:r>
            <a:r>
              <a:rPr lang="en-US" sz="1400" strike="sngStrike" dirty="0">
                <a:solidFill>
                  <a:srgbClr val="FF0000"/>
                </a:solidFill>
              </a:rPr>
              <a:t>ruminating </a:t>
            </a:r>
            <a:r>
              <a:rPr lang="en-US" sz="1400" strike="sngStrike" dirty="0"/>
              <a:t>about various possibilities in this patient tonight?</a:t>
            </a:r>
          </a:p>
          <a:p>
            <a:r>
              <a:rPr lang="en-US" sz="1400" strike="sngStrike" dirty="0"/>
              <a:t>Q2) If an </a:t>
            </a:r>
            <a:r>
              <a:rPr lang="en-US" sz="1400" strike="sngStrike" dirty="0">
                <a:solidFill>
                  <a:srgbClr val="FF0000"/>
                </a:solidFill>
              </a:rPr>
              <a:t>unexpected</a:t>
            </a:r>
            <a:r>
              <a:rPr lang="en-US" sz="1400" strike="sngStrike" dirty="0"/>
              <a:t> diagnosis were to become apparent, would you feel any </a:t>
            </a:r>
            <a:r>
              <a:rPr lang="en-US" sz="1400" strike="sngStrike" dirty="0">
                <a:solidFill>
                  <a:srgbClr val="FF0000"/>
                </a:solidFill>
              </a:rPr>
              <a:t>regret</a:t>
            </a:r>
            <a:r>
              <a:rPr lang="en-US" sz="1400" strike="sngStrike" dirty="0"/>
              <a:t> about missed opportunities to firm up the initial working diagnosis</a:t>
            </a:r>
            <a:r>
              <a:rPr lang="en-US" sz="1400" dirty="0"/>
              <a:t>?</a:t>
            </a:r>
          </a:p>
          <a:p>
            <a:endParaRPr lang="en-US" sz="1400" dirty="0"/>
          </a:p>
        </p:txBody>
      </p:sp>
    </p:spTree>
    <p:extLst>
      <p:ext uri="{BB962C8B-B14F-4D97-AF65-F5344CB8AC3E}">
        <p14:creationId xmlns:p14="http://schemas.microsoft.com/office/powerpoint/2010/main" val="781632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E8A83-2649-24FE-FD5C-FAB950D282E2}"/>
              </a:ext>
            </a:extLst>
          </p:cNvPr>
          <p:cNvSpPr>
            <a:spLocks noGrp="1"/>
          </p:cNvSpPr>
          <p:nvPr>
            <p:ph type="title"/>
          </p:nvPr>
        </p:nvSpPr>
        <p:spPr>
          <a:xfrm>
            <a:off x="838200" y="365125"/>
            <a:ext cx="11071034" cy="1325563"/>
          </a:xfrm>
        </p:spPr>
        <p:txBody>
          <a:bodyPr>
            <a:noAutofit/>
          </a:bodyPr>
          <a:lstStyle/>
          <a:p>
            <a:r>
              <a:rPr lang="en-US" sz="3600" dirty="0"/>
              <a:t>How do implied probabilities (implied P) from a subjective Likert scale help us measure anticipated surprise?</a:t>
            </a:r>
          </a:p>
        </p:txBody>
      </p:sp>
      <p:sp>
        <p:nvSpPr>
          <p:cNvPr id="3" name="Content Placeholder 2">
            <a:extLst>
              <a:ext uri="{FF2B5EF4-FFF2-40B4-BE49-F238E27FC236}">
                <a16:creationId xmlns:a16="http://schemas.microsoft.com/office/drawing/2014/main" id="{B8143887-2BA4-B71E-4B94-C2D758357302}"/>
              </a:ext>
            </a:extLst>
          </p:cNvPr>
          <p:cNvSpPr>
            <a:spLocks noGrp="1"/>
          </p:cNvSpPr>
          <p:nvPr>
            <p:ph idx="1"/>
          </p:nvPr>
        </p:nvSpPr>
        <p:spPr>
          <a:xfrm>
            <a:off x="750065" y="2141537"/>
            <a:ext cx="10515600" cy="4351338"/>
          </a:xfrm>
        </p:spPr>
        <p:txBody>
          <a:bodyPr>
            <a:normAutofit/>
          </a:bodyPr>
          <a:lstStyle/>
          <a:p>
            <a:pPr marL="0" indent="0">
              <a:buNone/>
            </a:pPr>
            <a:r>
              <a:rPr lang="en-US" dirty="0"/>
              <a:t>Implied P is an input to the output </a:t>
            </a:r>
            <a:r>
              <a:rPr lang="en-US"/>
              <a:t>of subjective Log-loss</a:t>
            </a:r>
            <a:r>
              <a:rPr lang="en-US" dirty="0"/>
              <a:t>. </a:t>
            </a:r>
          </a:p>
          <a:p>
            <a:pPr marL="0" indent="0">
              <a:buNone/>
            </a:pPr>
            <a:endParaRPr lang="en-US" b="1" dirty="0"/>
          </a:p>
          <a:p>
            <a:pPr marL="0" indent="0">
              <a:buNone/>
            </a:pPr>
            <a:r>
              <a:rPr lang="en-US" b="1" dirty="0"/>
              <a:t>Log loss </a:t>
            </a:r>
            <a:r>
              <a:rPr lang="en-US" dirty="0"/>
              <a:t>is a quantitative score that asks, “how surprised should you be by what actually happened, given your beliefs?”</a:t>
            </a:r>
          </a:p>
          <a:p>
            <a:pPr marL="0" indent="0">
              <a:buNone/>
            </a:pPr>
            <a:endParaRPr lang="en-US" dirty="0"/>
          </a:p>
        </p:txBody>
      </p:sp>
    </p:spTree>
    <p:extLst>
      <p:ext uri="{BB962C8B-B14F-4D97-AF65-F5344CB8AC3E}">
        <p14:creationId xmlns:p14="http://schemas.microsoft.com/office/powerpoint/2010/main" val="2714006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17052</TotalTime>
  <Words>2101</Words>
  <Application>Microsoft Office PowerPoint</Application>
  <PresentationFormat>Widescreen</PresentationFormat>
  <Paragraphs>268</Paragraphs>
  <Slides>16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Cambria Math</vt:lpstr>
      <vt:lpstr>Office Theme</vt:lpstr>
      <vt:lpstr>Types of uncertainty: reducible vs irreducible</vt:lpstr>
      <vt:lpstr>PowerPoint Presentation</vt:lpstr>
      <vt:lpstr>Translating subjective surprisal states into mathematical probabilities: Solution: Each case, a learner answers this question after committing to a prioritized ddx (top 3 diagnoses)  Q) “How surprised would you be if the final diagnosis ended up being something other than what you’ve listed on the differential diagnosis (top 3)?” </vt:lpstr>
      <vt:lpstr>Is there really a difference between Likert anchors?</vt:lpstr>
      <vt:lpstr>Log-loss (“how surprised you should be (objectively) by what actually happened, given your beliefs”) helps us define Diagnostic Calibration</vt:lpstr>
      <vt:lpstr>Translating subjective surprisal states into implied P (px) and Log-loss (bits) – using log 2</vt:lpstr>
      <vt:lpstr>Learner phenotypes</vt:lpstr>
      <vt:lpstr>Acute dizziness study (160 UNMC M4s)</vt:lpstr>
      <vt:lpstr>Log-loss calculation of the Poracle distribution is an approximation of “how much surprise” is beneath the case entropy epistemic floor – an estimate of the aleatoric uncertainty. </vt:lpstr>
      <vt:lpstr>Summary of 3 measurable types of log-loss:</vt:lpstr>
      <vt:lpstr>Methods: Objective Residual Entropy as a Case-Specific Entropy Floor (Aleatoric Uncertainty) </vt:lpstr>
      <vt:lpstr>Diagnostic calibration</vt:lpstr>
      <vt:lpstr>Operationalizing this framework for clinician educator coaching:</vt:lpstr>
      <vt:lpstr>PowerPoint Presentation</vt:lpstr>
      <vt:lpstr>Measuring calibration of individual clinicians </vt:lpstr>
      <vt:lpstr>How do implied probabilities (implied P) from a subjective Likert scale help us measure anticipated surprise?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Rohlfsen, Cory J</dc:creator>
  <cp:lastModifiedBy>Rohlfsen, Cory J</cp:lastModifiedBy>
  <cp:revision>1</cp:revision>
  <dcterms:created xsi:type="dcterms:W3CDTF">2025-12-18T23:22:47Z</dcterms:created>
  <dcterms:modified xsi:type="dcterms:W3CDTF">2026-01-14T21:00:47Z</dcterms:modified>
</cp:coreProperties>
</file>